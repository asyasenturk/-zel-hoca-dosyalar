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Özel Sebetci" userId="8ee0e4dd735bbfb1" providerId="LiveId" clId="{29221247-C91B-40BC-A4E5-84A8AFDEBEE5}"/>
    <pc:docChg chg="custSel modSld">
      <pc:chgData name="Özel Sebetci" userId="8ee0e4dd735bbfb1" providerId="LiveId" clId="{29221247-C91B-40BC-A4E5-84A8AFDEBEE5}" dt="2023-10-31T09:59:41.073" v="4" actId="6549"/>
      <pc:docMkLst>
        <pc:docMk/>
      </pc:docMkLst>
      <pc:sldChg chg="modSp mod">
        <pc:chgData name="Özel Sebetci" userId="8ee0e4dd735bbfb1" providerId="LiveId" clId="{29221247-C91B-40BC-A4E5-84A8AFDEBEE5}" dt="2023-10-31T09:58:43.137" v="0" actId="313"/>
        <pc:sldMkLst>
          <pc:docMk/>
          <pc:sldMk cId="0" sldId="260"/>
        </pc:sldMkLst>
        <pc:spChg chg="mod">
          <ac:chgData name="Özel Sebetci" userId="8ee0e4dd735bbfb1" providerId="LiveId" clId="{29221247-C91B-40BC-A4E5-84A8AFDEBEE5}" dt="2023-10-31T09:58:43.137" v="0" actId="313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Özel Sebetci" userId="8ee0e4dd735bbfb1" providerId="LiveId" clId="{29221247-C91B-40BC-A4E5-84A8AFDEBEE5}" dt="2023-10-31T09:59:01.940" v="1" actId="6549"/>
        <pc:sldMkLst>
          <pc:docMk/>
          <pc:sldMk cId="0" sldId="263"/>
        </pc:sldMkLst>
        <pc:spChg chg="mod">
          <ac:chgData name="Özel Sebetci" userId="8ee0e4dd735bbfb1" providerId="LiveId" clId="{29221247-C91B-40BC-A4E5-84A8AFDEBEE5}" dt="2023-10-31T09:59:01.940" v="1" actId="6549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Özel Sebetci" userId="8ee0e4dd735bbfb1" providerId="LiveId" clId="{29221247-C91B-40BC-A4E5-84A8AFDEBEE5}" dt="2023-10-31T09:59:12.670" v="2" actId="6549"/>
        <pc:sldMkLst>
          <pc:docMk/>
          <pc:sldMk cId="0" sldId="267"/>
        </pc:sldMkLst>
        <pc:spChg chg="mod">
          <ac:chgData name="Özel Sebetci" userId="8ee0e4dd735bbfb1" providerId="LiveId" clId="{29221247-C91B-40BC-A4E5-84A8AFDEBEE5}" dt="2023-10-31T09:59:12.670" v="2" actId="6549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Özel Sebetci" userId="8ee0e4dd735bbfb1" providerId="LiveId" clId="{29221247-C91B-40BC-A4E5-84A8AFDEBEE5}" dt="2023-10-31T09:59:30.581" v="3" actId="6549"/>
        <pc:sldMkLst>
          <pc:docMk/>
          <pc:sldMk cId="0" sldId="283"/>
        </pc:sldMkLst>
        <pc:spChg chg="mod">
          <ac:chgData name="Özel Sebetci" userId="8ee0e4dd735bbfb1" providerId="LiveId" clId="{29221247-C91B-40BC-A4E5-84A8AFDEBEE5}" dt="2023-10-31T09:59:30.581" v="3" actId="6549"/>
          <ac:spMkLst>
            <pc:docMk/>
            <pc:sldMk cId="0" sldId="283"/>
            <ac:spMk id="2" creationId="{00000000-0000-0000-0000-000000000000}"/>
          </ac:spMkLst>
        </pc:spChg>
      </pc:sldChg>
      <pc:sldChg chg="modSp mod">
        <pc:chgData name="Özel Sebetci" userId="8ee0e4dd735bbfb1" providerId="LiveId" clId="{29221247-C91B-40BC-A4E5-84A8AFDEBEE5}" dt="2023-10-31T09:59:41.073" v="4" actId="6549"/>
        <pc:sldMkLst>
          <pc:docMk/>
          <pc:sldMk cId="0" sldId="287"/>
        </pc:sldMkLst>
        <pc:spChg chg="mod">
          <ac:chgData name="Özel Sebetci" userId="8ee0e4dd735bbfb1" providerId="LiveId" clId="{29221247-C91B-40BC-A4E5-84A8AFDEBEE5}" dt="2023-10-31T09:59:41.073" v="4" actId="6549"/>
          <ac:spMkLst>
            <pc:docMk/>
            <pc:sldMk cId="0" sldId="287"/>
            <ac:spMk id="2" creationId="{00000000-0000-0000-0000-000000000000}"/>
          </ac:spMkLst>
        </pc:spChg>
      </pc:sldChg>
    </pc:docChg>
  </pc:docChgLst>
  <pc:docChgLst>
    <pc:chgData name="Özel Sebetci" userId="8ee0e4dd735bbfb1" providerId="LiveId" clId="{FA24533C-FB44-48F7-965F-D42D04E68C0B}"/>
    <pc:docChg chg="modSld">
      <pc:chgData name="Özel Sebetci" userId="8ee0e4dd735bbfb1" providerId="LiveId" clId="{FA24533C-FB44-48F7-965F-D42D04E68C0B}" dt="2023-10-31T07:01:01.161" v="1" actId="20577"/>
      <pc:docMkLst>
        <pc:docMk/>
      </pc:docMkLst>
      <pc:sldChg chg="modSp mod">
        <pc:chgData name="Özel Sebetci" userId="8ee0e4dd735bbfb1" providerId="LiveId" clId="{FA24533C-FB44-48F7-965F-D42D04E68C0B}" dt="2023-10-31T07:01:01.161" v="1" actId="20577"/>
        <pc:sldMkLst>
          <pc:docMk/>
          <pc:sldMk cId="0" sldId="258"/>
        </pc:sldMkLst>
        <pc:spChg chg="mod">
          <ac:chgData name="Özel Sebetci" userId="8ee0e4dd735bbfb1" providerId="LiveId" clId="{FA24533C-FB44-48F7-965F-D42D04E68C0B}" dt="2023-10-31T07:01:01.161" v="1" actId="20577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5791"/>
            <a:ext cx="5788025" cy="1375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 I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endParaRPr sz="16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6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300" spc="-10" dirty="0" err="1">
                <a:solidFill>
                  <a:srgbClr val="2E5395"/>
                </a:solidFill>
                <a:latin typeface="Calibri Light"/>
                <a:cs typeface="Calibri Light"/>
              </a:rPr>
              <a:t>Değişken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nedir?</a:t>
            </a:r>
            <a:endParaRPr sz="1300" dirty="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200"/>
              </a:lnSpc>
              <a:spcBef>
                <a:spcPts val="944"/>
              </a:spcBef>
            </a:pPr>
            <a:r>
              <a:rPr sz="1100" dirty="0">
                <a:latin typeface="Calibri"/>
                <a:cs typeface="Calibri"/>
              </a:rPr>
              <a:t>Değişkenler,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çalıştırılmasında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değerler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alabilmesini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sağlayan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yapılara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denir.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Bir </a:t>
            </a:r>
            <a:r>
              <a:rPr sz="1100" dirty="0">
                <a:latin typeface="Calibri"/>
                <a:cs typeface="Calibri"/>
              </a:rPr>
              <a:t>değişkeni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tanımlayabilmek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için;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6294" y="3662908"/>
            <a:ext cx="5339715" cy="11303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9"/>
              </a:spcBef>
              <a:buFont typeface="Calibri"/>
              <a:buAutoNum type="arabicParenR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Rakam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kullanılabilir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fakat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rakam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başlayamaz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41300" marR="5080" indent="-228600">
              <a:lnSpc>
                <a:spcPct val="110000"/>
              </a:lnSpc>
              <a:buFont typeface="Calibri"/>
              <a:buAutoNum type="arabicParenR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Programlama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dillerindeki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for,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if,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while,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foreach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programlama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ait </a:t>
            </a:r>
            <a:r>
              <a:rPr sz="1100" dirty="0">
                <a:latin typeface="Calibri"/>
                <a:cs typeface="Calibri"/>
              </a:rPr>
              <a:t>özel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terimler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kullanılamaz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Font typeface="Calibri"/>
              <a:buAutoNum type="arabicParenR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Boşluk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karakteri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kullanılamaz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Calibri"/>
              <a:buAutoNum type="arabicParenR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Alt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hariç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hiçbir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özel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kullanılamaz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b="1" spc="-25" dirty="0">
                <a:latin typeface="Calibri"/>
                <a:cs typeface="Calibri"/>
              </a:rPr>
              <a:t>5)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0973" y="4599558"/>
            <a:ext cx="22701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gibi</a:t>
            </a:r>
            <a:r>
              <a:rPr sz="1100" spc="4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C#’ın</a:t>
            </a:r>
            <a:r>
              <a:rPr sz="1100" spc="48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bazı</a:t>
            </a:r>
            <a:r>
              <a:rPr sz="1100" spc="4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sürümlerinde</a:t>
            </a:r>
            <a:r>
              <a:rPr sz="1100" spc="4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Türkçe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294" y="4583404"/>
            <a:ext cx="299466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İngiliz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alfabesindeki</a:t>
            </a:r>
            <a:r>
              <a:rPr sz="1100" spc="4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26</a:t>
            </a:r>
            <a:r>
              <a:rPr sz="1100" spc="48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harf</a:t>
            </a:r>
            <a:r>
              <a:rPr sz="1100" spc="48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kullanılabileceği </a:t>
            </a:r>
            <a:r>
              <a:rPr sz="1100" dirty="0">
                <a:latin typeface="Calibri"/>
                <a:cs typeface="Calibri"/>
              </a:rPr>
              <a:t>karakterler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kullanılabilir.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dirty="0">
                <a:latin typeface="Calibri"/>
                <a:cs typeface="Calibri"/>
              </a:rPr>
              <a:t>6)</a:t>
            </a:r>
            <a:r>
              <a:rPr sz="1100" b="1" spc="19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isimli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değişkenler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kez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tanımlanamaz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5254878"/>
            <a:ext cx="750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Veri</a:t>
            </a:r>
            <a:r>
              <a:rPr sz="1300" spc="-6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Türleri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12289" y="5729350"/>
          <a:ext cx="3929377" cy="865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10350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Sayısal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Alfa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Sayısal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Mantıksal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Nesne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Tarih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ve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Zaman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int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03505" marR="93980" indent="69850" algn="just">
                        <a:lnSpc>
                          <a:spcPct val="101800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byte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float double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char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string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bool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28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Object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DateTime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86764" y="6855942"/>
            <a:ext cx="2221230" cy="12636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Veri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türlerini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niteleyen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sıfatlar;</a:t>
            </a:r>
            <a:endParaRPr sz="1100">
              <a:latin typeface="Calibri"/>
              <a:cs typeface="Calibri"/>
            </a:endParaRPr>
          </a:p>
          <a:p>
            <a:pPr marL="925830" lvl="1" indent="-227965">
              <a:lnSpc>
                <a:spcPct val="100000"/>
              </a:lnSpc>
              <a:spcBef>
                <a:spcPts val="130"/>
              </a:spcBef>
              <a:buFont typeface="Wingdings"/>
              <a:buChar char=""/>
              <a:tabLst>
                <a:tab pos="925830" algn="l"/>
              </a:tabLst>
            </a:pPr>
            <a:r>
              <a:rPr sz="1100" dirty="0">
                <a:latin typeface="Calibri"/>
                <a:cs typeface="Calibri"/>
              </a:rPr>
              <a:t>long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Calibri"/>
                <a:cs typeface="Calibri"/>
              </a:rPr>
              <a:t>uzun</a:t>
            </a:r>
            <a:endParaRPr sz="1100">
              <a:latin typeface="Calibri"/>
              <a:cs typeface="Calibri"/>
            </a:endParaRPr>
          </a:p>
          <a:p>
            <a:pPr marL="925830" lvl="1" indent="-227965">
              <a:lnSpc>
                <a:spcPct val="100000"/>
              </a:lnSpc>
              <a:spcBef>
                <a:spcPts val="135"/>
              </a:spcBef>
              <a:buFont typeface="Wingdings"/>
              <a:buChar char=""/>
              <a:tabLst>
                <a:tab pos="925830" algn="l"/>
              </a:tabLst>
            </a:pPr>
            <a:r>
              <a:rPr sz="1100" dirty="0">
                <a:latin typeface="Calibri"/>
                <a:cs typeface="Calibri"/>
              </a:rPr>
              <a:t>short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Calibri"/>
                <a:cs typeface="Calibri"/>
              </a:rPr>
              <a:t>kısa</a:t>
            </a:r>
            <a:endParaRPr sz="1100">
              <a:latin typeface="Calibri"/>
              <a:cs typeface="Calibri"/>
            </a:endParaRPr>
          </a:p>
          <a:p>
            <a:pPr marL="925830" lvl="1" indent="-227965">
              <a:lnSpc>
                <a:spcPct val="100000"/>
              </a:lnSpc>
              <a:spcBef>
                <a:spcPts val="120"/>
              </a:spcBef>
              <a:buFont typeface="Wingdings"/>
              <a:buChar char=""/>
              <a:tabLst>
                <a:tab pos="925830" algn="l"/>
              </a:tabLst>
            </a:pPr>
            <a:r>
              <a:rPr sz="1100" dirty="0">
                <a:latin typeface="Calibri"/>
                <a:cs typeface="Calibri"/>
              </a:rPr>
              <a:t>signed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Calibri"/>
                <a:cs typeface="Calibri"/>
              </a:rPr>
              <a:t>işaretli</a:t>
            </a:r>
            <a:endParaRPr sz="1100">
              <a:latin typeface="Calibri"/>
              <a:cs typeface="Calibri"/>
            </a:endParaRPr>
          </a:p>
          <a:p>
            <a:pPr marL="925830" lvl="1" indent="-227965">
              <a:lnSpc>
                <a:spcPct val="100000"/>
              </a:lnSpc>
              <a:spcBef>
                <a:spcPts val="130"/>
              </a:spcBef>
              <a:buFont typeface="Wingdings"/>
              <a:buChar char=""/>
              <a:tabLst>
                <a:tab pos="925830" algn="l"/>
              </a:tabLst>
            </a:pPr>
            <a:r>
              <a:rPr sz="1100" dirty="0">
                <a:latin typeface="Calibri"/>
                <a:cs typeface="Calibri"/>
              </a:rPr>
              <a:t>unsigned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Calibri"/>
                <a:cs typeface="Calibri"/>
              </a:rPr>
              <a:t>işaretsiz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Değişkenlerin</a:t>
            </a:r>
            <a:r>
              <a:rPr sz="1300" spc="-6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Tanımlanması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757425" y="8268589"/>
          <a:ext cx="4038599" cy="942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7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68580">
                        <a:lnSpc>
                          <a:spcPts val="128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Değişken</a:t>
                      </a:r>
                      <a:r>
                        <a:rPr sz="11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Tipi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8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Değişken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Adı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8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Başlangıç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Değeri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a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marL="68580">
                        <a:lnSpc>
                          <a:spcPts val="1065"/>
                        </a:lnSpc>
                      </a:pPr>
                      <a:r>
                        <a:rPr sz="95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a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6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5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marL="68580">
                        <a:lnSpc>
                          <a:spcPts val="1065"/>
                        </a:lnSpc>
                      </a:pP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double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b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65"/>
                        </a:lnSpc>
                      </a:pPr>
                      <a:r>
                        <a:rPr sz="950" spc="-25" dirty="0">
                          <a:latin typeface="Consolas"/>
                          <a:cs typeface="Consolas"/>
                        </a:rPr>
                        <a:t>6.4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marL="68580">
                        <a:lnSpc>
                          <a:spcPts val="1065"/>
                        </a:lnSpc>
                      </a:pP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char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c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65"/>
                        </a:lnSpc>
                      </a:pPr>
                      <a:r>
                        <a:rPr sz="950" spc="-2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'1'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marL="68580">
                        <a:lnSpc>
                          <a:spcPts val="1065"/>
                        </a:lnSpc>
                      </a:pP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bolum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65"/>
                        </a:lnSpc>
                      </a:pPr>
                      <a:r>
                        <a:rPr sz="95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"bilgisayar"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8839"/>
            <a:ext cx="5784215" cy="71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Kaçış</a:t>
            </a:r>
            <a:r>
              <a:rPr sz="1300" spc="-6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Dizileri</a:t>
            </a:r>
            <a:endParaRPr sz="13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  <a:spcBef>
                <a:spcPts val="955"/>
              </a:spcBef>
            </a:pPr>
            <a:r>
              <a:rPr sz="1100" dirty="0">
                <a:latin typeface="Calibri"/>
                <a:cs typeface="Calibri"/>
              </a:rPr>
              <a:t>C#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yazarken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sıklıkla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genel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adına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kaçış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dizisi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verilen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karakter </a:t>
            </a:r>
            <a:r>
              <a:rPr sz="1100" dirty="0">
                <a:latin typeface="Calibri"/>
                <a:cs typeface="Calibri"/>
              </a:rPr>
              <a:t>dizileri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kullanılır.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7836" y="1705609"/>
          <a:ext cx="5669280" cy="141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2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Alt satıra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geçer.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TAB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tuşu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özelliğini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yerine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getirir.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Null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(Boş)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\”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Çift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tırnak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işaretinin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ekrana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basar.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Satırbaşı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yapmak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kullanılır.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\b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Geri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alma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işlemini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yapar.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(Backspace)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\\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\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işaretinin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ekrana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basılmasını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sağlar.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\a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1)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“Bip”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veya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sistemdeki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hata.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2)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Sistemden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uyarı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sesinin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çıkartılmasını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sağlar.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86764" y="3224529"/>
            <a:ext cx="5783580" cy="712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Değişkenlerin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Yaşam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Alanı</a:t>
            </a:r>
            <a:endParaRPr sz="1300">
              <a:latin typeface="Calibri Light"/>
              <a:cs typeface="Calibri Light"/>
            </a:endParaRPr>
          </a:p>
          <a:p>
            <a:pPr marL="12700" marR="5080" indent="95885">
              <a:lnSpc>
                <a:spcPct val="109100"/>
              </a:lnSpc>
              <a:spcBef>
                <a:spcPts val="969"/>
              </a:spcBef>
            </a:pPr>
            <a:r>
              <a:rPr sz="1100" dirty="0">
                <a:latin typeface="Calibri"/>
                <a:cs typeface="Calibri"/>
              </a:rPr>
              <a:t>Bir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programda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pek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çok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kullanılabilir.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değişkenlerin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geçerlilik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alanları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kullanıldıkları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blok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sınırlıdır.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bloklar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süslü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parantez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“</a:t>
            </a:r>
            <a:r>
              <a:rPr sz="950" spc="-10" dirty="0">
                <a:latin typeface="Consolas"/>
                <a:cs typeface="Consolas"/>
              </a:rPr>
              <a:t>{</a:t>
            </a:r>
            <a:r>
              <a:rPr sz="950" spc="-28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}</a:t>
            </a:r>
            <a:r>
              <a:rPr sz="1100" b="1" dirty="0">
                <a:latin typeface="Calibri"/>
                <a:cs typeface="Calibri"/>
              </a:rPr>
              <a:t>”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işaretleri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10" dirty="0">
                <a:latin typeface="Calibri"/>
                <a:cs typeface="Calibri"/>
              </a:rPr>
              <a:t> gösterilir.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7836" y="4051426"/>
          <a:ext cx="5669279" cy="1276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7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6985"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class</a:t>
                      </a:r>
                      <a:r>
                        <a:rPr sz="950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Bloklar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33337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static</a:t>
                      </a:r>
                      <a:r>
                        <a:rPr sz="950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950" spc="-3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Main()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33337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598805" marR="887094">
                        <a:lnSpc>
                          <a:spcPts val="11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3; 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5;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598805">
                        <a:lnSpc>
                          <a:spcPts val="1080"/>
                        </a:lnSpc>
                      </a:pP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33337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0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3505" marR="94615" indent="57785">
                        <a:lnSpc>
                          <a:spcPct val="10180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Yandaki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kod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bloğunda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aynı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blok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içerisinde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değişkeni </a:t>
                      </a:r>
                      <a:r>
                        <a:rPr sz="11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iki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kez</a:t>
                      </a:r>
                      <a:r>
                        <a:rPr sz="1100" u="sng" spc="-3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tanımlandığından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derlemede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hata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verecektir.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86764" y="5415508"/>
            <a:ext cx="578485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885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Derleyicide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hata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vermemesi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Main()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kod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bloğunun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kod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eklenerek </a:t>
            </a:r>
            <a:r>
              <a:rPr sz="1100" dirty="0">
                <a:latin typeface="Calibri"/>
                <a:cs typeface="Calibri"/>
              </a:rPr>
              <a:t>değişkenlerin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tanımlandığı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alanlar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birbirinden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ayrılır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hatanın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önüne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geçilir.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884" y="5926200"/>
            <a:ext cx="5667375" cy="1844039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Bloklar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Main()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5;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6764" y="7870316"/>
            <a:ext cx="5787390" cy="183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Sabitler</a:t>
            </a:r>
            <a:endParaRPr sz="1300">
              <a:latin typeface="Calibri Light"/>
              <a:cs typeface="Calibri Light"/>
            </a:endParaRPr>
          </a:p>
          <a:p>
            <a:pPr marL="12700" marR="8890" indent="95885" algn="just">
              <a:lnSpc>
                <a:spcPct val="109100"/>
              </a:lnSpc>
              <a:spcBef>
                <a:spcPts val="969"/>
              </a:spcBef>
            </a:pPr>
            <a:r>
              <a:rPr sz="1100" dirty="0">
                <a:latin typeface="Calibri"/>
                <a:cs typeface="Calibri"/>
              </a:rPr>
              <a:t>Programın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kere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tanımlandıktan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değişmeyen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değişkenlere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sabit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denir.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sabit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yapmak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türünün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başına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“const”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ifadesi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eklenir.</a:t>
            </a:r>
            <a:endParaRPr sz="1100">
              <a:latin typeface="Calibri"/>
              <a:cs typeface="Calibri"/>
            </a:endParaRPr>
          </a:p>
          <a:p>
            <a:pPr marL="12700" marR="5715">
              <a:lnSpc>
                <a:spcPct val="110000"/>
              </a:lnSpc>
              <a:spcBef>
                <a:spcPts val="805"/>
              </a:spcBef>
              <a:tabLst>
                <a:tab pos="478790" algn="l"/>
                <a:tab pos="1012190" algn="l"/>
                <a:tab pos="1280160" algn="l"/>
                <a:tab pos="1480820" algn="l"/>
                <a:tab pos="1948180" algn="l"/>
                <a:tab pos="2200910" algn="l"/>
              </a:tabLst>
            </a:pP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sz="950" spc="-25" dirty="0">
                <a:latin typeface="Consolas"/>
                <a:cs typeface="Consolas"/>
              </a:rPr>
              <a:t>pi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50" dirty="0">
                <a:latin typeface="Consolas"/>
                <a:cs typeface="Consolas"/>
              </a:rPr>
              <a:t>=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10" dirty="0">
                <a:latin typeface="Consolas"/>
                <a:cs typeface="Consolas"/>
              </a:rPr>
              <a:t>3.14;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50" dirty="0">
                <a:latin typeface="Wingdings"/>
                <a:cs typeface="Wingdings"/>
              </a:rPr>
              <a:t>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Calibri"/>
                <a:cs typeface="Calibri"/>
              </a:rPr>
              <a:t>“const”</a:t>
            </a:r>
            <a:r>
              <a:rPr sz="1100" spc="14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ifadesi</a:t>
            </a:r>
            <a:r>
              <a:rPr sz="1100" spc="13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değişken</a:t>
            </a:r>
            <a:r>
              <a:rPr sz="1100" spc="14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türünün</a:t>
            </a:r>
            <a:r>
              <a:rPr sz="1100" spc="13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başında</a:t>
            </a:r>
            <a:r>
              <a:rPr sz="1100" spc="14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olduğu</a:t>
            </a:r>
            <a:r>
              <a:rPr sz="1100" spc="140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sürece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değiştirilemez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 marR="5080" indent="95885" algn="just">
              <a:lnSpc>
                <a:spcPct val="109500"/>
              </a:lnSpc>
              <a:spcBef>
                <a:spcPts val="800"/>
              </a:spcBef>
            </a:pPr>
            <a:r>
              <a:rPr sz="1100" dirty="0">
                <a:latin typeface="Calibri"/>
                <a:cs typeface="Calibri"/>
              </a:rPr>
              <a:t>Bir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değişkenin</a:t>
            </a:r>
            <a:r>
              <a:rPr sz="1100" spc="2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sabitlenmesinden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kısaca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dönüşümü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işine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baktık.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dönüşümü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işini </a:t>
            </a:r>
            <a:r>
              <a:rPr sz="1100" dirty="0">
                <a:latin typeface="Calibri"/>
                <a:cs typeface="Calibri"/>
              </a:rPr>
              <a:t>hocamız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B91AE"/>
                </a:solidFill>
                <a:latin typeface="Consolas"/>
                <a:cs typeface="Consolas"/>
              </a:rPr>
              <a:t>Convert</a:t>
            </a:r>
            <a:r>
              <a:rPr sz="950" spc="-25" dirty="0">
                <a:latin typeface="Consolas"/>
                <a:cs typeface="Consolas"/>
              </a:rPr>
              <a:t>.To</a:t>
            </a:r>
            <a:r>
              <a:rPr sz="950" spc="-105" dirty="0">
                <a:latin typeface="Consolas"/>
                <a:cs typeface="Consolas"/>
              </a:rPr>
              <a:t> </a:t>
            </a:r>
            <a:r>
              <a:rPr sz="1100" dirty="0">
                <a:latin typeface="Calibri"/>
                <a:cs typeface="Calibri"/>
              </a:rPr>
              <a:t>şekliyle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anlattı.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Convert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işlemlerini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Parse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yapmamızda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bir </a:t>
            </a:r>
            <a:r>
              <a:rPr sz="1100" dirty="0">
                <a:latin typeface="Calibri"/>
                <a:cs typeface="Calibri"/>
              </a:rPr>
              <a:t>sakınca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olmadığını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söyledi.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5791"/>
            <a:ext cx="5788025" cy="14281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 I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Veri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Giriş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İşlemleri</a:t>
            </a:r>
            <a:endParaRPr sz="1300" dirty="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7700"/>
              </a:lnSpc>
              <a:spcBef>
                <a:spcPts val="985"/>
              </a:spcBef>
            </a:pPr>
            <a:r>
              <a:rPr sz="1100" dirty="0">
                <a:latin typeface="Calibri"/>
                <a:cs typeface="Calibri"/>
              </a:rPr>
              <a:t>C#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girişi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Read()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0" dirty="0">
                <a:latin typeface="Calibri"/>
                <a:cs typeface="Calibri"/>
              </a:rPr>
              <a:t> ReadLine() </a:t>
            </a:r>
            <a:r>
              <a:rPr sz="1100" dirty="0">
                <a:latin typeface="Calibri"/>
                <a:cs typeface="Calibri"/>
              </a:rPr>
              <a:t>komutları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 Read()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karakterlik</a:t>
            </a:r>
            <a:r>
              <a:rPr sz="1100" spc="-10" dirty="0">
                <a:latin typeface="Calibri"/>
                <a:cs typeface="Calibri"/>
              </a:rPr>
              <a:t> bilgi </a:t>
            </a:r>
            <a:r>
              <a:rPr sz="1100" dirty="0">
                <a:latin typeface="Calibri"/>
                <a:cs typeface="Calibri"/>
              </a:rPr>
              <a:t>okurken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ReadLine()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satır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satır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okuma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Read()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okunan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olarak, </a:t>
            </a:r>
            <a:r>
              <a:rPr sz="1100" dirty="0">
                <a:latin typeface="Calibri"/>
                <a:cs typeface="Calibri"/>
              </a:rPr>
              <a:t>ReadLine()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okunan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okunur.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(Read()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50" spc="-50" dirty="0">
                <a:latin typeface="Wingdings"/>
                <a:cs typeface="Wingdings"/>
              </a:rPr>
              <a:t>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Calibri"/>
                <a:cs typeface="Calibri"/>
              </a:rPr>
              <a:t>int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ReadLine()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50" spc="-50" dirty="0">
                <a:latin typeface="Wingdings"/>
                <a:cs typeface="Wingdings"/>
              </a:rPr>
              <a:t>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string)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latin typeface="Calibri"/>
                <a:cs typeface="Calibri"/>
              </a:rPr>
              <a:t>Soru: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vize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final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bilgilerinin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girilerek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öğrencinin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ortalama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notunu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hesaplayınız.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2731261"/>
            <a:ext cx="5755640" cy="11372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Mantık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hatasından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dolayı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bu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koddaki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ortalama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daima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tamsayı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çıkacaktır.</a:t>
            </a:r>
            <a:endParaRPr sz="950">
              <a:latin typeface="Consolas"/>
              <a:cs typeface="Consolas"/>
            </a:endParaRPr>
          </a:p>
          <a:p>
            <a:pPr marL="67945" marR="4619625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vize,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final;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ortalama;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50" dirty="0">
                <a:latin typeface="Consolas"/>
                <a:cs typeface="Consolas"/>
              </a:rPr>
              <a:t>vize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Convert</a:t>
            </a:r>
            <a:r>
              <a:rPr sz="950" spc="-10" dirty="0">
                <a:latin typeface="Consolas"/>
                <a:cs typeface="Consolas"/>
              </a:rPr>
              <a:t>.ToInt32(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67945" marR="2762250">
              <a:lnSpc>
                <a:spcPct val="97600"/>
              </a:lnSpc>
              <a:spcBef>
                <a:spcPts val="15"/>
              </a:spcBef>
            </a:pPr>
            <a:r>
              <a:rPr sz="950" dirty="0">
                <a:latin typeface="Consolas"/>
                <a:cs typeface="Consolas"/>
              </a:rPr>
              <a:t>final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Convert</a:t>
            </a:r>
            <a:r>
              <a:rPr sz="950" spc="-10" dirty="0">
                <a:latin typeface="Consolas"/>
                <a:cs typeface="Consolas"/>
              </a:rPr>
              <a:t>.ToInt32(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latin typeface="Consolas"/>
                <a:cs typeface="Consolas"/>
              </a:rPr>
              <a:t>ortalama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(vize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final)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/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2;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"Ortalama:</a:t>
            </a:r>
            <a:r>
              <a:rPr sz="9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ortalama);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3970147"/>
            <a:ext cx="5789295" cy="2340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Veri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Çıkış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İşlemleri</a:t>
            </a:r>
            <a:endParaRPr sz="13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  <a:spcBef>
                <a:spcPts val="945"/>
              </a:spcBef>
            </a:pPr>
            <a:r>
              <a:rPr sz="1100" dirty="0">
                <a:latin typeface="Calibri"/>
                <a:cs typeface="Calibri"/>
              </a:rPr>
              <a:t>C#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yazdırmak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Console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sınıfına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ait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Write()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WriteLine()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metotları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kullanılır.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metotların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ikisi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yazdırılacak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bilgiyi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yazdırır.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ile;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19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Tırnak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işareti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doğrudan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yazdırabiliriz.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"ABC"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469265" indent="-227965">
              <a:lnSpc>
                <a:spcPct val="100000"/>
              </a:lnSpc>
              <a:spcBef>
                <a:spcPts val="125"/>
              </a:spcBef>
              <a:buFont typeface="Calibri"/>
              <a:buAutoNum type="arabicPeriod" startAt="2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değişkendeki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yazdırabiliriz.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0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.Write(a);</a:t>
            </a:r>
            <a:endParaRPr sz="950">
              <a:latin typeface="Consolas"/>
              <a:cs typeface="Consolas"/>
            </a:endParaRPr>
          </a:p>
          <a:p>
            <a:pPr marL="469265" marR="7620" indent="-228600">
              <a:lnSpc>
                <a:spcPts val="1450"/>
              </a:lnSpc>
              <a:spcBef>
                <a:spcPts val="65"/>
              </a:spcBef>
              <a:buFont typeface="Calibri"/>
              <a:buAutoNum type="arabicPeriod" startAt="3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Blokları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</a:t>
            </a:r>
            <a:r>
              <a:rPr sz="1100" b="1" dirty="0">
                <a:latin typeface="Calibri"/>
                <a:cs typeface="Calibri"/>
              </a:rPr>
              <a:t>{</a:t>
            </a:r>
            <a:r>
              <a:rPr sz="1100" b="1" spc="1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}</a:t>
            </a:r>
            <a:r>
              <a:rPr sz="1100" i="1" dirty="0">
                <a:latin typeface="Calibri"/>
                <a:cs typeface="Calibri"/>
              </a:rPr>
              <a:t>)</a:t>
            </a:r>
            <a:r>
              <a:rPr sz="1100" i="1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kullanarak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değişkenlerden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alınacak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değerleri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sırayla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aktarmak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şartıyla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formatlı </a:t>
            </a:r>
            <a:r>
              <a:rPr sz="1100" dirty="0">
                <a:latin typeface="Calibri"/>
                <a:cs typeface="Calibri"/>
              </a:rPr>
              <a:t>şekilde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yazdırırız.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"({0}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+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{1})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/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2"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vize,</a:t>
            </a:r>
            <a:r>
              <a:rPr sz="950" spc="-10" dirty="0">
                <a:latin typeface="Consolas"/>
                <a:cs typeface="Consolas"/>
              </a:rPr>
              <a:t> final);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Kullanılan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Operatörler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976881" y="6442836"/>
          <a:ext cx="3600450" cy="159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 gridSpan="2">
                  <a:txBody>
                    <a:bodyPr/>
                    <a:lstStyle/>
                    <a:p>
                      <a:pPr marL="966469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1)</a:t>
                      </a:r>
                      <a:r>
                        <a:rPr sz="11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Matematiksel</a:t>
                      </a:r>
                      <a:r>
                        <a:rPr sz="11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Operatörler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İşlem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Anlamı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+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Toplama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-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Çıkarma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*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Çarpma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/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Bölme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Mod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alma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++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Bir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arttır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-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Bir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azalt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86764" y="8122005"/>
            <a:ext cx="5789295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5885" algn="just">
              <a:lnSpc>
                <a:spcPct val="1097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Bölme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işleminde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sonucun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ondalık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çıkabileceği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durumlarda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yanlışa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düşmemek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sonuç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değişkeni </a:t>
            </a:r>
            <a:r>
              <a:rPr sz="1100" dirty="0">
                <a:latin typeface="Calibri"/>
                <a:cs typeface="Calibri"/>
              </a:rPr>
              <a:t>ondalık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tanımlanır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bölme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işlemine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girecek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sayılardan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biri</a:t>
            </a:r>
            <a:r>
              <a:rPr sz="1100" u="sng" spc="2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veya</a:t>
            </a:r>
            <a:r>
              <a:rPr sz="1100" u="sng" spc="25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her</a:t>
            </a:r>
            <a:r>
              <a:rPr sz="1100" u="sng" spc="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ikisi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ondalık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yazılmalıdır.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27836" y="8814561"/>
          <a:ext cx="5755640" cy="429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259"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8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/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3;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.Write(a);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//Sonuç:</a:t>
                      </a:r>
                      <a:r>
                        <a:rPr sz="950" spc="-7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double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8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/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3;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0"/>
                        </a:lnSpc>
                      </a:pP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.Write(a);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//Sonuç:</a:t>
                      </a:r>
                      <a:r>
                        <a:rPr sz="950" spc="-7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double</a:t>
                      </a: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8.0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/</a:t>
                      </a:r>
                      <a:r>
                        <a:rPr sz="95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3;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.Write(a);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//Sonuç:</a:t>
                      </a:r>
                      <a:r>
                        <a:rPr sz="950" spc="-7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2.66666667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776" y="877315"/>
            <a:ext cx="44069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Arttırma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eksiltme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operatörlerinde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dikkatle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incelendiğinde;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188973"/>
            <a:ext cx="5755640" cy="99568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 marR="4885055">
              <a:lnSpc>
                <a:spcPts val="1100"/>
              </a:lnSpc>
              <a:spcBef>
                <a:spcPts val="5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x,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y; </a:t>
            </a:r>
            <a:r>
              <a:rPr sz="950" dirty="0">
                <a:latin typeface="Consolas"/>
                <a:cs typeface="Consolas"/>
              </a:rPr>
              <a:t>x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5;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80"/>
              </a:lnSpc>
            </a:pPr>
            <a:r>
              <a:rPr sz="950" dirty="0">
                <a:latin typeface="Consolas"/>
                <a:cs typeface="Consolas"/>
              </a:rPr>
              <a:t>y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266700" marR="4287520">
              <a:lnSpc>
                <a:spcPts val="1100"/>
              </a:lnSpc>
              <a:spcBef>
                <a:spcPts val="60"/>
              </a:spcBef>
            </a:pPr>
            <a:r>
              <a:rPr sz="950" dirty="0">
                <a:latin typeface="Consolas"/>
                <a:cs typeface="Consolas"/>
              </a:rPr>
              <a:t>x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y++;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9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2269590"/>
            <a:ext cx="5787390" cy="862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95885" algn="just">
              <a:lnSpc>
                <a:spcPct val="1095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x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y++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satırında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öncelikle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y’nin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x’e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aktarılır,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sonrasında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y’nin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arttırılır.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Sonuç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 3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olur.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satırı x =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++y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şeklinde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olsaydı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öncelikle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y’nin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arttılır</a:t>
            </a:r>
            <a:r>
              <a:rPr sz="1100" spc="-10" dirty="0">
                <a:latin typeface="Calibri"/>
                <a:cs typeface="Calibri"/>
              </a:rPr>
              <a:t> sonra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y’nin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x’e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aktarılırdı.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Sonuç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 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 =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olurdu.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dirty="0">
                <a:latin typeface="Calibri"/>
                <a:cs typeface="Calibri"/>
              </a:rPr>
              <a:t>Soru: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çıktısını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yazınız.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(Nesne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Çıkmış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Vize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Sorusu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-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2016)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3247897"/>
            <a:ext cx="5755640" cy="141922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a;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.WriteLine(a++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++a);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 *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15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.WriteLine(++a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++a);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4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*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20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.WriteLine(a++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a++);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*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4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12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67945" marR="2827655">
              <a:lnSpc>
                <a:spcPts val="1100"/>
              </a:lnSpc>
              <a:spcBef>
                <a:spcPts val="5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.WriteLine(++a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a++);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4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*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4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16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4767198"/>
            <a:ext cx="40074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Soru: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çıktısını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yazınız.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(Çıkmış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Sınav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Sorusu)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884" y="5077078"/>
            <a:ext cx="5755640" cy="11372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a,</a:t>
            </a:r>
            <a:r>
              <a:rPr sz="950" spc="-25" dirty="0">
                <a:latin typeface="Consolas"/>
                <a:cs typeface="Consolas"/>
              </a:rPr>
              <a:t> b;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67945" marR="5282565">
              <a:lnSpc>
                <a:spcPts val="1120"/>
              </a:lnSpc>
              <a:spcBef>
                <a:spcPts val="40"/>
              </a:spcBef>
            </a:pPr>
            <a:r>
              <a:rPr sz="950" dirty="0">
                <a:latin typeface="Consolas"/>
                <a:cs typeface="Consolas"/>
              </a:rPr>
              <a:t>b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2; </a:t>
            </a:r>
            <a:r>
              <a:rPr sz="950" spc="-10" dirty="0">
                <a:latin typeface="Consolas"/>
                <a:cs typeface="Consolas"/>
              </a:rPr>
              <a:t>b-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5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b++;</a:t>
            </a:r>
            <a:endParaRPr sz="950">
              <a:latin typeface="Consolas"/>
              <a:cs typeface="Consolas"/>
            </a:endParaRPr>
          </a:p>
          <a:p>
            <a:pPr marL="67945" marR="3689985">
              <a:lnSpc>
                <a:spcPct val="97500"/>
              </a:lnSpc>
              <a:spcBef>
                <a:spcPts val="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.WriteLine(a);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sz="95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5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1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.Write(b);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2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27836" y="6503796"/>
          <a:ext cx="5755640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 gridSpan="2">
                  <a:txBody>
                    <a:bodyPr/>
                    <a:lstStyle/>
                    <a:p>
                      <a:pPr marL="204851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2)</a:t>
                      </a:r>
                      <a:r>
                        <a:rPr sz="11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Karşılaştırma</a:t>
                      </a:r>
                      <a:r>
                        <a:rPr sz="11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Operatörleri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&lt;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Küçüktür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&gt;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Büyüktür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&gt;=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veya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=&gt;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Büyük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eşit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&lt;=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veya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=&lt;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Küçük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eşit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==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Eşit</a:t>
                      </a:r>
                      <a:r>
                        <a:rPr sz="11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ise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!=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Eşit</a:t>
                      </a:r>
                      <a:r>
                        <a:rPr sz="11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değilse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27836" y="8033892"/>
          <a:ext cx="5755640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 gridSpan="2">
                  <a:txBody>
                    <a:bodyPr/>
                    <a:lstStyle/>
                    <a:p>
                      <a:pPr marL="215773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3)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Mantıksal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Operatörler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&amp;&amp;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VE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||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VEYA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!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DEĞİL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??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NULL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?: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Şart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spc="-10" dirty="0">
                          <a:latin typeface="Calibri"/>
                          <a:cs typeface="Calibri"/>
                        </a:rPr>
                        <a:t>(Koşul)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776" y="877315"/>
            <a:ext cx="366267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Mantıksal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operatörde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??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örneği</a:t>
            </a:r>
            <a:r>
              <a:rPr sz="1100" spc="-10" dirty="0">
                <a:latin typeface="Calibri"/>
                <a:cs typeface="Calibri"/>
              </a:rPr>
              <a:t> inceleyin;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7836" y="1185925"/>
          <a:ext cx="5755640" cy="540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385">
                <a:tc>
                  <a:txBody>
                    <a:bodyPr/>
                    <a:lstStyle/>
                    <a:p>
                      <a:pPr marL="67945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00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mesaj</a:t>
                      </a:r>
                      <a:r>
                        <a:rPr sz="900" spc="-7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"Merhaba</a:t>
                      </a:r>
                      <a:r>
                        <a:rPr sz="900" spc="-5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Dünya!"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 marR="98425">
                        <a:lnSpc>
                          <a:spcPct val="9720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sonuc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mesaj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??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"Mesaj</a:t>
                      </a:r>
                      <a:r>
                        <a:rPr sz="900" spc="-4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yok!"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;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.WriteLine(sonuc);</a:t>
                      </a:r>
                      <a:r>
                        <a:rPr sz="9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00" spc="-6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Merhaba</a:t>
                      </a:r>
                      <a:r>
                        <a:rPr sz="900" spc="-6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Dünya!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mesaj</a:t>
                      </a:r>
                      <a:r>
                        <a:rPr sz="9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null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 marR="350520">
                        <a:lnSpc>
                          <a:spcPct val="9720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sonuc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mesaj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??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"Mesaj</a:t>
                      </a:r>
                      <a:r>
                        <a:rPr sz="900" spc="-4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yok!"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;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.WriteLine(sonuc);</a:t>
                      </a:r>
                      <a:r>
                        <a:rPr sz="9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00" spc="-5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Mesaj</a:t>
                      </a:r>
                      <a:r>
                        <a:rPr sz="900" spc="-4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yok!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86764" y="1813914"/>
            <a:ext cx="578612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885" algn="just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örnekte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öncelikle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mesaj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değişkenine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“Merhaba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Dünya”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tanımlanıyor.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Sonrasında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da </a:t>
            </a:r>
            <a:r>
              <a:rPr sz="1100" dirty="0">
                <a:latin typeface="Calibri"/>
                <a:cs typeface="Calibri"/>
              </a:rPr>
              <a:t>sonuç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değişkeninde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“mesaj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NULL</a:t>
            </a:r>
            <a:r>
              <a:rPr sz="1100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değilse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mesaj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değişkenini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göster,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eğer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ki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mesaj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değişkeni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NULL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“Mesaj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yok!”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göster.”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şeklinde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yapmaktadır.</a:t>
            </a:r>
            <a:endParaRPr sz="1100">
              <a:latin typeface="Calibri"/>
              <a:cs typeface="Calibri"/>
            </a:endParaRPr>
          </a:p>
          <a:p>
            <a:pPr marL="10858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latin typeface="Calibri"/>
                <a:cs typeface="Calibri"/>
              </a:rPr>
              <a:t>Mantıksal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operatörde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?: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örneği</a:t>
            </a:r>
            <a:r>
              <a:rPr sz="1100" spc="-10" dirty="0">
                <a:latin typeface="Calibri"/>
                <a:cs typeface="Calibri"/>
              </a:rPr>
              <a:t> inceleyin;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2793745"/>
            <a:ext cx="5755640" cy="85534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x;</a:t>
            </a:r>
            <a:endParaRPr sz="950">
              <a:latin typeface="Consolas"/>
              <a:cs typeface="Consolas"/>
            </a:endParaRPr>
          </a:p>
          <a:p>
            <a:pPr marL="67945" marR="4817745">
              <a:lnSpc>
                <a:spcPts val="1120"/>
              </a:lnSpc>
              <a:spcBef>
                <a:spcPts val="3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durum; </a:t>
            </a:r>
            <a:r>
              <a:rPr sz="950" dirty="0">
                <a:latin typeface="Consolas"/>
                <a:cs typeface="Consolas"/>
              </a:rPr>
              <a:t>x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3;</a:t>
            </a:r>
            <a:endParaRPr sz="950">
              <a:latin typeface="Consolas"/>
              <a:cs typeface="Consolas"/>
            </a:endParaRPr>
          </a:p>
          <a:p>
            <a:pPr marL="67945" marR="2098040">
              <a:lnSpc>
                <a:spcPts val="1100"/>
              </a:lnSpc>
              <a:spcBef>
                <a:spcPts val="5"/>
              </a:spcBef>
            </a:pPr>
            <a:r>
              <a:rPr sz="950" dirty="0">
                <a:latin typeface="Consolas"/>
                <a:cs typeface="Consolas"/>
              </a:rPr>
              <a:t>durum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x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?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"5'ten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büyüktür."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: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"5'ten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küçüktür."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.Write(durum);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 5'ten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küçüktür.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9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3749166"/>
            <a:ext cx="3893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Not: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Mantıksal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operatörlerde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önceliği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VEYA,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?: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şeklindedir.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27836" y="4055998"/>
          <a:ext cx="5755640" cy="123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 gridSpan="2">
                  <a:txBody>
                    <a:bodyPr/>
                    <a:lstStyle/>
                    <a:p>
                      <a:pPr marL="1621155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4)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Aktarma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ve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İşlemli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Aktarma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Operatörleri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Eşit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+=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Önce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topla, sonra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aktar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Önce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çıkar,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sonra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aktar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*=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Önce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çarp,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sonra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aktar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/=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Önce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böl,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sonra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aktar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%=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Önce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mod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al, sonra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aktar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27836" y="5586094"/>
          <a:ext cx="5755640" cy="529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 gridSpan="2">
                  <a:txBody>
                    <a:bodyPr/>
                    <a:lstStyle/>
                    <a:p>
                      <a:pPr marL="210947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5)</a:t>
                      </a:r>
                      <a:r>
                        <a:rPr sz="11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Birleştirme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Operatörleri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+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Birleştir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+=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Önce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birleştir,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sonra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aktar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86764" y="6219824"/>
            <a:ext cx="46907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İkinci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birleştirme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operatörünün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şekli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örneği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inceleyebilirsin;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0884" y="6529704"/>
            <a:ext cx="5755640" cy="71374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67945" marR="4021454">
              <a:lnSpc>
                <a:spcPts val="1100"/>
              </a:lnSpc>
              <a:spcBef>
                <a:spcPts val="2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yazi1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"Merhaba"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yazi2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Dünya!"</a:t>
            </a:r>
            <a:r>
              <a:rPr sz="950" spc="-1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80"/>
              </a:lnSpc>
            </a:pPr>
            <a:r>
              <a:rPr sz="950" dirty="0">
                <a:latin typeface="Consolas"/>
                <a:cs typeface="Consolas"/>
              </a:rPr>
              <a:t>yazi1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yazi2;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.WriteLine(yazi1);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Merhaba 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Dünya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2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5791"/>
            <a:ext cx="5785485" cy="175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 I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6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Kontrol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(Şart)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İfadeleri</a:t>
            </a:r>
            <a:endParaRPr sz="1300" dirty="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500"/>
              </a:lnSpc>
              <a:spcBef>
                <a:spcPts val="960"/>
              </a:spcBef>
            </a:pPr>
            <a:r>
              <a:rPr sz="1100" dirty="0">
                <a:latin typeface="Calibri"/>
                <a:cs typeface="Calibri"/>
              </a:rPr>
              <a:t>Program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koşulun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doğru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olup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olmadığına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</a:t>
            </a:r>
            <a:r>
              <a:rPr sz="1100" spc="2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yapılması </a:t>
            </a:r>
            <a:r>
              <a:rPr sz="1100" dirty="0">
                <a:latin typeface="Calibri"/>
                <a:cs typeface="Calibri"/>
              </a:rPr>
              <a:t>gerekebilir.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durumda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kontrol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deyimleri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switch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olmak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adet </a:t>
            </a:r>
            <a:r>
              <a:rPr sz="1100" dirty="0">
                <a:latin typeface="Calibri"/>
                <a:cs typeface="Calibri"/>
              </a:rPr>
              <a:t>kontrol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ifadesi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vardır.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yapısında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şartı,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switch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yapısında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kontrol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ederiz.</a:t>
            </a:r>
            <a:endParaRPr sz="11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935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spc="16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If</a:t>
            </a:r>
            <a:r>
              <a:rPr sz="120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Yapısı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ve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Kullanım</a:t>
            </a:r>
            <a:r>
              <a:rPr sz="1200" spc="-4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Türleri</a:t>
            </a:r>
            <a:endParaRPr sz="1200" dirty="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7836" y="2761741"/>
          <a:ext cx="5755640" cy="2726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48133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Kullanım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Türü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4505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1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Kullanım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Türü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1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Kullanım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Türü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525"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95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(şart)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70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şart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doğru</a:t>
                      </a:r>
                      <a:r>
                        <a:rPr sz="950" spc="-1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ise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70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4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yapılacak</a:t>
                      </a:r>
                      <a:r>
                        <a:rPr sz="950" spc="-4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işlemler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3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95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(şart)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797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şart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doğru</a:t>
                      </a:r>
                      <a:r>
                        <a:rPr sz="950" spc="-1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ise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797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4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yapılacak</a:t>
                      </a:r>
                      <a:r>
                        <a:rPr sz="950" spc="-4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işlemler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5"/>
                        </a:lnSpc>
                      </a:pP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else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797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şart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yanlış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ise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7970">
                        <a:lnSpc>
                          <a:spcPts val="1115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4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yapılacak</a:t>
                      </a:r>
                      <a:r>
                        <a:rPr sz="950" spc="-4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işlemler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3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95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(şart1)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şart1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doğru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ise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4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yapılacak</a:t>
                      </a:r>
                      <a:r>
                        <a:rPr sz="950" spc="-4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işlemler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else</a:t>
                      </a:r>
                      <a:r>
                        <a:rPr sz="95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(şart2)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şart1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yanlış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ise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5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şart2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kontrol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edilir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doğru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ise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yapılacak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1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işlemler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else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5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4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şartların</a:t>
                      </a:r>
                      <a:r>
                        <a:rPr sz="950" spc="-4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hiçbiri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5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1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sağlanmıyorsa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4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yapılacak</a:t>
                      </a:r>
                      <a:r>
                        <a:rPr sz="950" spc="-4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işlemler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15364" y="5591682"/>
            <a:ext cx="1801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2.</a:t>
            </a:r>
            <a:r>
              <a:rPr sz="1200" spc="175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Switch</a:t>
            </a:r>
            <a:r>
              <a:rPr sz="120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Yapısının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Kullanımı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5935344"/>
            <a:ext cx="5755640" cy="99568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switch</a:t>
            </a:r>
            <a:r>
              <a:rPr sz="950" spc="-10" dirty="0">
                <a:latin typeface="Consolas"/>
                <a:cs typeface="Consolas"/>
              </a:rPr>
              <a:t>(değişken)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 marR="3954145" algn="just">
              <a:lnSpc>
                <a:spcPct val="97500"/>
              </a:lnSpc>
              <a:spcBef>
                <a:spcPts val="1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1: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değer1;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2: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değer2;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3: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değer3;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sz="950" dirty="0">
                <a:latin typeface="Consolas"/>
                <a:cs typeface="Consolas"/>
              </a:rPr>
              <a:t>: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değerN;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05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7032116"/>
            <a:ext cx="5787390" cy="218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If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ve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Switch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Case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ile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İlgili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Notlar</a:t>
            </a:r>
            <a:endParaRPr sz="1300">
              <a:latin typeface="Calibri Light"/>
              <a:cs typeface="Calibri Light"/>
            </a:endParaRPr>
          </a:p>
          <a:p>
            <a:pPr marL="469265" indent="-227965">
              <a:lnSpc>
                <a:spcPct val="100000"/>
              </a:lnSpc>
              <a:spcBef>
                <a:spcPts val="1075"/>
              </a:spcBef>
              <a:buFont typeface="Calibri"/>
              <a:buAutoNum type="arabicParenR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if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yapılarında,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şarttan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yapılacak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kullanmaya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yoktur.</a:t>
            </a:r>
            <a:endParaRPr sz="1100">
              <a:latin typeface="Calibri"/>
              <a:cs typeface="Calibri"/>
            </a:endParaRPr>
          </a:p>
          <a:p>
            <a:pPr marL="469265" marR="6350" indent="-228600">
              <a:lnSpc>
                <a:spcPct val="110000"/>
              </a:lnSpc>
              <a:buFont typeface="Calibri"/>
              <a:buAutoNum type="arabicParenR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if</a:t>
            </a:r>
            <a:r>
              <a:rPr sz="1100" spc="3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yapısında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else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3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(değilse</a:t>
            </a:r>
            <a:r>
              <a:rPr sz="1100" i="1" spc="3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eğer)</a:t>
            </a:r>
            <a:r>
              <a:rPr sz="1100" i="1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</a:t>
            </a:r>
            <a:r>
              <a:rPr sz="1100" spc="3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istenildiği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kadar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değil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ihtiyaç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duyulduğu</a:t>
            </a:r>
            <a:r>
              <a:rPr sz="1100" spc="3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kadar kullanılır.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Font typeface="Calibri"/>
              <a:buAutoNum type="arabicParenR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if,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yapısındaki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şartların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hiçbiri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sağlanmıyorsa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anlamına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gelir.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20"/>
              </a:spcBef>
              <a:buFont typeface="Calibri"/>
              <a:buAutoNum type="arabicParenR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switch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yapısında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bloğunda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mutlaka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break;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-10" dirty="0">
                <a:latin typeface="Calibri"/>
                <a:cs typeface="Calibri"/>
              </a:rPr>
              <a:t> kullanılmalıdır.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Font typeface="Calibri"/>
              <a:buAutoNum type="arabicParenR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switch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yapısında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default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kullanmak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zorunlu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değildir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469265" marR="7620" indent="-228600">
              <a:lnSpc>
                <a:spcPct val="110000"/>
              </a:lnSpc>
              <a:buFont typeface="Calibri"/>
              <a:buAutoNum type="arabicParenR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switch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yapısında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değere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sahip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birden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fazla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olamayacağı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bu </a:t>
            </a:r>
            <a:r>
              <a:rPr sz="1100" dirty="0">
                <a:latin typeface="Calibri"/>
                <a:cs typeface="Calibri"/>
              </a:rPr>
              <a:t>değerler sabit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olmalıdır.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ts val="1450"/>
              </a:lnSpc>
              <a:spcBef>
                <a:spcPts val="60"/>
              </a:spcBef>
              <a:buFont typeface="Calibri"/>
              <a:buAutoNum type="arabicParenR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bloğundan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başka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bloğuna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“goto”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anahtar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sözcüğü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gidilir.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Bu </a:t>
            </a:r>
            <a:r>
              <a:rPr sz="1100" dirty="0">
                <a:latin typeface="Calibri"/>
                <a:cs typeface="Calibri"/>
              </a:rPr>
              <a:t>durumda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break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kullanılmaz.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60907"/>
            <a:ext cx="5788660" cy="394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9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hangisinin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büyük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olduğunu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C# </a:t>
            </a:r>
            <a:r>
              <a:rPr sz="1100" dirty="0">
                <a:latin typeface="Calibri"/>
                <a:cs typeface="Calibri"/>
              </a:rPr>
              <a:t>Konsol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kullanarak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hazırlayınız.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(Eşit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olma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şartını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şimdilik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sorgulamıyoruz.)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373377"/>
            <a:ext cx="5755640" cy="127762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a,</a:t>
            </a:r>
            <a:r>
              <a:rPr sz="950" spc="-25" dirty="0">
                <a:latin typeface="Consolas"/>
                <a:cs typeface="Consolas"/>
              </a:rPr>
              <a:t> b;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latin typeface="Consolas"/>
                <a:cs typeface="Consolas"/>
              </a:rPr>
              <a:t>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67945" marR="3425190">
              <a:lnSpc>
                <a:spcPts val="1120"/>
              </a:lnSpc>
              <a:spcBef>
                <a:spcPts val="40"/>
              </a:spcBef>
            </a:pPr>
            <a:r>
              <a:rPr sz="950" dirty="0">
                <a:latin typeface="Consolas"/>
                <a:cs typeface="Consolas"/>
              </a:rPr>
              <a:t>b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(a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b)</a:t>
            </a:r>
            <a:endParaRPr sz="950">
              <a:latin typeface="Consolas"/>
              <a:cs typeface="Consolas"/>
            </a:endParaRPr>
          </a:p>
          <a:p>
            <a:pPr marL="67945" marR="2761615" indent="198120">
              <a:lnSpc>
                <a:spcPts val="1100"/>
              </a:lnSpc>
              <a:spcBef>
                <a:spcPts val="10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"A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daha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büyüktür!"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90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"B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daha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büyüktür!"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ct val="100000"/>
              </a:lnSpc>
              <a:spcBef>
                <a:spcPts val="108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2734411"/>
            <a:ext cx="578866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bilgisi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50’den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az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bütünleme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notunu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isteyen, bütünleme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50’nin </a:t>
            </a:r>
            <a:r>
              <a:rPr sz="1100" dirty="0">
                <a:latin typeface="Calibri"/>
                <a:cs typeface="Calibri"/>
              </a:rPr>
              <a:t>altında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“KALDI”,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değilse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“GEÇTİ”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mesajını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hazırlayınız.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(Vize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Çıkmış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Soru)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3244849"/>
            <a:ext cx="5755640" cy="226695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not,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butNot;</a:t>
            </a:r>
            <a:endParaRPr sz="950">
              <a:latin typeface="Consolas"/>
              <a:cs typeface="Consolas"/>
            </a:endParaRPr>
          </a:p>
          <a:p>
            <a:pPr marL="67945" marR="3293745">
              <a:lnSpc>
                <a:spcPts val="1120"/>
              </a:lnSpc>
              <a:spcBef>
                <a:spcPts val="40"/>
              </a:spcBef>
            </a:pPr>
            <a:r>
              <a:rPr sz="950" dirty="0">
                <a:latin typeface="Consolas"/>
                <a:cs typeface="Consolas"/>
              </a:rPr>
              <a:t>not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(not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50)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 marR="2629535">
              <a:lnSpc>
                <a:spcPts val="1120"/>
              </a:lnSpc>
              <a:spcBef>
                <a:spcPts val="4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"Bütünleme</a:t>
            </a:r>
            <a:r>
              <a:rPr sz="9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notunu</a:t>
            </a:r>
            <a:r>
              <a:rPr sz="9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giriniz!"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butNot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466090" marR="3757295" indent="-200025">
              <a:lnSpc>
                <a:spcPts val="1120"/>
              </a:lnSpc>
              <a:spcBef>
                <a:spcPts val="109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(butNot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5" dirty="0">
                <a:latin typeface="Consolas"/>
                <a:cs typeface="Consolas"/>
              </a:rPr>
              <a:t> 50)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"KALDI"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55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466090">
              <a:lnSpc>
                <a:spcPts val="111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"GEÇTİ"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2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"GEÇTİ"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ct val="100000"/>
              </a:lnSpc>
              <a:spcBef>
                <a:spcPts val="109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5595086"/>
            <a:ext cx="5788660" cy="394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39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3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3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3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</a:t>
            </a:r>
            <a:r>
              <a:rPr sz="1100" spc="3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bilgisine</a:t>
            </a:r>
            <a:r>
              <a:rPr sz="1100" spc="4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4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hangi</a:t>
            </a:r>
            <a:r>
              <a:rPr sz="1100" spc="3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mevsimde</a:t>
            </a:r>
            <a:r>
              <a:rPr sz="1100" spc="4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olunduğunu</a:t>
            </a:r>
            <a:r>
              <a:rPr sz="1100" spc="4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3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programı hazırlayın.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884" y="6106032"/>
            <a:ext cx="5755640" cy="269176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ay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switch</a:t>
            </a:r>
            <a:r>
              <a:rPr sz="950" spc="-10" dirty="0">
                <a:latin typeface="Consolas"/>
                <a:cs typeface="Consolas"/>
              </a:rPr>
              <a:t>(ay)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12: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1:</a:t>
            </a:r>
            <a:endParaRPr sz="950">
              <a:latin typeface="Consolas"/>
              <a:cs typeface="Consolas"/>
            </a:endParaRPr>
          </a:p>
          <a:p>
            <a:pPr marL="266700" marR="3093085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2: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"Kış"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3: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5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4:</a:t>
            </a:r>
            <a:endParaRPr sz="950">
              <a:latin typeface="Consolas"/>
              <a:cs typeface="Consolas"/>
            </a:endParaRPr>
          </a:p>
          <a:p>
            <a:pPr marL="266700" marR="2760980">
              <a:lnSpc>
                <a:spcPts val="1120"/>
              </a:lnSpc>
              <a:spcBef>
                <a:spcPts val="4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5: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"İlkbahar"</a:t>
            </a:r>
            <a:r>
              <a:rPr sz="950" spc="-10" dirty="0">
                <a:latin typeface="Consolas"/>
                <a:cs typeface="Consolas"/>
              </a:rPr>
              <a:t>);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6: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5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7:</a:t>
            </a:r>
            <a:endParaRPr sz="950">
              <a:latin typeface="Consolas"/>
              <a:cs typeface="Consolas"/>
            </a:endParaRPr>
          </a:p>
          <a:p>
            <a:pPr marL="266700" marR="3093085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8: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"Yaz"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9: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6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10: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50" spc="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11: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"Sonbahar"</a:t>
            </a:r>
            <a:r>
              <a:rPr sz="950" spc="-10" dirty="0">
                <a:latin typeface="Consolas"/>
                <a:cs typeface="Consolas"/>
              </a:rPr>
              <a:t>);</a:t>
            </a:r>
            <a:r>
              <a:rPr sz="950" spc="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2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sz="950" dirty="0">
                <a:latin typeface="Consolas"/>
                <a:cs typeface="Consolas"/>
              </a:rPr>
              <a:t>: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"Yanlış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değer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girdiniz!"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ct val="100000"/>
              </a:lnSpc>
              <a:spcBef>
                <a:spcPts val="108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8839"/>
            <a:ext cx="5755640" cy="1241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Döngü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İfadeleri</a:t>
            </a:r>
            <a:endParaRPr sz="13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  <a:spcBef>
                <a:spcPts val="955"/>
              </a:spcBef>
            </a:pPr>
            <a:r>
              <a:rPr sz="1100" dirty="0">
                <a:latin typeface="Calibri"/>
                <a:cs typeface="Calibri"/>
              </a:rPr>
              <a:t>C#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belirli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koşula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bağlı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takım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ifadeleri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tekrar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tekrar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çalıştırmak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için </a:t>
            </a:r>
            <a:r>
              <a:rPr sz="1100" dirty="0">
                <a:latin typeface="Calibri"/>
                <a:cs typeface="Calibri"/>
              </a:rPr>
              <a:t>dört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ifadesi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kullanılır.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60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spc="17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For</a:t>
            </a:r>
            <a:r>
              <a:rPr sz="120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Döngüsü</a:t>
            </a:r>
            <a:endParaRPr sz="1200">
              <a:latin typeface="Calibri Light"/>
              <a:cs typeface="Calibri Light"/>
            </a:endParaRPr>
          </a:p>
          <a:p>
            <a:pPr marL="108585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Calibri"/>
                <a:cs typeface="Calibri"/>
              </a:rPr>
              <a:t>Belirli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tekrar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kullanımı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0" dirty="0">
                <a:latin typeface="Calibri"/>
                <a:cs typeface="Calibri"/>
              </a:rPr>
              <a:t> gibidir: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7836" y="2234437"/>
          <a:ext cx="5755640" cy="8568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631825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Kullanım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373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Kullanım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Kullanım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005">
                <a:tc>
                  <a:txBody>
                    <a:bodyPr/>
                    <a:lstStyle/>
                    <a:p>
                      <a:pPr marL="67945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8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(Döngü</a:t>
                      </a:r>
                      <a:r>
                        <a:rPr sz="900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değişkeni</a:t>
                      </a:r>
                      <a:r>
                        <a:rPr sz="900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=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5"/>
                        </a:lnSpc>
                      </a:pPr>
                      <a:r>
                        <a:rPr sz="900" spc="-10" dirty="0">
                          <a:latin typeface="Consolas"/>
                          <a:cs typeface="Consolas"/>
                        </a:rPr>
                        <a:t>Başlangıç;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Bitiş;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Artış)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00" spc="-6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Yapılacak</a:t>
                      </a:r>
                      <a:r>
                        <a:rPr sz="900" spc="-7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işlemler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35" dirty="0">
                          <a:latin typeface="Consolas"/>
                          <a:cs typeface="Consolas"/>
                        </a:rPr>
                        <a:t>a;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055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4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(a=1;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&lt;=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10;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a++)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7175">
                        <a:lnSpc>
                          <a:spcPts val="1050"/>
                        </a:lnSpc>
                      </a:pP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.Write(a);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4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a=1;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a&lt;=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10</a:t>
                      </a:r>
                      <a:r>
                        <a:rPr sz="9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;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a++)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5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50"/>
                        </a:lnSpc>
                      </a:pP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.Write(a);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86764" y="3189477"/>
            <a:ext cx="46043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arasındaki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çift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sayıları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döngüsünü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3499357"/>
            <a:ext cx="5755640" cy="57213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2;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10;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2)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.WriteLine(i);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776" y="4151436"/>
            <a:ext cx="4292600" cy="41529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2.</a:t>
            </a:r>
            <a:r>
              <a:rPr sz="1200" spc="17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While</a:t>
            </a:r>
            <a:r>
              <a:rPr sz="120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Döngüsü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dirty="0">
                <a:latin typeface="Calibri"/>
                <a:cs typeface="Calibri"/>
              </a:rPr>
              <a:t>Şart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sağlandığı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sürece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tekrar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edilmesini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sağlar.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884" y="4682362"/>
            <a:ext cx="5755640" cy="57150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(şart)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0"/>
              </a:lnSpc>
            </a:pP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yapılacak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işlemler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2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6764" y="5285425"/>
            <a:ext cx="5786120" cy="5962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3.</a:t>
            </a:r>
            <a:r>
              <a:rPr sz="1200" spc="17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Do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While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Döngüsü</a:t>
            </a:r>
            <a:endParaRPr sz="12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Tekrar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etmesi düşünülen ifadeler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şart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sağlandığı sürece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while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bloğunda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çalıştırılır.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 yapıda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şart </a:t>
            </a:r>
            <a:r>
              <a:rPr sz="1100" dirty="0">
                <a:latin typeface="Calibri"/>
                <a:cs typeface="Calibri"/>
              </a:rPr>
              <a:t>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olursa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olsun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içerisindeki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az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kere</a:t>
            </a:r>
            <a:r>
              <a:rPr sz="1100" spc="-10" dirty="0">
                <a:latin typeface="Calibri"/>
                <a:cs typeface="Calibri"/>
              </a:rPr>
              <a:t> çalıştırılır.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884" y="5999352"/>
            <a:ext cx="5758815" cy="71183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0"/>
              </a:lnSpc>
            </a:pP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do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5"/>
              </a:lnSpc>
            </a:pP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yapılacak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işlemler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(şart);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6764" y="6794982"/>
            <a:ext cx="5785485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sıfır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kadar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bütün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sayıların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toplamını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programı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hazırlayınız.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(Vize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Çıkmış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Soru)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884" y="7305420"/>
            <a:ext cx="5755640" cy="156146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toplam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giris;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  <a:spcBef>
                <a:spcPts val="1080"/>
              </a:spcBef>
            </a:pP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do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 marR="2960370">
              <a:lnSpc>
                <a:spcPts val="1120"/>
              </a:lnSpc>
              <a:spcBef>
                <a:spcPts val="40"/>
              </a:spcBef>
            </a:pPr>
            <a:r>
              <a:rPr sz="950" dirty="0">
                <a:latin typeface="Consolas"/>
                <a:cs typeface="Consolas"/>
              </a:rPr>
              <a:t>giris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latin typeface="Consolas"/>
                <a:cs typeface="Consolas"/>
              </a:rPr>
              <a:t>toplam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giris;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50" dirty="0">
                <a:latin typeface="Consolas"/>
                <a:cs typeface="Consolas"/>
              </a:rPr>
              <a:t>}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(giris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!=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0);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onsolas"/>
              <a:cs typeface="Consolas"/>
            </a:endParaRPr>
          </a:p>
          <a:p>
            <a:pPr marL="67945" marR="3956050">
              <a:lnSpc>
                <a:spcPts val="110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.WriteLine(toplam);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99834"/>
            <a:ext cx="5789295" cy="78295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4.</a:t>
            </a:r>
            <a:r>
              <a:rPr sz="1200" spc="16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For</a:t>
            </a:r>
            <a:r>
              <a:rPr sz="120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Each</a:t>
            </a:r>
            <a:endParaRPr sz="120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5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Her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anlamına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gelen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döngüsü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veya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koleksiyondaki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ulaşılarak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yapılmasını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sağlar.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döngüsündeki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dizideki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elemanların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tipleri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uyumlu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olmalıdır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0" dirty="0">
                <a:latin typeface="Calibri"/>
                <a:cs typeface="Calibri"/>
              </a:rPr>
              <a:t> gibidir: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800097"/>
            <a:ext cx="5755640" cy="57150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dizinin_elemani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5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dizi_degiskeni)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0"/>
              </a:lnSpc>
            </a:pP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yapılacak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işlemler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776" y="2470149"/>
            <a:ext cx="28219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Örnek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örneğe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bakabilirsin;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2781553"/>
            <a:ext cx="5755640" cy="71374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6,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7,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</a:t>
            </a:r>
            <a:r>
              <a:rPr sz="950" spc="-25" dirty="0">
                <a:latin typeface="Consolas"/>
                <a:cs typeface="Consolas"/>
              </a:rPr>
              <a:t> };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eleman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sayilar)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.WriteLine(eleman);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3484056"/>
            <a:ext cx="5787390" cy="19037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5.</a:t>
            </a:r>
            <a:r>
              <a:rPr sz="1200" spc="15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Break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ve</a:t>
            </a:r>
            <a:r>
              <a:rPr sz="120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Continue</a:t>
            </a:r>
            <a:r>
              <a:rPr sz="120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Komutları</a:t>
            </a:r>
            <a:endParaRPr sz="1200">
              <a:latin typeface="Calibri Light"/>
              <a:cs typeface="Calibri Light"/>
            </a:endParaRPr>
          </a:p>
          <a:p>
            <a:pPr marL="12700" marR="8890" indent="95885" algn="just">
              <a:lnSpc>
                <a:spcPct val="11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Bazı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durumlarda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döngülerin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sonlandırılması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sonraki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değerden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devam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etmesi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gerekebilir.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Bu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durumlarda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break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continue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komutları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kullanılır.</a:t>
            </a:r>
            <a:endParaRPr sz="1100">
              <a:latin typeface="Calibri"/>
              <a:cs typeface="Calibri"/>
            </a:endParaRPr>
          </a:p>
          <a:p>
            <a:pPr marL="12700" marR="5080" indent="95885" algn="just">
              <a:lnSpc>
                <a:spcPct val="110000"/>
              </a:lnSpc>
              <a:spcBef>
                <a:spcPts val="795"/>
              </a:spcBef>
            </a:pPr>
            <a:r>
              <a:rPr sz="1100" dirty="0">
                <a:latin typeface="Calibri"/>
                <a:cs typeface="Calibri"/>
              </a:rPr>
              <a:t>Break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döngüyü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istediğiniz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yerde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keserek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döngünün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gereksiz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yere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çalışmasının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önüne </a:t>
            </a:r>
            <a:r>
              <a:rPr sz="1100" dirty="0">
                <a:latin typeface="Calibri"/>
                <a:cs typeface="Calibri"/>
              </a:rPr>
              <a:t>geçer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döngünün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performansını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arttırmış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oluruz.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Continue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içerisinde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döngüye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dahil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edilmemesi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gerektiğinde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sonraki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değerden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başlamak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üzere </a:t>
            </a:r>
            <a:r>
              <a:rPr sz="1100" dirty="0">
                <a:latin typeface="Calibri"/>
                <a:cs typeface="Calibri"/>
              </a:rPr>
              <a:t>kullanılır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döngünün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daha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az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çalışması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sağlanır.</a:t>
            </a:r>
            <a:endParaRPr sz="1100">
              <a:latin typeface="Calibri"/>
              <a:cs typeface="Calibri"/>
            </a:endParaRPr>
          </a:p>
          <a:p>
            <a:pPr marL="12700" marR="6985" indent="95885" algn="just">
              <a:lnSpc>
                <a:spcPct val="110000"/>
              </a:lnSpc>
              <a:spcBef>
                <a:spcPts val="790"/>
              </a:spcBef>
            </a:pPr>
            <a:r>
              <a:rPr sz="1100" dirty="0">
                <a:latin typeface="Calibri"/>
                <a:cs typeface="Calibri"/>
              </a:rPr>
              <a:t>Break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Continue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komutları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şart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hem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döngü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hem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döngü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şartın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birlikte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bulunduğu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yapılarda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kullanılır.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27836" y="5500750"/>
          <a:ext cx="5755640" cy="127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8890"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1;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&lt;=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5;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i++)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70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(i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==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3)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700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466090">
                        <a:lnSpc>
                          <a:spcPts val="1115"/>
                        </a:lnSpc>
                      </a:pP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break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700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700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.Write(i</a:t>
                      </a:r>
                      <a:r>
                        <a:rPr sz="95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50" spc="-3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);</a:t>
                      </a:r>
                      <a:r>
                        <a:rPr sz="95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1;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&lt;=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5;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i++)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(i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==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3)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466090">
                        <a:lnSpc>
                          <a:spcPts val="1115"/>
                        </a:lnSpc>
                      </a:pP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continue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6065">
                        <a:lnSpc>
                          <a:spcPts val="1110"/>
                        </a:lnSpc>
                      </a:pPr>
                      <a:r>
                        <a:rPr sz="95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.Write(i</a:t>
                      </a:r>
                      <a:r>
                        <a:rPr sz="95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50" spc="-3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);</a:t>
                      </a:r>
                      <a:r>
                        <a:rPr sz="95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sz="95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1245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86764" y="6865086"/>
            <a:ext cx="5789295" cy="3943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b="1" dirty="0">
                <a:latin typeface="Calibri"/>
                <a:cs typeface="Calibri"/>
              </a:rPr>
              <a:t>Ödev: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dört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hazırlayınız. </a:t>
            </a:r>
            <a:r>
              <a:rPr sz="1100" i="1" spc="-10" dirty="0">
                <a:latin typeface="Calibri"/>
                <a:cs typeface="Calibri"/>
              </a:rPr>
              <a:t>(1-</a:t>
            </a:r>
            <a:r>
              <a:rPr sz="1100" i="1" dirty="0">
                <a:latin typeface="Calibri"/>
                <a:cs typeface="Calibri"/>
              </a:rPr>
              <a:t>Toplama,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2-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dirty="0">
                <a:latin typeface="Calibri"/>
                <a:cs typeface="Calibri"/>
              </a:rPr>
              <a:t>Çıkarma,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3-</a:t>
            </a:r>
            <a:r>
              <a:rPr sz="1100" i="1" dirty="0">
                <a:latin typeface="Calibri"/>
                <a:cs typeface="Calibri"/>
              </a:rPr>
              <a:t>Çarpma,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4-</a:t>
            </a:r>
            <a:r>
              <a:rPr sz="1100" i="1" dirty="0">
                <a:latin typeface="Calibri"/>
                <a:cs typeface="Calibri"/>
              </a:rPr>
              <a:t>Bölme,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önce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sayılar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girilecek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sonra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yapılacak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olan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işlem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seçilecek.)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884" y="7377048"/>
            <a:ext cx="5755640" cy="214820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00" spc="-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sayi1,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sayi2;</a:t>
            </a:r>
            <a:endParaRPr sz="900">
              <a:latin typeface="Consolas"/>
              <a:cs typeface="Consolas"/>
            </a:endParaRPr>
          </a:p>
          <a:p>
            <a:pPr marL="67945" marR="3102610">
              <a:lnSpc>
                <a:spcPct val="97400"/>
              </a:lnSpc>
              <a:spcBef>
                <a:spcPts val="15"/>
              </a:spcBef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"1.</a:t>
            </a:r>
            <a:r>
              <a:rPr sz="9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 </a:t>
            </a:r>
            <a:r>
              <a:rPr sz="900" dirty="0">
                <a:latin typeface="Consolas"/>
                <a:cs typeface="Consolas"/>
              </a:rPr>
              <a:t>sayi1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"2.</a:t>
            </a:r>
            <a:r>
              <a:rPr sz="9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 </a:t>
            </a:r>
            <a:r>
              <a:rPr sz="900" dirty="0">
                <a:latin typeface="Consolas"/>
                <a:cs typeface="Consolas"/>
              </a:rPr>
              <a:t>sayi2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</a:t>
            </a:r>
            <a:endParaRPr sz="900">
              <a:latin typeface="Consolas"/>
              <a:cs typeface="Consolas"/>
            </a:endParaRPr>
          </a:p>
          <a:p>
            <a:pPr marL="67945" marR="85090">
              <a:lnSpc>
                <a:spcPts val="1060"/>
              </a:lnSpc>
              <a:spcBef>
                <a:spcPts val="30"/>
              </a:spcBef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"~</a:t>
            </a:r>
            <a:r>
              <a:rPr sz="900" spc="-9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İşlem</a:t>
            </a:r>
            <a:r>
              <a:rPr sz="9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seçiniz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~\n1)</a:t>
            </a:r>
            <a:r>
              <a:rPr sz="9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Toplama\n2)</a:t>
            </a:r>
            <a:r>
              <a:rPr sz="9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Çıkarma\n3)</a:t>
            </a:r>
            <a:r>
              <a:rPr sz="9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Çarpma\n4)</a:t>
            </a:r>
            <a:r>
              <a:rPr sz="9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Bölme\nİşlem:</a:t>
            </a:r>
            <a:r>
              <a:rPr sz="9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islem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0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switch</a:t>
            </a:r>
            <a:r>
              <a:rPr sz="9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(islem)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 marR="1845310" algn="just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1: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"Sonuç: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(sayi1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sayi2));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00" spc="-10" dirty="0">
                <a:latin typeface="Consolas"/>
                <a:cs typeface="Consolas"/>
              </a:rPr>
              <a:t>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2: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"Sonuç: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(sayi1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sayi2));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00" spc="-10" dirty="0">
                <a:latin typeface="Consolas"/>
                <a:cs typeface="Consolas"/>
              </a:rPr>
              <a:t>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3: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"Sonuç: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(sayi1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*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sayi2));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00" spc="-10" dirty="0">
                <a:latin typeface="Consolas"/>
                <a:cs typeface="Consolas"/>
              </a:rPr>
              <a:t>;</a:t>
            </a:r>
            <a:endParaRPr sz="900">
              <a:latin typeface="Consolas"/>
              <a:cs typeface="Consolas"/>
            </a:endParaRPr>
          </a:p>
          <a:p>
            <a:pPr marL="255904" marR="461009" algn="just">
              <a:lnSpc>
                <a:spcPts val="104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900" spc="-9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4:</a:t>
            </a:r>
            <a:r>
              <a:rPr sz="900" spc="-6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900" spc="-10" dirty="0">
                <a:latin typeface="Consolas"/>
                <a:cs typeface="Consolas"/>
              </a:rPr>
              <a:t>.Format(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"Sonuç:</a:t>
            </a:r>
            <a:r>
              <a:rPr sz="9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{0:0.##}"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6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(sayi1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/</a:t>
            </a:r>
            <a:r>
              <a:rPr sz="900" spc="-6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sayi2)));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00" spc="-10" dirty="0">
                <a:latin typeface="Consolas"/>
                <a:cs typeface="Consolas"/>
              </a:rPr>
              <a:t>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"Hatalı</a:t>
            </a:r>
            <a:r>
              <a:rPr sz="9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giriş</a:t>
            </a:r>
            <a:r>
              <a:rPr sz="9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yaptınız!"</a:t>
            </a:r>
            <a:r>
              <a:rPr sz="900" spc="-10" dirty="0">
                <a:latin typeface="Consolas"/>
                <a:cs typeface="Consolas"/>
              </a:rPr>
              <a:t>);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00" spc="-10" dirty="0">
                <a:latin typeface="Consolas"/>
                <a:cs typeface="Consolas"/>
              </a:rPr>
              <a:t>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19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.ReadKey();</a:t>
            </a:r>
            <a:endParaRPr sz="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4" y="875791"/>
            <a:ext cx="5556250" cy="113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20345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 I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600" dirty="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Bugün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8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uygulamalı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yapacağız.</a:t>
            </a:r>
            <a:endParaRPr sz="1100" dirty="0">
              <a:latin typeface="Calibri"/>
              <a:cs typeface="Calibri"/>
            </a:endParaRPr>
          </a:p>
          <a:p>
            <a:pPr marL="240665" marR="5080" indent="-228600">
              <a:lnSpc>
                <a:spcPct val="110000"/>
              </a:lnSpc>
              <a:spcBef>
                <a:spcPts val="6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taban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uzunluğu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yükseklik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üçgenin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alanını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hesaplayan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8033" y="2124709"/>
            <a:ext cx="5441950" cy="113728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taban,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yukseklik,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alan;</a:t>
            </a:r>
            <a:endParaRPr sz="950">
              <a:latin typeface="Consolas"/>
              <a:cs typeface="Consolas"/>
            </a:endParaRPr>
          </a:p>
          <a:p>
            <a:pPr marL="67945" marR="2381250">
              <a:lnSpc>
                <a:spcPct val="97500"/>
              </a:lnSpc>
              <a:spcBef>
                <a:spcPts val="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"Taban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sayısını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girin: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taban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"Yükseklik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değerini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girin: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yukseklik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latin typeface="Consolas"/>
                <a:cs typeface="Consolas"/>
              </a:rPr>
              <a:t>alan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(taban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yukseklik)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/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2;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"Sonuç:</a:t>
            </a:r>
            <a:r>
              <a:rPr sz="9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alan);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364" y="3420591"/>
            <a:ext cx="5560060" cy="575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marR="5080" indent="-228600" algn="just">
              <a:lnSpc>
                <a:spcPct val="1095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Elektrik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tüketim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miktarı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birim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fiyat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girilmektedir.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Aylık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tüketim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bedelini </a:t>
            </a:r>
            <a:r>
              <a:rPr sz="1100" dirty="0">
                <a:latin typeface="Calibri"/>
                <a:cs typeface="Calibri"/>
              </a:rPr>
              <a:t>“aylık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bedel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tüketim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miktarı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*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birim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fiyat”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formülüne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hesaplayarak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yazdıracak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8033" y="4113910"/>
            <a:ext cx="5441950" cy="113728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birimFiyat,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aylikBedel,</a:t>
            </a:r>
            <a:r>
              <a:rPr sz="950" spc="-6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tuketimMiktari;</a:t>
            </a:r>
            <a:endParaRPr sz="950">
              <a:latin typeface="Consolas"/>
              <a:cs typeface="Consolas"/>
            </a:endParaRPr>
          </a:p>
          <a:p>
            <a:pPr marL="67945" marR="2050414">
              <a:lnSpc>
                <a:spcPct val="97500"/>
              </a:lnSpc>
              <a:spcBef>
                <a:spcPts val="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"Tüketim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miktarını</a:t>
            </a:r>
            <a:r>
              <a:rPr sz="95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girin:</a:t>
            </a:r>
            <a:r>
              <a:rPr sz="95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tuketimMiktari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"Birim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fiyatı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birimFiyat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latin typeface="Consolas"/>
                <a:cs typeface="Consolas"/>
              </a:rPr>
              <a:t>aylikBedel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(tuketimMiktari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birimFiyat);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.Write(aylikBedel);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364" y="5406364"/>
            <a:ext cx="555625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1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ilk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sayının,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ikinci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sayıya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olarak </a:t>
            </a:r>
            <a:r>
              <a:rPr sz="1100" dirty="0">
                <a:latin typeface="Calibri"/>
                <a:cs typeface="Calibri"/>
              </a:rPr>
              <a:t>bölünüp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bölünemediği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8033" y="5917056"/>
            <a:ext cx="5441950" cy="127889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0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"1.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 marR="2580640">
              <a:lnSpc>
                <a:spcPts val="1120"/>
              </a:lnSpc>
              <a:spcBef>
                <a:spcPts val="3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sayi1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"2.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 marR="2580640">
              <a:lnSpc>
                <a:spcPts val="1100"/>
              </a:lnSpc>
              <a:spcBef>
                <a:spcPts val="1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sayi2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(sayi1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%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sayi2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25" dirty="0">
                <a:latin typeface="Consolas"/>
                <a:cs typeface="Consolas"/>
              </a:rPr>
              <a:t> 0)</a:t>
            </a:r>
            <a:endParaRPr sz="950">
              <a:latin typeface="Consolas"/>
              <a:cs typeface="Consolas"/>
            </a:endParaRPr>
          </a:p>
          <a:p>
            <a:pPr marL="67945" marR="626745" indent="228600">
              <a:lnSpc>
                <a:spcPts val="1120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"{0}</a:t>
            </a:r>
            <a:r>
              <a:rPr sz="95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</a:t>
            </a:r>
            <a:r>
              <a:rPr sz="95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{1}</a:t>
            </a:r>
            <a:r>
              <a:rPr sz="95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sayısına</a:t>
            </a:r>
            <a:r>
              <a:rPr sz="95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tam</a:t>
            </a:r>
            <a:r>
              <a:rPr sz="95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bölünür."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sayi1,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sayi2); 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296545">
              <a:lnSpc>
                <a:spcPts val="105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"{0}</a:t>
            </a:r>
            <a:r>
              <a:rPr sz="95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</a:t>
            </a:r>
            <a:r>
              <a:rPr sz="95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{1}</a:t>
            </a:r>
            <a:r>
              <a:rPr sz="95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sayısına</a:t>
            </a:r>
            <a:r>
              <a:rPr sz="95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tam</a:t>
            </a:r>
            <a:r>
              <a:rPr sz="95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bölünmez."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sayi1,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sayi2);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5364" y="7354290"/>
            <a:ext cx="5558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91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2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4:</a:t>
            </a:r>
            <a:r>
              <a:rPr sz="1100" b="1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büyük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sayıdan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sayıyı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çıkartarak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8033" y="7863204"/>
            <a:ext cx="5441950" cy="127762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"1.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 marR="2580640">
              <a:lnSpc>
                <a:spcPts val="1100"/>
              </a:lnSpc>
              <a:spcBef>
                <a:spcPts val="5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sayi1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"2.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 marR="2580640">
              <a:lnSpc>
                <a:spcPts val="1120"/>
              </a:lnSpc>
              <a:spcBef>
                <a:spcPts val="1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sayi2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(sayi1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sayi2)</a:t>
            </a:r>
            <a:endParaRPr sz="950">
              <a:latin typeface="Consolas"/>
              <a:cs typeface="Consolas"/>
            </a:endParaRPr>
          </a:p>
          <a:p>
            <a:pPr marL="296545">
              <a:lnSpc>
                <a:spcPts val="105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.Write(sayi1</a:t>
            </a:r>
            <a:r>
              <a:rPr sz="950" spc="-6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7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sayi2);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67945" marR="3442970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.Write(sayi2</a:t>
            </a:r>
            <a:r>
              <a:rPr sz="950" spc="-6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7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sayi1);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4" y="868526"/>
            <a:ext cx="5560060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 algn="just">
              <a:lnSpc>
                <a:spcPct val="1101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18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5:</a:t>
            </a:r>
            <a:r>
              <a:rPr sz="1100" b="1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Satıldığı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adet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birim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fiyatı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ürünün;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satış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fiyatı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1000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TL’nin </a:t>
            </a:r>
            <a:r>
              <a:rPr sz="1100" dirty="0">
                <a:latin typeface="Calibri"/>
                <a:cs typeface="Calibri"/>
              </a:rPr>
              <a:t>üstünde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“Devam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etmek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istiyor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musunuz?”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şeklinde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soru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soran,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soruya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verilecek </a:t>
            </a:r>
            <a:r>
              <a:rPr sz="1100" dirty="0">
                <a:latin typeface="Calibri"/>
                <a:cs typeface="Calibri"/>
              </a:rPr>
              <a:t>cevaba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“İşlem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tamamlandı.”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veya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“İşlem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iptal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edildi.”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şeklinde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uyarı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mesajı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veren,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satış </a:t>
            </a:r>
            <a:r>
              <a:rPr sz="1100" dirty="0">
                <a:latin typeface="Calibri"/>
                <a:cs typeface="Calibri"/>
              </a:rPr>
              <a:t>fiyatı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1000’in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altında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kalırsa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“İşlem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Onaylandı”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yazan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programını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8033" y="1748281"/>
            <a:ext cx="5441950" cy="269176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adet,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toplamFiyat,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birimFiyat;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char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cevap;</a:t>
            </a:r>
            <a:endParaRPr sz="950">
              <a:latin typeface="Consolas"/>
              <a:cs typeface="Consolas"/>
            </a:endParaRPr>
          </a:p>
          <a:p>
            <a:pPr marL="67945" marR="2315845">
              <a:lnSpc>
                <a:spcPct val="97500"/>
              </a:lnSpc>
              <a:spcBef>
                <a:spcPts val="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"Adet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değerini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"</a:t>
            </a:r>
            <a:r>
              <a:rPr sz="950" spc="-25" dirty="0">
                <a:latin typeface="Consolas"/>
                <a:cs typeface="Consolas"/>
              </a:rPr>
              <a:t>);</a:t>
            </a:r>
            <a:r>
              <a:rPr sz="950" spc="50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adet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"Birim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fiyatı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birimFiyat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latin typeface="Consolas"/>
                <a:cs typeface="Consolas"/>
              </a:rPr>
              <a:t>toplamFiyat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adet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birimFiyat;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"Satış</a:t>
            </a:r>
            <a:r>
              <a:rPr sz="95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fiyatı:</a:t>
            </a:r>
            <a:r>
              <a:rPr sz="95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toplamFiyat);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(toplamFiyat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1000)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9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96545" marR="1557020">
              <a:lnSpc>
                <a:spcPts val="1120"/>
              </a:lnSpc>
              <a:spcBef>
                <a:spcPts val="4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"Devam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etmek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istiyor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musunuz?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(E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/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H)"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cevap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char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694690" marR="2482850" indent="-200025">
              <a:lnSpc>
                <a:spcPts val="1100"/>
              </a:lnSpc>
              <a:spcBef>
                <a:spcPts val="1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(cevap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'e'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||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cevap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'E'</a:t>
            </a:r>
            <a:r>
              <a:rPr sz="950" spc="-20" dirty="0">
                <a:latin typeface="Consolas"/>
                <a:cs typeface="Consolas"/>
              </a:rPr>
              <a:t>)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"İşlem</a:t>
            </a:r>
            <a:r>
              <a:rPr sz="950" spc="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onaylandı!"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494665">
              <a:lnSpc>
                <a:spcPts val="1080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694690">
              <a:lnSpc>
                <a:spcPts val="111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"İşlem</a:t>
            </a:r>
            <a:r>
              <a:rPr sz="9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iptal</a:t>
            </a:r>
            <a:r>
              <a:rPr sz="9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edildi!"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296545">
              <a:lnSpc>
                <a:spcPts val="113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"İşlem</a:t>
            </a:r>
            <a:r>
              <a:rPr sz="950" spc="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onaylandı!"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364" y="4595596"/>
            <a:ext cx="5560060" cy="104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27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6:</a:t>
            </a:r>
            <a:r>
              <a:rPr sz="1100" b="1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tamsayının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basamaklı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olup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olmadığını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kontrol ederek;</a:t>
            </a:r>
            <a:endParaRPr sz="11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697230" algn="l"/>
              </a:tabLst>
            </a:pPr>
            <a:r>
              <a:rPr sz="1100" dirty="0">
                <a:latin typeface="Calibri"/>
                <a:cs typeface="Calibri"/>
              </a:rPr>
              <a:t>üç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basamaklı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değilse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“Üç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basamaklı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giriniz”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şeklinde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uyarı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veren,</a:t>
            </a:r>
            <a:endParaRPr sz="11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697230" algn="l"/>
              </a:tabLst>
            </a:pP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basamaklı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sayının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rakamlarının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olmadığını,</a:t>
            </a:r>
            <a:endParaRPr sz="1100">
              <a:latin typeface="Calibri"/>
              <a:cs typeface="Calibri"/>
            </a:endParaRPr>
          </a:p>
          <a:p>
            <a:pPr marL="233045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hazırlayınız.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(Çıkmış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sınav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sorusu)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413" y="5759830"/>
            <a:ext cx="5449570" cy="184467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x;</a:t>
            </a:r>
            <a:endParaRPr sz="950">
              <a:latin typeface="Consolas"/>
              <a:cs typeface="Consolas"/>
            </a:endParaRPr>
          </a:p>
          <a:p>
            <a:pPr marL="68580" marR="4511675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metin; 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do</a:t>
            </a:r>
            <a:endParaRPr sz="950">
              <a:latin typeface="Consolas"/>
              <a:cs typeface="Consolas"/>
            </a:endParaRPr>
          </a:p>
          <a:p>
            <a:pPr marL="68580">
              <a:lnSpc>
                <a:spcPts val="106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 marR="1988820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"Üç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basamaklı</a:t>
            </a:r>
            <a:r>
              <a:rPr sz="95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bir</a:t>
            </a:r>
            <a:r>
              <a:rPr sz="95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</a:t>
            </a:r>
            <a:r>
              <a:rPr sz="95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giriniz:"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x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60"/>
              </a:lnSpc>
            </a:pPr>
            <a:r>
              <a:rPr sz="950" dirty="0">
                <a:latin typeface="Consolas"/>
                <a:cs typeface="Consolas"/>
              </a:rPr>
              <a:t>metin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x.ToString();</a:t>
            </a:r>
            <a:endParaRPr sz="950">
              <a:latin typeface="Consolas"/>
              <a:cs typeface="Consolas"/>
            </a:endParaRPr>
          </a:p>
          <a:p>
            <a:pPr marL="68580">
              <a:lnSpc>
                <a:spcPts val="1110"/>
              </a:lnSpc>
            </a:pPr>
            <a:r>
              <a:rPr sz="950" dirty="0">
                <a:latin typeface="Consolas"/>
                <a:cs typeface="Consolas"/>
              </a:rPr>
              <a:t>}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(metin.Length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!=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||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x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0);</a:t>
            </a:r>
            <a:endParaRPr sz="950">
              <a:latin typeface="Consolas"/>
              <a:cs typeface="Consolas"/>
            </a:endParaRPr>
          </a:p>
          <a:p>
            <a:pPr marL="266700" marR="537210" indent="-198120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(metin[0]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!=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metin[1]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&amp;&amp;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metin[0]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!=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metin[2]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&amp;&amp;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metin[1]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!=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metin[2])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"Rakamları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 birbirinden</a:t>
            </a:r>
            <a:r>
              <a:rPr sz="950" spc="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farklıdır."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8580">
              <a:lnSpc>
                <a:spcPts val="1055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68580" marR="1458595" indent="198120">
              <a:lnSpc>
                <a:spcPts val="1120"/>
              </a:lnSpc>
              <a:spcBef>
                <a:spcPts val="4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"Rakamları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birbirinden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farklı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değildir."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364" y="7775828"/>
            <a:ext cx="36455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7: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çıktısını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84985" y="7982077"/>
          <a:ext cx="5298440" cy="855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8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5344">
                <a:tc>
                  <a:txBody>
                    <a:bodyPr/>
                    <a:lstStyle/>
                    <a:p>
                      <a:pPr marL="67945">
                        <a:lnSpc>
                          <a:spcPts val="113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*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20"/>
                        </a:lnSpc>
                      </a:pPr>
                      <a:r>
                        <a:rPr sz="950" spc="-25" dirty="0">
                          <a:latin typeface="Consolas"/>
                          <a:cs typeface="Consolas"/>
                        </a:rPr>
                        <a:t>**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120"/>
                        </a:lnSpc>
                      </a:pPr>
                      <a:r>
                        <a:rPr sz="950" spc="-25" dirty="0">
                          <a:latin typeface="Consolas"/>
                          <a:cs typeface="Consolas"/>
                        </a:rPr>
                        <a:t>***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310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****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*****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6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1;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&lt;=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5;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i++)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{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467359" marR="1736089" indent="-200025">
                        <a:lnSpc>
                          <a:spcPts val="1100"/>
                        </a:lnSpc>
                        <a:spcBef>
                          <a:spcPts val="60"/>
                        </a:spcBef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j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1;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j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&lt;=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i;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j++) </a:t>
                      </a: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.Write(</a:t>
                      </a:r>
                      <a:r>
                        <a:rPr sz="95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"*"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);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267970">
                        <a:lnSpc>
                          <a:spcPts val="1080"/>
                        </a:lnSpc>
                      </a:pPr>
                      <a:r>
                        <a:rPr sz="9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.WriteLine();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}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4" y="868526"/>
            <a:ext cx="5555615" cy="394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102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9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8:</a:t>
            </a:r>
            <a:r>
              <a:rPr sz="1100" b="1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tamsayının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asal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olup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olmadığını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kontrol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eden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C# </a:t>
            </a:r>
            <a:r>
              <a:rPr sz="1100" dirty="0">
                <a:latin typeface="Calibri"/>
                <a:cs typeface="Calibri"/>
              </a:rPr>
              <a:t>programını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hazırlayınız.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(Çıkmış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sınav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sorusu)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8033" y="1379473"/>
            <a:ext cx="5441950" cy="198628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67945" marR="2976880">
              <a:lnSpc>
                <a:spcPts val="1100"/>
              </a:lnSpc>
              <a:spcBef>
                <a:spcPts val="2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asal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"Bir</a:t>
            </a:r>
            <a:r>
              <a:rPr sz="95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5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 marR="2912745">
              <a:lnSpc>
                <a:spcPts val="1120"/>
              </a:lnSpc>
              <a:spcBef>
                <a:spcPts val="5"/>
              </a:spcBef>
            </a:pPr>
            <a:r>
              <a:rPr sz="950" dirty="0">
                <a:latin typeface="Consolas"/>
                <a:cs typeface="Consolas"/>
              </a:rPr>
              <a:t>sayi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sayi;</a:t>
            </a:r>
            <a:r>
              <a:rPr sz="950" spc="-20" dirty="0">
                <a:latin typeface="Consolas"/>
                <a:cs typeface="Consolas"/>
              </a:rPr>
              <a:t> i++)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(sayi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%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0)</a:t>
            </a:r>
            <a:endParaRPr sz="950">
              <a:latin typeface="Consolas"/>
              <a:cs typeface="Consolas"/>
            </a:endParaRPr>
          </a:p>
          <a:p>
            <a:pPr marL="531495">
              <a:lnSpc>
                <a:spcPts val="1115"/>
              </a:lnSpc>
            </a:pPr>
            <a:r>
              <a:rPr sz="950" dirty="0">
                <a:latin typeface="Consolas"/>
                <a:cs typeface="Consolas"/>
              </a:rPr>
              <a:t>asal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sz="950" dirty="0">
                <a:latin typeface="Consolas"/>
                <a:cs typeface="Consolas"/>
              </a:rPr>
              <a:t>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50" spc="-1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(sayi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5" dirty="0">
                <a:latin typeface="Consolas"/>
                <a:cs typeface="Consolas"/>
              </a:rPr>
              <a:t> 2)</a:t>
            </a:r>
            <a:endParaRPr sz="950">
              <a:latin typeface="Consolas"/>
              <a:cs typeface="Consolas"/>
            </a:endParaRPr>
          </a:p>
          <a:p>
            <a:pPr marL="67945" marR="2780030" indent="198120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5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asal</a:t>
            </a:r>
            <a:r>
              <a:rPr sz="95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değildir"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(asal)</a:t>
            </a:r>
            <a:endParaRPr sz="950">
              <a:latin typeface="Consolas"/>
              <a:cs typeface="Consolas"/>
            </a:endParaRPr>
          </a:p>
          <a:p>
            <a:pPr marL="266065">
              <a:lnSpc>
                <a:spcPts val="105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50" spc="-1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asaldır."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266065">
              <a:lnSpc>
                <a:spcPts val="1130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5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asal</a:t>
            </a:r>
            <a:r>
              <a:rPr sz="95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değildir."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364" y="3497707"/>
            <a:ext cx="5554345" cy="6097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73355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</a:t>
            </a:r>
            <a:r>
              <a:rPr sz="16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lang="tr-TR" sz="1600" spc="-25" dirty="0">
              <a:solidFill>
                <a:srgbClr val="2E5395"/>
              </a:solidFill>
              <a:latin typeface="Calibri Light"/>
              <a:cs typeface="Calibri Light"/>
            </a:endParaRPr>
          </a:p>
          <a:p>
            <a:pPr marR="173355" algn="ctr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6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9:</a:t>
            </a:r>
            <a:r>
              <a:rPr sz="1100" b="1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uzunluğu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belirsiz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tamsayının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basamaklarında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bulunan </a:t>
            </a:r>
            <a:r>
              <a:rPr sz="1100" dirty="0">
                <a:latin typeface="Calibri"/>
                <a:cs typeface="Calibri"/>
              </a:rPr>
              <a:t>rakamları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toplayarak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8033" y="4452238"/>
            <a:ext cx="5441950" cy="99568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toplam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Toplam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sıfırdan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başlar.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"Sayıyı</a:t>
            </a:r>
            <a:r>
              <a:rPr sz="95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latin typeface="Consolas"/>
                <a:cs typeface="Consolas"/>
              </a:rPr>
              <a:t>sayi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.ReadLine();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Girilen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şeklinde.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sayi.Length;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i++)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Lenght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1'den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başlar.</a:t>
            </a:r>
            <a:endParaRPr sz="950">
              <a:latin typeface="Consolas"/>
              <a:cs typeface="Consolas"/>
            </a:endParaRPr>
          </a:p>
          <a:p>
            <a:pPr marL="67945" marR="1652270" indent="228600">
              <a:lnSpc>
                <a:spcPts val="1100"/>
              </a:lnSpc>
              <a:spcBef>
                <a:spcPts val="55"/>
              </a:spcBef>
            </a:pPr>
            <a:r>
              <a:rPr sz="950" dirty="0">
                <a:latin typeface="Consolas"/>
                <a:cs typeface="Consolas"/>
              </a:rPr>
              <a:t>toplam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.Parse(sayi[i].ToString());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"Sayının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rakamları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toplamı: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toplam);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364" y="5620994"/>
            <a:ext cx="5557520" cy="394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102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b="1" dirty="0">
                <a:latin typeface="Calibri"/>
                <a:cs typeface="Calibri"/>
              </a:rPr>
              <a:t>Soru</a:t>
            </a:r>
            <a:r>
              <a:rPr sz="1100" b="1" spc="26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10:</a:t>
            </a:r>
            <a:r>
              <a:rPr sz="1100" b="1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metindeki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sesli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harf,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sessiz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harf,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rakam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özel </a:t>
            </a:r>
            <a:r>
              <a:rPr sz="1100" dirty="0">
                <a:latin typeface="Calibri"/>
                <a:cs typeface="Calibri"/>
              </a:rPr>
              <a:t>karakterlerin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sayısını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hazırlayınız.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(Çıkmış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Final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Sorusu)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8033" y="6131940"/>
            <a:ext cx="5298440" cy="362013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r>
              <a:rPr sz="9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sesliharfler</a:t>
            </a:r>
            <a:r>
              <a:rPr sz="9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"a,e,ı,i,o,ö,u,ü";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r>
              <a:rPr sz="9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sessizharfler</a:t>
            </a:r>
            <a:r>
              <a:rPr sz="9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sz="90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"b,c,ç,d,f,g,h,j,k,l,m,n,p,r,s,ş,t,v,y,z";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sesliharfler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"aeıioöuü"</a:t>
            </a:r>
            <a:r>
              <a:rPr sz="900" spc="-10" dirty="0">
                <a:latin typeface="Consolas"/>
                <a:cs typeface="Consolas"/>
              </a:rPr>
              <a:t>;</a:t>
            </a:r>
            <a:endParaRPr sz="900">
              <a:latin typeface="Consolas"/>
              <a:cs typeface="Consolas"/>
            </a:endParaRPr>
          </a:p>
          <a:p>
            <a:pPr marL="67945" marR="2331720">
              <a:lnSpc>
                <a:spcPts val="1040"/>
              </a:lnSpc>
              <a:spcBef>
                <a:spcPts val="5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sessizharfler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"bcçdfghjklmnprsştvyz"</a:t>
            </a:r>
            <a:r>
              <a:rPr sz="900" spc="-10" dirty="0">
                <a:latin typeface="Consolas"/>
                <a:cs typeface="Consolas"/>
              </a:rPr>
              <a:t>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rakamlar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"1234567890"</a:t>
            </a:r>
            <a:r>
              <a:rPr sz="900" spc="-10" dirty="0">
                <a:latin typeface="Consolas"/>
                <a:cs typeface="Consolas"/>
              </a:rPr>
              <a:t>;</a:t>
            </a:r>
            <a:endParaRPr sz="900">
              <a:latin typeface="Consolas"/>
              <a:cs typeface="Consolas"/>
            </a:endParaRPr>
          </a:p>
          <a:p>
            <a:pPr marL="67945" marR="2331720">
              <a:lnSpc>
                <a:spcPts val="1060"/>
              </a:lnSpc>
              <a:spcBef>
                <a:spcPts val="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seslisay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0,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sessizsay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0,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rakamsay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0;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"Metin</a:t>
            </a:r>
            <a:r>
              <a:rPr sz="900" spc="-8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metin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10" dirty="0">
                <a:latin typeface="Consolas"/>
                <a:cs typeface="Consolas"/>
              </a:rPr>
              <a:t>metin.ToLower();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char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karakter</a:t>
            </a:r>
            <a:r>
              <a:rPr sz="900" spc="-6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00" spc="-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metin)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char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sesli</a:t>
            </a:r>
            <a:r>
              <a:rPr sz="900" spc="-6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sesliharfler)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673100" marR="3422015" indent="-189230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(karakter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sesli) seslisay++;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994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00" spc="-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char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sessiz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sessizharfler)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673100" marR="3359150" indent="-189230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(karakter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sessiz) sessizsay++;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0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char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rakam</a:t>
            </a:r>
            <a:r>
              <a:rPr sz="900" spc="-6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rakamlar)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673100" marR="3422015" indent="-189230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(karakter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rakam) rakamsay++;</a:t>
            </a:r>
            <a:endParaRPr sz="900">
              <a:latin typeface="Consolas"/>
              <a:cs typeface="Consolas"/>
            </a:endParaRPr>
          </a:p>
          <a:p>
            <a:pPr marL="296545">
              <a:lnSpc>
                <a:spcPts val="100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6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8033" y="902207"/>
            <a:ext cx="5298440" cy="94361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7945" marR="1513205">
              <a:lnSpc>
                <a:spcPts val="1050"/>
              </a:lnSpc>
              <a:spcBef>
                <a:spcPts val="10"/>
              </a:spcBef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"Metin</a:t>
            </a:r>
            <a:r>
              <a:rPr sz="9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uzunluğu: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metin.Length);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"Sesli</a:t>
            </a:r>
            <a:r>
              <a:rPr sz="9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harflerin</a:t>
            </a:r>
            <a:r>
              <a:rPr sz="9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uzunluğu: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seslisay);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1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"Sessiz</a:t>
            </a:r>
            <a:r>
              <a:rPr sz="9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harflerin</a:t>
            </a:r>
            <a:r>
              <a:rPr sz="9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uzunluğu:</a:t>
            </a:r>
            <a:r>
              <a:rPr sz="90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sessizsay);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"Rakamların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sayısı:</a:t>
            </a:r>
            <a:r>
              <a:rPr sz="9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rakamsay);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"Özel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karakter</a:t>
            </a:r>
            <a:r>
              <a:rPr sz="9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sayısı:</a:t>
            </a:r>
            <a:r>
              <a:rPr sz="9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(metin.Length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(seslisay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sessizsay</a:t>
            </a:r>
            <a:endParaRPr sz="900">
              <a:latin typeface="Consolas"/>
              <a:cs typeface="Consolas"/>
            </a:endParaRPr>
          </a:p>
          <a:p>
            <a:pPr marL="67945" marR="4091940">
              <a:lnSpc>
                <a:spcPts val="1040"/>
              </a:lnSpc>
              <a:spcBef>
                <a:spcPts val="55"/>
              </a:spcBef>
            </a:pPr>
            <a:r>
              <a:rPr sz="900" dirty="0">
                <a:latin typeface="Consolas"/>
                <a:cs typeface="Consolas"/>
              </a:rPr>
              <a:t>+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rakamsay)));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.ReadKey();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6764" y="1947417"/>
            <a:ext cx="5788025" cy="1080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Diziler</a:t>
            </a:r>
            <a:endParaRPr sz="130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10000"/>
              </a:lnSpc>
              <a:spcBef>
                <a:spcPts val="945"/>
              </a:spcBef>
            </a:pPr>
            <a:r>
              <a:rPr sz="1100" dirty="0">
                <a:latin typeface="Calibri"/>
                <a:cs typeface="Calibri"/>
              </a:rPr>
              <a:t>Değişkenlerde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anda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saklanabilir.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Fakat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bazı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durumlarda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birden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fazla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verinin </a:t>
            </a:r>
            <a:r>
              <a:rPr sz="1100" dirty="0">
                <a:latin typeface="Calibri"/>
                <a:cs typeface="Calibri"/>
              </a:rPr>
              <a:t>saklanması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gerekebilir.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durumda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türünde</a:t>
            </a:r>
            <a:r>
              <a:rPr sz="1100" spc="2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verilerin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saklanabileceği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tanımlaması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tanımlaması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yapılırken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mutlaka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elemanlı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olacağı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belirtilir.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Diziler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hem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eleman </a:t>
            </a:r>
            <a:r>
              <a:rPr sz="1100" dirty="0">
                <a:latin typeface="Calibri"/>
                <a:cs typeface="Calibri"/>
              </a:rPr>
              <a:t>sayısı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hem 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ataması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yapılarak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tanımlanabilirler.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7836" y="3141217"/>
          <a:ext cx="5755640" cy="620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670">
                <a:tc>
                  <a:txBody>
                    <a:bodyPr/>
                    <a:lstStyle/>
                    <a:p>
                      <a:pPr marL="377825">
                        <a:lnSpc>
                          <a:spcPts val="1110"/>
                        </a:lnSpc>
                      </a:pPr>
                      <a:r>
                        <a:rPr sz="950" b="1" dirty="0">
                          <a:latin typeface="Calibri"/>
                          <a:cs typeface="Calibri"/>
                        </a:rPr>
                        <a:t>Dizinin</a:t>
                      </a:r>
                      <a:r>
                        <a:rPr sz="9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Eleman</a:t>
                      </a:r>
                      <a:r>
                        <a:rPr sz="9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Sayısı</a:t>
                      </a:r>
                      <a:r>
                        <a:rPr sz="9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Verilerek</a:t>
                      </a:r>
                      <a:r>
                        <a:rPr sz="9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Tanımlama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ts val="1110"/>
                        </a:lnSpc>
                      </a:pPr>
                      <a:r>
                        <a:rPr sz="950" b="1" dirty="0">
                          <a:latin typeface="Calibri"/>
                          <a:cs typeface="Calibri"/>
                        </a:rPr>
                        <a:t>Diziye</a:t>
                      </a:r>
                      <a:r>
                        <a:rPr sz="9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Eleman</a:t>
                      </a:r>
                      <a:r>
                        <a:rPr sz="95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Atamasıyla</a:t>
                      </a:r>
                      <a:r>
                        <a:rPr sz="95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Tanımlama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Dizinin_veri_tipi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+ []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dizi_adı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new dizi_veri_tipi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+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[];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5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sayilar</a:t>
                      </a:r>
                      <a:r>
                        <a:rPr sz="95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new</a:t>
                      </a: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[5];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15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Dizi_tipi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[]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dizi_adi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9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{…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… ,</a:t>
                      </a:r>
                      <a:r>
                        <a:rPr sz="9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…}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25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sayilar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5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{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3,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4,</a:t>
                      </a:r>
                      <a:r>
                        <a:rPr sz="95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6,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7,</a:t>
                      </a:r>
                      <a:r>
                        <a:rPr sz="95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8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5" dirty="0">
                          <a:latin typeface="Consolas"/>
                          <a:cs typeface="Consolas"/>
                        </a:rPr>
                        <a:t>};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82776" y="4031107"/>
            <a:ext cx="56661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elemanlarına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ulaşmak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değerlerini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kullanırız.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İlk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index’i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her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zaman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sıfırdır.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58822" y="4337938"/>
          <a:ext cx="3027680" cy="367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Index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Değer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86764" y="4709286"/>
            <a:ext cx="28575" cy="4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" spc="-25" dirty="0">
                <a:latin typeface="Calibri"/>
                <a:cs typeface="Calibri"/>
              </a:rPr>
              <a:t>,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776" y="4820538"/>
            <a:ext cx="25977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Dizilerin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elemanına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ulaşmak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için;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884" y="5130418"/>
            <a:ext cx="5755640" cy="14795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9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.Write(sayilar[3]);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Sayılar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dizisinin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4.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elemanını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ekrana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yazdırır.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6764" y="5362168"/>
            <a:ext cx="578485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885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Dizilere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atamak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köşeli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parantezler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kaçıncı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elemanına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atılacaksa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numarası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 </a:t>
            </a:r>
            <a:r>
              <a:rPr sz="1100" spc="-10" dirty="0">
                <a:latin typeface="Calibri"/>
                <a:cs typeface="Calibri"/>
              </a:rPr>
              <a:t>yazılır.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884" y="5872606"/>
            <a:ext cx="5755640" cy="14859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80"/>
              </a:lnSpc>
            </a:pPr>
            <a:r>
              <a:rPr sz="950" dirty="0">
                <a:latin typeface="Consolas"/>
                <a:cs typeface="Consolas"/>
              </a:rPr>
              <a:t>sayilar[0]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Sayılar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dizisinin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0.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değerini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atar.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6764" y="6104610"/>
            <a:ext cx="578358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elemanlı,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elemanları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sırasıyla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8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sayılar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dizisinin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elemanlarına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ulaşılmak </a:t>
            </a:r>
            <a:r>
              <a:rPr sz="1100" dirty="0">
                <a:latin typeface="Calibri"/>
                <a:cs typeface="Calibri"/>
              </a:rPr>
              <a:t>istenmektedir.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Gerekli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yapıyı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884" y="6615048"/>
            <a:ext cx="5755640" cy="11372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6,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8</a:t>
            </a:r>
            <a:r>
              <a:rPr sz="950" spc="-25" dirty="0">
                <a:latin typeface="Consolas"/>
                <a:cs typeface="Consolas"/>
              </a:rPr>
              <a:t> };</a:t>
            </a:r>
            <a:endParaRPr sz="950">
              <a:latin typeface="Consolas"/>
              <a:cs typeface="Consolas"/>
            </a:endParaRPr>
          </a:p>
          <a:p>
            <a:pPr marL="67945" marR="2231390">
              <a:lnSpc>
                <a:spcPts val="1120"/>
              </a:lnSpc>
              <a:spcBef>
                <a:spcPts val="4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"Görmek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istediğiniz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eleman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sırası: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deger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(deger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&amp;&amp;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deger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&lt;=</a:t>
            </a:r>
            <a:r>
              <a:rPr sz="950" spc="-25" dirty="0">
                <a:latin typeface="Consolas"/>
                <a:cs typeface="Consolas"/>
              </a:rPr>
              <a:t> 5)</a:t>
            </a:r>
            <a:endParaRPr sz="950">
              <a:latin typeface="Consolas"/>
              <a:cs typeface="Consolas"/>
            </a:endParaRPr>
          </a:p>
          <a:p>
            <a:pPr marL="67945" marR="837565" indent="198120">
              <a:lnSpc>
                <a:spcPts val="1120"/>
              </a:lnSpc>
              <a:spcBef>
                <a:spcPts val="4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"Dizinin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{0}.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elemanı: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{1}"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deger,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sayilar[deger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1]); 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5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"Yanlış</a:t>
            </a:r>
            <a:r>
              <a:rPr sz="9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değer</a:t>
            </a:r>
            <a:r>
              <a:rPr sz="9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girdiniz!"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6764" y="7853552"/>
            <a:ext cx="18040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Dizi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Sınıfına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Ait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Metotlar</a:t>
            </a:r>
            <a:endParaRPr sz="13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0884" y="8212201"/>
            <a:ext cx="5755640" cy="99568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</a:t>
            </a:r>
            <a:r>
              <a:rPr sz="950" spc="-25" dirty="0">
                <a:latin typeface="Consolas"/>
                <a:cs typeface="Consolas"/>
              </a:rPr>
              <a:t> };</a:t>
            </a:r>
            <a:endParaRPr sz="950">
              <a:latin typeface="Consolas"/>
              <a:cs typeface="Consolas"/>
            </a:endParaRPr>
          </a:p>
          <a:p>
            <a:pPr marL="67945" marR="109855">
              <a:lnSpc>
                <a:spcPct val="97500"/>
              </a:lnSpc>
              <a:spcBef>
                <a:spcPts val="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"Eleman</a:t>
            </a:r>
            <a:r>
              <a:rPr sz="95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sayısı:</a:t>
            </a:r>
            <a:r>
              <a:rPr sz="95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sayilar.Length);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uzunluğunu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verir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"Boyutu: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sayilar.Rank);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boyutunu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verir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"Ortalama:</a:t>
            </a:r>
            <a:r>
              <a:rPr sz="95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10" dirty="0">
                <a:latin typeface="Consolas"/>
                <a:cs typeface="Consolas"/>
              </a:rPr>
              <a:t> sayilar.Average());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</a:t>
            </a:r>
            <a:r>
              <a:rPr sz="95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ortalamasını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verir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"En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büyük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eleman: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sayilar.Max());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max.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verir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"En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küçük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eleman: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sayilar.Min());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min.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verir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"Elemanların</a:t>
            </a:r>
            <a:r>
              <a:rPr sz="95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toplamı: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{0}"</a:t>
            </a:r>
            <a:r>
              <a:rPr sz="950" dirty="0">
                <a:latin typeface="Consolas"/>
                <a:cs typeface="Consolas"/>
              </a:rPr>
              <a:t>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sayilar.Sum());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toplamı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verir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8839"/>
            <a:ext cx="5784215" cy="71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Array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Sınıfına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Ait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Metotlar</a:t>
            </a:r>
            <a:endParaRPr sz="1300">
              <a:latin typeface="Calibri Light"/>
              <a:cs typeface="Calibri Light"/>
            </a:endParaRPr>
          </a:p>
          <a:p>
            <a:pPr marL="12700" marR="5080">
              <a:lnSpc>
                <a:spcPct val="110000"/>
              </a:lnSpc>
              <a:spcBef>
                <a:spcPts val="955"/>
              </a:spcBef>
            </a:pPr>
            <a:r>
              <a:rPr sz="1100" b="1" dirty="0">
                <a:latin typeface="Calibri"/>
                <a:cs typeface="Calibri"/>
              </a:rPr>
              <a:t>Sort()</a:t>
            </a:r>
            <a:r>
              <a:rPr sz="1100" b="1" spc="2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metodu:</a:t>
            </a:r>
            <a:r>
              <a:rPr sz="1100" b="1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sınıfına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ait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sayısal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tipine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sahip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küçükten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büyüğe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doğru, </a:t>
            </a:r>
            <a:r>
              <a:rPr sz="1100" dirty="0">
                <a:latin typeface="Calibri"/>
                <a:cs typeface="Calibri"/>
              </a:rPr>
              <a:t>alfasayısal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tipine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sahip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dizilerde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A’dan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Z’ye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yapar.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708657"/>
            <a:ext cx="5755640" cy="71374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15,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</a:t>
            </a:r>
            <a:r>
              <a:rPr sz="950" spc="-25" dirty="0">
                <a:latin typeface="Consolas"/>
                <a:cs typeface="Consolas"/>
              </a:rPr>
              <a:t> };</a:t>
            </a:r>
            <a:endParaRPr sz="950">
              <a:latin typeface="Consolas"/>
              <a:cs typeface="Consolas"/>
            </a:endParaRPr>
          </a:p>
          <a:p>
            <a:pPr marL="67945" marR="3955415">
              <a:lnSpc>
                <a:spcPts val="1120"/>
              </a:lnSpc>
              <a:spcBef>
                <a:spcPts val="4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Array</a:t>
            </a:r>
            <a:r>
              <a:rPr sz="950" spc="-10" dirty="0">
                <a:latin typeface="Consolas"/>
                <a:cs typeface="Consolas"/>
              </a:rPr>
              <a:t>.Sort(sayilar);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sayilar)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05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2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15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2504288"/>
            <a:ext cx="5786755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Reverse()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sayesinde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mevcut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sırası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terslenir.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Burada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dikkat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edilecek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-25" dirty="0">
                <a:latin typeface="Calibri"/>
                <a:cs typeface="Calibri"/>
              </a:rPr>
              <a:t> şey </a:t>
            </a:r>
            <a:r>
              <a:rPr sz="1100" dirty="0">
                <a:latin typeface="Calibri"/>
                <a:cs typeface="Calibri"/>
              </a:rPr>
              <a:t>kesinlikle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yapılmaz.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3016249"/>
            <a:ext cx="5755640" cy="71247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7945" marR="3294379">
              <a:lnSpc>
                <a:spcPts val="1100"/>
              </a:lnSpc>
              <a:spcBef>
                <a:spcPts val="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15,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</a:t>
            </a:r>
            <a:r>
              <a:rPr sz="950" spc="-25" dirty="0">
                <a:latin typeface="Consolas"/>
                <a:cs typeface="Consolas"/>
              </a:rPr>
              <a:t> };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Array</a:t>
            </a:r>
            <a:r>
              <a:rPr sz="950" spc="-10" dirty="0">
                <a:latin typeface="Consolas"/>
                <a:cs typeface="Consolas"/>
              </a:rPr>
              <a:t>.Reverse(sayilar);</a:t>
            </a:r>
            <a:endParaRPr sz="950">
              <a:latin typeface="Consolas"/>
              <a:cs typeface="Consolas"/>
            </a:endParaRPr>
          </a:p>
          <a:p>
            <a:pPr marL="266700" marR="2960370" indent="-198120">
              <a:lnSpc>
                <a:spcPts val="1120"/>
              </a:lnSpc>
              <a:spcBef>
                <a:spcPts val="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sayilar)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2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15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8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3812260"/>
            <a:ext cx="578866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7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Clear()</a:t>
            </a:r>
            <a:r>
              <a:rPr sz="1100" b="1" spc="7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metodu: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belirli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değerinden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başlayarak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istenilen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silineceğini </a:t>
            </a:r>
            <a:r>
              <a:rPr sz="1100" dirty="0">
                <a:latin typeface="Calibri"/>
                <a:cs typeface="Calibri"/>
              </a:rPr>
              <a:t>(default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değerini)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gösterir.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Clear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metodunda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vardır.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Birinci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adı, </a:t>
            </a:r>
            <a:r>
              <a:rPr sz="1100" dirty="0">
                <a:latin typeface="Calibri"/>
                <a:cs typeface="Calibri"/>
              </a:rPr>
              <a:t>ikinci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işleminin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başlanacağı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numarası,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üçüncü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silinecek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eleman sayısıdır.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884" y="4691506"/>
            <a:ext cx="5755640" cy="71374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15,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</a:t>
            </a:r>
            <a:r>
              <a:rPr sz="950" spc="-25" dirty="0">
                <a:latin typeface="Consolas"/>
                <a:cs typeface="Consolas"/>
              </a:rPr>
              <a:t> };</a:t>
            </a:r>
            <a:endParaRPr sz="950">
              <a:latin typeface="Consolas"/>
              <a:cs typeface="Consolas"/>
            </a:endParaRPr>
          </a:p>
          <a:p>
            <a:pPr marL="67945" marR="3890010">
              <a:lnSpc>
                <a:spcPts val="1100"/>
              </a:lnSpc>
              <a:spcBef>
                <a:spcPts val="5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Array</a:t>
            </a:r>
            <a:r>
              <a:rPr sz="950" spc="-10" dirty="0">
                <a:latin typeface="Consolas"/>
                <a:cs typeface="Consolas"/>
              </a:rPr>
              <a:t>.Clear(sayilar,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3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2);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sayilar)</a:t>
            </a:r>
            <a:endParaRPr sz="950">
              <a:latin typeface="Consolas"/>
              <a:cs typeface="Consolas"/>
            </a:endParaRPr>
          </a:p>
          <a:p>
            <a:pPr marL="67945" marR="3027045" indent="198120">
              <a:lnSpc>
                <a:spcPts val="1120"/>
              </a:lnSpc>
              <a:spcBef>
                <a:spcPts val="5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3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6764" y="5487136"/>
            <a:ext cx="5788660" cy="579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IndexOf()</a:t>
            </a:r>
            <a:r>
              <a:rPr sz="1100" b="1" spc="27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elemanları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arama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yapmak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Aranan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bulunursa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bulunan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index</a:t>
            </a:r>
            <a:r>
              <a:rPr sz="1100" u="sng" spc="1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değeri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döndürülür,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bulamazsa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-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değerini döndürür.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884" y="6182232"/>
            <a:ext cx="5755640" cy="43180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15,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</a:t>
            </a:r>
            <a:r>
              <a:rPr sz="950" spc="-25" dirty="0">
                <a:latin typeface="Consolas"/>
                <a:cs typeface="Consolas"/>
              </a:rPr>
              <a:t> };</a:t>
            </a:r>
            <a:endParaRPr sz="950">
              <a:latin typeface="Consolas"/>
              <a:cs typeface="Consolas"/>
            </a:endParaRPr>
          </a:p>
          <a:p>
            <a:pPr marL="67945" marR="2628900">
              <a:lnSpc>
                <a:spcPts val="1120"/>
              </a:lnSpc>
              <a:spcBef>
                <a:spcPts val="4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Array</a:t>
            </a:r>
            <a:r>
              <a:rPr sz="950" spc="-10" dirty="0">
                <a:latin typeface="Consolas"/>
                <a:cs typeface="Consolas"/>
              </a:rPr>
              <a:t>.IndexOf(sayilar,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3));</a:t>
            </a:r>
            <a:r>
              <a:rPr sz="950" spc="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4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6764" y="6745604"/>
            <a:ext cx="5789295" cy="146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Listeler</a:t>
            </a:r>
            <a:endParaRPr sz="1300" dirty="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700"/>
              </a:lnSpc>
              <a:spcBef>
                <a:spcPts val="944"/>
              </a:spcBef>
            </a:pPr>
            <a:r>
              <a:rPr sz="1100" dirty="0">
                <a:latin typeface="Calibri"/>
                <a:cs typeface="Calibri"/>
              </a:rPr>
              <a:t>Kullanımı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diziler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neredeyse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aynıdır.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temel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dizilerin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elemanlı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olacağını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belirtmek </a:t>
            </a:r>
            <a:r>
              <a:rPr sz="1100" dirty="0">
                <a:latin typeface="Calibri"/>
                <a:cs typeface="Calibri"/>
              </a:rPr>
              <a:t>zorunlu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iken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listelerde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böyle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zorunluluk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yoktur.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Listelerde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görüldükçe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eklenebilir. </a:t>
            </a:r>
            <a:r>
              <a:rPr sz="1100" dirty="0">
                <a:latin typeface="Calibri"/>
                <a:cs typeface="Calibri"/>
              </a:rPr>
              <a:t>Ayrıca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diziler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elemanları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saklarlar.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Listelerde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tanımlama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bilgisi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“object”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olursa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veri </a:t>
            </a:r>
            <a:r>
              <a:rPr sz="1100" dirty="0">
                <a:latin typeface="Calibri"/>
                <a:cs typeface="Calibri"/>
              </a:rPr>
              <a:t>türlerinden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listeye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eklenebilir.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tanımlanır: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27836" y="8328405"/>
          <a:ext cx="5755640" cy="688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List </a:t>
                      </a:r>
                      <a:r>
                        <a:rPr sz="11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11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1100" dirty="0">
                          <a:latin typeface="Consolas"/>
                          <a:cs typeface="Consolas"/>
                        </a:rPr>
                        <a:t>&gt;</a:t>
                      </a:r>
                      <a:r>
                        <a:rPr sz="11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latin typeface="Consolas"/>
                          <a:cs typeface="Consolas"/>
                        </a:rPr>
                        <a:t>listeAdi</a:t>
                      </a:r>
                      <a:r>
                        <a:rPr sz="110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1100" spc="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new</a:t>
                      </a:r>
                      <a:r>
                        <a:rPr sz="1100" spc="1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List</a:t>
                      </a:r>
                      <a:r>
                        <a:rPr sz="1100" spc="-1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11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1100" spc="-10" dirty="0">
                          <a:latin typeface="Consolas"/>
                          <a:cs typeface="Consolas"/>
                        </a:rPr>
                        <a:t>&gt;();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95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List</a:t>
                      </a:r>
                      <a:r>
                        <a:rPr sz="950" spc="-15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Liste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oluşturma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komutu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1003300">
                        <a:lnSpc>
                          <a:spcPct val="101800"/>
                        </a:lnSpc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&gt;</a:t>
                      </a:r>
                      <a:r>
                        <a:rPr sz="95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Listenin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veri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tipi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listeAdi</a:t>
                      </a:r>
                      <a:r>
                        <a:rPr sz="95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Listenin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adı 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new</a:t>
                      </a:r>
                      <a:r>
                        <a:rPr sz="950" spc="-3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Oluşturma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komutu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86764" y="9102749"/>
            <a:ext cx="5787390" cy="579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5885" algn="just">
              <a:lnSpc>
                <a:spcPct val="1100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Bir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listeye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eklemek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“Add”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Listeye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eklenmiş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veriler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[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]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parantezleri </a:t>
            </a:r>
            <a:r>
              <a:rPr sz="1100" dirty="0">
                <a:latin typeface="Calibri"/>
                <a:cs typeface="Calibri"/>
              </a:rPr>
              <a:t>içerisine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yazılacak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numarasına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çekilebilir.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Dizilerde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olduğu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ilk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verinin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her </a:t>
            </a:r>
            <a:r>
              <a:rPr sz="1100" dirty="0">
                <a:latin typeface="Calibri"/>
                <a:cs typeface="Calibri"/>
              </a:rPr>
              <a:t>zaman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sıfırdır.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884" y="902207"/>
            <a:ext cx="5755640" cy="71374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spc="-3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liste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&gt;();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adında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bir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oluşturulur.</a:t>
            </a:r>
            <a:endParaRPr sz="950">
              <a:latin typeface="Consolas"/>
              <a:cs typeface="Consolas"/>
            </a:endParaRPr>
          </a:p>
          <a:p>
            <a:pPr marL="67945" marR="839469">
              <a:lnSpc>
                <a:spcPct val="97500"/>
              </a:lnSpc>
              <a:spcBef>
                <a:spcPts val="10"/>
              </a:spcBef>
            </a:pPr>
            <a:r>
              <a:rPr sz="950" dirty="0">
                <a:latin typeface="Consolas"/>
                <a:cs typeface="Consolas"/>
              </a:rPr>
              <a:t>liste.Add(5);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liste.Add(10);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liste.Add(15);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Listenin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2.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15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.WriteLine(liste[1]);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Ekrana</a:t>
            </a:r>
            <a:r>
              <a:rPr sz="95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yazdırılır.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2776" y="1715769"/>
            <a:ext cx="50736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türlerini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arada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listeye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eklemek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“object”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kullanılır;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884" y="2025649"/>
            <a:ext cx="5755640" cy="71374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spc="-5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liste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sz="950" dirty="0">
                <a:latin typeface="Consolas"/>
                <a:cs typeface="Consolas"/>
              </a:rPr>
              <a:t>&gt;();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Her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türü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içerebilen</a:t>
            </a:r>
            <a:r>
              <a:rPr sz="90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bir</a:t>
            </a:r>
            <a:r>
              <a:rPr sz="90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liste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oluşturulur.</a:t>
            </a:r>
            <a:endParaRPr sz="900">
              <a:latin typeface="Consolas"/>
              <a:cs typeface="Consolas"/>
            </a:endParaRPr>
          </a:p>
          <a:p>
            <a:pPr marL="67945" marR="510540">
              <a:lnSpc>
                <a:spcPct val="97500"/>
              </a:lnSpc>
              <a:spcBef>
                <a:spcPts val="15"/>
              </a:spcBef>
            </a:pPr>
            <a:r>
              <a:rPr sz="950" dirty="0">
                <a:latin typeface="Consolas"/>
                <a:cs typeface="Consolas"/>
              </a:rPr>
              <a:t>liste.Add(5);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"C#"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1.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“C#”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'A'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2.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‘A’</a:t>
            </a:r>
            <a:r>
              <a:rPr sz="95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char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3.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‘true’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bool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değişkeni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64" y="2822802"/>
            <a:ext cx="578802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885" algn="just">
              <a:lnSpc>
                <a:spcPct val="1098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Listelerde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Remove()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RemoveAt()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Remove()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metodunda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silinmesi </a:t>
            </a:r>
            <a:r>
              <a:rPr sz="1100" dirty="0">
                <a:latin typeface="Calibri"/>
                <a:cs typeface="Calibri"/>
              </a:rPr>
              <a:t>istenen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aynen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yazılır.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gerçekleşirse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“true”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döndürür,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işlemi </a:t>
            </a:r>
            <a:r>
              <a:rPr sz="1100" dirty="0">
                <a:latin typeface="Calibri"/>
                <a:cs typeface="Calibri"/>
              </a:rPr>
              <a:t>gerçekleşmezse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“false”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değerini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döndürür.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RemoveAt()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metodunda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numarasını </a:t>
            </a:r>
            <a:r>
              <a:rPr sz="1100" dirty="0">
                <a:latin typeface="Calibri"/>
                <a:cs typeface="Calibri"/>
              </a:rPr>
              <a:t>kullanarak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metotta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döndürülmez.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884" y="3700906"/>
            <a:ext cx="5755640" cy="11372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0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spc="-5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liste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r>
              <a:rPr sz="950" dirty="0">
                <a:latin typeface="Consolas"/>
                <a:cs typeface="Consolas"/>
              </a:rPr>
              <a:t>&gt;();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Her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türü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içerebilen</a:t>
            </a:r>
            <a:r>
              <a:rPr sz="90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bir</a:t>
            </a:r>
            <a:r>
              <a:rPr sz="90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liste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oluşturulur.</a:t>
            </a:r>
            <a:endParaRPr sz="900">
              <a:latin typeface="Consolas"/>
              <a:cs typeface="Consolas"/>
            </a:endParaRPr>
          </a:p>
          <a:p>
            <a:pPr marL="67945" marR="510540">
              <a:lnSpc>
                <a:spcPct val="97500"/>
              </a:lnSpc>
              <a:spcBef>
                <a:spcPts val="10"/>
              </a:spcBef>
            </a:pPr>
            <a:r>
              <a:rPr sz="950" dirty="0">
                <a:latin typeface="Consolas"/>
                <a:cs typeface="Consolas"/>
              </a:rPr>
              <a:t>liste.Add(5);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"C#"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1.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“C#”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r>
              <a:rPr sz="95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'A'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2.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‘A’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char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3.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“true”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bool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değişkeni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dirty="0">
                <a:latin typeface="Consolas"/>
                <a:cs typeface="Consolas"/>
              </a:rPr>
              <a:t>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Dizinin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4.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“true”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bool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değişkeni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spc="-10" dirty="0">
                <a:latin typeface="Consolas"/>
                <a:cs typeface="Consolas"/>
              </a:rPr>
              <a:t>liste.Remove(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spc="-10" dirty="0">
                <a:latin typeface="Consolas"/>
                <a:cs typeface="Consolas"/>
              </a:rPr>
              <a:t>);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İlk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“true”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bool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değerini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bulur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ve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siler. </a:t>
            </a:r>
            <a:r>
              <a:rPr sz="950" dirty="0">
                <a:latin typeface="Consolas"/>
                <a:cs typeface="Consolas"/>
              </a:rPr>
              <a:t>liste.RemoveAt(0);</a:t>
            </a:r>
            <a:r>
              <a:rPr sz="950" spc="-6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Sıfırıncı</a:t>
            </a:r>
            <a:r>
              <a:rPr sz="95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numarasını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listeden</a:t>
            </a:r>
            <a:r>
              <a:rPr sz="95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siler.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6764" y="4921732"/>
            <a:ext cx="578548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885" algn="just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Belirli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değerinden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başlayarak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istenen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silmek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RemoveRange()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metodu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komutun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tane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parametresi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vardır.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İlk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silinmeye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başlanacak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index </a:t>
            </a:r>
            <a:r>
              <a:rPr sz="1100" dirty="0">
                <a:latin typeface="Calibri"/>
                <a:cs typeface="Calibri"/>
              </a:rPr>
              <a:t>numarasını,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ikinci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silinecek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sayısını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gösterir.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884" y="5616574"/>
            <a:ext cx="5755640" cy="14795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80"/>
              </a:lnSpc>
            </a:pPr>
            <a:r>
              <a:rPr sz="950" spc="-10" dirty="0">
                <a:latin typeface="Consolas"/>
                <a:cs typeface="Consolas"/>
              </a:rPr>
              <a:t>liste.RemoveRange(0,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2);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0.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index’ten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başlar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ve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sonraki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2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index’i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siler.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1364" y="5850102"/>
            <a:ext cx="5836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95885">
              <a:lnSpc>
                <a:spcPct val="1091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Dizilerde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olduğu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listelerde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küçükten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büyüğe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Sort()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metodu,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listeyi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tersine </a:t>
            </a:r>
            <a:r>
              <a:rPr sz="1100" dirty="0">
                <a:latin typeface="Calibri"/>
                <a:cs typeface="Calibri"/>
              </a:rPr>
              <a:t>çevirmek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10" dirty="0">
                <a:latin typeface="Calibri"/>
                <a:cs typeface="Calibri"/>
              </a:rPr>
              <a:t> Reverse()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kullanılır.</a:t>
            </a:r>
            <a:r>
              <a:rPr sz="1050" spc="-15" baseline="39682" dirty="0">
                <a:latin typeface="Calibri"/>
                <a:cs typeface="Calibri"/>
              </a:rPr>
              <a:t>1</a:t>
            </a:r>
            <a:endParaRPr sz="1050" baseline="39682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0884" y="6359016"/>
            <a:ext cx="5755640" cy="99568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spc="-3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liste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List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dirty="0">
                <a:latin typeface="Consolas"/>
                <a:cs typeface="Consolas"/>
              </a:rPr>
              <a:t>&gt;();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adında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bir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oluşturulur.</a:t>
            </a:r>
            <a:endParaRPr sz="950">
              <a:latin typeface="Consolas"/>
              <a:cs typeface="Consolas"/>
            </a:endParaRPr>
          </a:p>
          <a:p>
            <a:pPr marL="67945" marR="908050">
              <a:lnSpc>
                <a:spcPct val="97500"/>
              </a:lnSpc>
              <a:spcBef>
                <a:spcPts val="15"/>
              </a:spcBef>
            </a:pPr>
            <a:r>
              <a:rPr sz="950" dirty="0">
                <a:latin typeface="Consolas"/>
                <a:cs typeface="Consolas"/>
              </a:rPr>
              <a:t>liste.Add(7);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0.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7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liste.Add(3);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liste.Add(15);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Listenin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2.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15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liste.Add(4);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Listenin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3.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numarasına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4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sayısal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değeri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eklenir. </a:t>
            </a:r>
            <a:r>
              <a:rPr sz="950" dirty="0">
                <a:latin typeface="Consolas"/>
                <a:cs typeface="Consolas"/>
              </a:rPr>
              <a:t>liste.Sort();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Listede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küçükten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büyüğe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doğru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sıralama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yapılır. </a:t>
            </a:r>
            <a:r>
              <a:rPr sz="950" dirty="0">
                <a:latin typeface="Consolas"/>
                <a:cs typeface="Consolas"/>
              </a:rPr>
              <a:t>liste.Reverse();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Listedeki</a:t>
            </a:r>
            <a:r>
              <a:rPr sz="95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index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numaralarını</a:t>
            </a:r>
            <a:r>
              <a:rPr sz="95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sondan</a:t>
            </a:r>
            <a:r>
              <a:rPr sz="95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başa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sıralar.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464" y="9564319"/>
            <a:ext cx="1829435" cy="9525"/>
          </a:xfrm>
          <a:custGeom>
            <a:avLst/>
            <a:gdLst/>
            <a:ahLst/>
            <a:cxnLst/>
            <a:rect l="l" t="t" r="r" b="b"/>
            <a:pathLst>
              <a:path w="1829435" h="9525">
                <a:moveTo>
                  <a:pt x="1829053" y="0"/>
                </a:moveTo>
                <a:lnTo>
                  <a:pt x="0" y="0"/>
                </a:lnTo>
                <a:lnTo>
                  <a:pt x="0" y="9143"/>
                </a:lnTo>
                <a:lnTo>
                  <a:pt x="1829053" y="9143"/>
                </a:lnTo>
                <a:lnTo>
                  <a:pt x="1829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8664" y="7455789"/>
            <a:ext cx="5835650" cy="234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 Dilinde 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Fonksiyonlar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i="1" spc="-10" dirty="0">
                <a:solidFill>
                  <a:srgbClr val="2E5395"/>
                </a:solidFill>
                <a:latin typeface="Calibri Light"/>
                <a:cs typeface="Calibri Light"/>
              </a:rPr>
              <a:t>(Metotlar)</a:t>
            </a:r>
            <a:endParaRPr sz="1300">
              <a:latin typeface="Calibri Light"/>
              <a:cs typeface="Calibri Light"/>
            </a:endParaRPr>
          </a:p>
          <a:p>
            <a:pPr marL="50800" marR="17780" indent="95885" algn="just">
              <a:lnSpc>
                <a:spcPct val="1101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Belirli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gerçekleştirmek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yazılan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programlara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verilir.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programda </a:t>
            </a:r>
            <a:r>
              <a:rPr sz="1100" dirty="0">
                <a:latin typeface="Calibri"/>
                <a:cs typeface="Calibri"/>
              </a:rPr>
              <a:t>sadece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tane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Main()</a:t>
            </a:r>
            <a:r>
              <a:rPr sz="1100" spc="3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3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vardır.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Main()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3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dışındaki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hiçbir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3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başına </a:t>
            </a:r>
            <a:r>
              <a:rPr sz="1100" dirty="0">
                <a:latin typeface="Calibri"/>
                <a:cs typeface="Calibri"/>
              </a:rPr>
              <a:t>çalıştırılamaz.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mutlaka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(class)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tanımlanmalıdır.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kullanılarak;</a:t>
            </a:r>
            <a:endParaRPr sz="1100">
              <a:latin typeface="Calibri"/>
              <a:cs typeface="Calibri"/>
            </a:endParaRPr>
          </a:p>
          <a:p>
            <a:pPr marL="507365" indent="-227965">
              <a:lnSpc>
                <a:spcPct val="100000"/>
              </a:lnSpc>
              <a:spcBef>
                <a:spcPts val="925"/>
              </a:spcBef>
              <a:buFont typeface="Calibri"/>
              <a:buAutoNum type="arabicParenR"/>
              <a:tabLst>
                <a:tab pos="507365" algn="l"/>
              </a:tabLst>
            </a:pPr>
            <a:r>
              <a:rPr sz="1100" dirty="0">
                <a:latin typeface="Calibri"/>
                <a:cs typeface="Calibri"/>
              </a:rPr>
              <a:t>Yazılan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okunabilirliği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arttırılır.</a:t>
            </a:r>
            <a:endParaRPr sz="1100">
              <a:latin typeface="Calibri"/>
              <a:cs typeface="Calibri"/>
            </a:endParaRPr>
          </a:p>
          <a:p>
            <a:pPr marL="507365" indent="-227965">
              <a:lnSpc>
                <a:spcPct val="100000"/>
              </a:lnSpc>
              <a:spcBef>
                <a:spcPts val="135"/>
              </a:spcBef>
              <a:buFont typeface="Calibri"/>
              <a:buAutoNum type="arabicParenR"/>
              <a:tabLst>
                <a:tab pos="507365" algn="l"/>
              </a:tabLst>
            </a:pPr>
            <a:r>
              <a:rPr sz="1100" dirty="0">
                <a:latin typeface="Calibri"/>
                <a:cs typeface="Calibri"/>
              </a:rPr>
              <a:t>Tekrarlar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önlenerek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kaynak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kodun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büyümesi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engellenir.</a:t>
            </a:r>
            <a:endParaRPr sz="1100">
              <a:latin typeface="Calibri"/>
              <a:cs typeface="Calibri"/>
            </a:endParaRPr>
          </a:p>
          <a:p>
            <a:pPr marL="507365" indent="-227965">
              <a:lnSpc>
                <a:spcPct val="100000"/>
              </a:lnSpc>
              <a:spcBef>
                <a:spcPts val="120"/>
              </a:spcBef>
              <a:buFont typeface="Calibri"/>
              <a:buAutoNum type="arabicParenR"/>
              <a:tabLst>
                <a:tab pos="507365" algn="l"/>
              </a:tabLst>
            </a:pPr>
            <a:r>
              <a:rPr sz="1100" dirty="0">
                <a:latin typeface="Calibri"/>
                <a:cs typeface="Calibri"/>
              </a:rPr>
              <a:t>Oluşan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hataların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tespiti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giderilmesi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kolaylaşır.</a:t>
            </a:r>
            <a:endParaRPr sz="1100">
              <a:latin typeface="Calibri"/>
              <a:cs typeface="Calibri"/>
            </a:endParaRPr>
          </a:p>
          <a:p>
            <a:pPr marR="720090" algn="r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Metotların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000" dirty="0">
                <a:latin typeface="Consolas"/>
                <a:cs typeface="Consolas"/>
              </a:rPr>
              <a:t>Main()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çağırılması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sayfada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gösterilmiştir: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Calibri"/>
              <a:cs typeface="Calibri"/>
            </a:endParaRPr>
          </a:p>
          <a:p>
            <a:pPr marR="748030" algn="r">
              <a:lnSpc>
                <a:spcPct val="100000"/>
              </a:lnSpc>
            </a:pPr>
            <a:r>
              <a:rPr sz="975" baseline="42735" dirty="0">
                <a:latin typeface="Calibri"/>
                <a:cs typeface="Calibri"/>
              </a:rPr>
              <a:t>1</a:t>
            </a:r>
            <a:r>
              <a:rPr sz="975" spc="75" baseline="427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Yaptığım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denemeler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sonucunda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farklı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veri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tiplerinde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Sort()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metodunun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işe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yaramadığını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gördüm.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884" y="902207"/>
            <a:ext cx="5755640" cy="17468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Main(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10" dirty="0">
                <a:latin typeface="Consolas"/>
                <a:cs typeface="Consolas"/>
              </a:rPr>
              <a:t>[]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args)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Metot1()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444500">
              <a:lnSpc>
                <a:spcPts val="1055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7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yapılacak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işlemler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Metot2()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444500">
              <a:lnSpc>
                <a:spcPts val="1055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7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yapılacak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işlemler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5"/>
              </a:lnSpc>
            </a:pPr>
            <a:r>
              <a:rPr sz="900" dirty="0">
                <a:latin typeface="Consolas"/>
                <a:cs typeface="Consolas"/>
              </a:rPr>
              <a:t>Metot1();</a:t>
            </a:r>
            <a:r>
              <a:rPr sz="900" spc="-8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8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Metod1'in</a:t>
            </a:r>
            <a:r>
              <a:rPr sz="900" spc="-8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çağrılması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0"/>
              </a:lnSpc>
            </a:pPr>
            <a:r>
              <a:rPr sz="900" dirty="0">
                <a:latin typeface="Consolas"/>
                <a:cs typeface="Consolas"/>
              </a:rPr>
              <a:t>Metot2();</a:t>
            </a:r>
            <a:r>
              <a:rPr sz="900" spc="-8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8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Metod2'in</a:t>
            </a:r>
            <a:r>
              <a:rPr sz="900" spc="-8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çağrılması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6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6764" y="2749042"/>
            <a:ext cx="24123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yapısı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0" dirty="0">
                <a:latin typeface="Calibri"/>
                <a:cs typeface="Calibri"/>
              </a:rPr>
              <a:t> gibidir;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7836" y="3055873"/>
          <a:ext cx="5755640" cy="688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47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public</a:t>
                      </a:r>
                      <a:r>
                        <a:rPr sz="1100" spc="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1100" spc="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dirty="0">
                          <a:latin typeface="Consolas"/>
                          <a:cs typeface="Consolas"/>
                        </a:rPr>
                        <a:t>yaz (</a:t>
                      </a:r>
                      <a:r>
                        <a:rPr sz="11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1100" spc="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100" spc="-10" dirty="0">
                          <a:latin typeface="Consolas"/>
                          <a:cs typeface="Consolas"/>
                        </a:rPr>
                        <a:t>metin)</a:t>
                      </a:r>
                      <a:endParaRPr sz="1100">
                        <a:latin typeface="Consolas"/>
                        <a:cs typeface="Consolas"/>
                      </a:endParaRPr>
                    </a:p>
                  </a:txBody>
                  <a:tcPr marL="0" marR="0" marT="908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public</a:t>
                      </a: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95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Erişim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belirteci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95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95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Geri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dönüş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tipi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yaz</a:t>
                      </a:r>
                      <a:r>
                        <a:rPr sz="95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95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Metot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adı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50" spc="-3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metin)</a:t>
                      </a:r>
                      <a:r>
                        <a:rPr sz="95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95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Parametre(ler)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86764" y="3849750"/>
            <a:ext cx="5788660" cy="485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Erişim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Belirteçleri</a:t>
            </a:r>
            <a:endParaRPr sz="1300">
              <a:latin typeface="Calibri Light"/>
              <a:cs typeface="Calibri Light"/>
            </a:endParaRPr>
          </a:p>
          <a:p>
            <a:pPr marL="12700" marR="8890" indent="95885">
              <a:lnSpc>
                <a:spcPct val="110000"/>
              </a:lnSpc>
              <a:spcBef>
                <a:spcPts val="944"/>
              </a:spcBef>
            </a:pPr>
            <a:r>
              <a:rPr sz="1100" dirty="0">
                <a:latin typeface="Calibri"/>
                <a:cs typeface="Calibri"/>
              </a:rPr>
              <a:t>Metotlar</a:t>
            </a:r>
            <a:r>
              <a:rPr sz="1100" spc="204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public,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internal,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protected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private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tanımlanabilirler.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Erişim</a:t>
            </a:r>
            <a:r>
              <a:rPr sz="1100" spc="215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belirteci </a:t>
            </a:r>
            <a:r>
              <a:rPr sz="1100" dirty="0">
                <a:latin typeface="Calibri"/>
                <a:cs typeface="Calibri"/>
              </a:rPr>
              <a:t>kullanılmazsa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varsayılan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private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kabul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edilir.</a:t>
            </a:r>
            <a:endParaRPr sz="1100">
              <a:latin typeface="Calibri"/>
              <a:cs typeface="Calibri"/>
            </a:endParaRPr>
          </a:p>
          <a:p>
            <a:pPr marL="469265" marR="6350" indent="-228600">
              <a:lnSpc>
                <a:spcPct val="109100"/>
              </a:lnSpc>
              <a:spcBef>
                <a:spcPts val="875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Public olarak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tanımlanan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tanımlı olduğu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(class)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dışındaki sınıflardan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çağrılabilir. </a:t>
            </a:r>
            <a:r>
              <a:rPr sz="1100" dirty="0">
                <a:latin typeface="Calibri"/>
                <a:cs typeface="Calibri"/>
              </a:rPr>
              <a:t>Ayrıca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projelerdeki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sınıflar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dahil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bütün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sınıflardan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erişilebilir.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Internal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Assembly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(Makine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dili)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projelere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sınıflardan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erişilebilir.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Protected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sadece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sınıftan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erişilebilir.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Private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sadece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olduğu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erişilebilir.</a:t>
            </a:r>
            <a:endParaRPr sz="1100">
              <a:latin typeface="Calibri"/>
              <a:cs typeface="Calibri"/>
            </a:endParaRPr>
          </a:p>
          <a:p>
            <a:pPr marL="12700" marR="5080" indent="95885">
              <a:lnSpc>
                <a:spcPct val="109200"/>
              </a:lnSpc>
              <a:spcBef>
                <a:spcPts val="815"/>
              </a:spcBef>
            </a:pPr>
            <a:r>
              <a:rPr sz="1100" dirty="0">
                <a:latin typeface="Calibri"/>
                <a:cs typeface="Calibri"/>
              </a:rPr>
              <a:t>Bu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metotların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kullanılması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tanımlı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olduğu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sınıflardan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nesne</a:t>
            </a:r>
            <a:r>
              <a:rPr sz="1100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türetilmesi</a:t>
            </a:r>
            <a:r>
              <a:rPr sz="1100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gerekir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Nesne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türetme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yapılır;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SinifAdi</a:t>
            </a:r>
            <a:r>
              <a:rPr sz="950" spc="-10" dirty="0">
                <a:latin typeface="Consolas"/>
                <a:cs typeface="Consolas"/>
              </a:rPr>
              <a:t>.MetotAdi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latin typeface="Calibri"/>
                <a:cs typeface="Calibri"/>
              </a:rPr>
              <a:t>Fakat erişim </a:t>
            </a:r>
            <a:r>
              <a:rPr sz="1100" spc="-10" dirty="0">
                <a:latin typeface="Calibri"/>
                <a:cs typeface="Calibri"/>
              </a:rPr>
              <a:t>ifadesinden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“static” sözcüğü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kullanılırsa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doğrudan</a:t>
            </a:r>
            <a:r>
              <a:rPr sz="1100" spc="-10" dirty="0">
                <a:latin typeface="Calibri"/>
                <a:cs typeface="Calibri"/>
              </a:rPr>
              <a:t> kullanılabilir.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Metotların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Geri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Dönüş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Tipleri</a:t>
            </a:r>
            <a:endParaRPr sz="1300">
              <a:latin typeface="Calibri Light"/>
              <a:cs typeface="Calibri Light"/>
            </a:endParaRPr>
          </a:p>
          <a:p>
            <a:pPr marL="12700" marR="8255" indent="95885">
              <a:lnSpc>
                <a:spcPct val="110000"/>
              </a:lnSpc>
              <a:spcBef>
                <a:spcPts val="960"/>
              </a:spcBef>
            </a:pPr>
            <a:r>
              <a:rPr sz="1100" dirty="0">
                <a:latin typeface="Calibri"/>
                <a:cs typeface="Calibri"/>
              </a:rPr>
              <a:t>Metotlar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çağrıldıkları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diğer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metotlara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döndürebilirler.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Döndürdükleri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tipi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kısma </a:t>
            </a:r>
            <a:r>
              <a:rPr sz="1100" dirty="0">
                <a:latin typeface="Calibri"/>
                <a:cs typeface="Calibri"/>
              </a:rPr>
              <a:t>yazılır.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Eğer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döndürmeyecekse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“void”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ifadesi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yazılır.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Parametreler</a:t>
            </a:r>
            <a:endParaRPr sz="13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  <a:spcBef>
                <a:spcPts val="944"/>
              </a:spcBef>
            </a:pPr>
            <a:r>
              <a:rPr sz="1100" dirty="0">
                <a:latin typeface="Calibri"/>
                <a:cs typeface="Calibri"/>
              </a:rPr>
              <a:t>Bazı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durumlarda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metotların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çalışabilmesi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birtakım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değerlere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ihtiyaç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duyarlar.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değerlere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verilmektedir.</a:t>
            </a:r>
            <a:endParaRPr sz="1100">
              <a:latin typeface="Calibri"/>
              <a:cs typeface="Calibri"/>
            </a:endParaRPr>
          </a:p>
          <a:p>
            <a:pPr marL="12700" marR="8255">
              <a:lnSpc>
                <a:spcPct val="109100"/>
              </a:lnSpc>
              <a:spcBef>
                <a:spcPts val="819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114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Çağrıldığında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“Merhaba!”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yazan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döndürmeyecek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metot </a:t>
            </a:r>
            <a:r>
              <a:rPr sz="1100" dirty="0">
                <a:latin typeface="Calibri"/>
                <a:cs typeface="Calibri"/>
              </a:rPr>
              <a:t>tanımlayarak</a:t>
            </a:r>
            <a:r>
              <a:rPr sz="1100" spc="-10" dirty="0">
                <a:latin typeface="Calibri"/>
                <a:cs typeface="Calibri"/>
              </a:rPr>
              <a:t> 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884" y="8826754"/>
            <a:ext cx="5755640" cy="95885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905"/>
              </a:lnSpc>
            </a:pPr>
            <a:r>
              <a:rPr sz="8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800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800" spc="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Main(</a:t>
            </a:r>
            <a:r>
              <a:rPr sz="8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800" dirty="0">
                <a:latin typeface="Consolas"/>
                <a:cs typeface="Consolas"/>
              </a:rPr>
              <a:t>[]</a:t>
            </a:r>
            <a:r>
              <a:rPr sz="800" spc="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args)</a:t>
            </a:r>
            <a:endParaRPr sz="800">
              <a:latin typeface="Consolas"/>
              <a:cs typeface="Consolas"/>
            </a:endParaRPr>
          </a:p>
          <a:p>
            <a:pPr marL="67945">
              <a:lnSpc>
                <a:spcPts val="935"/>
              </a:lnSpc>
            </a:pPr>
            <a:r>
              <a:rPr sz="800" spc="-50" dirty="0"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  <a:p>
            <a:pPr marL="237490">
              <a:lnSpc>
                <a:spcPts val="935"/>
              </a:lnSpc>
            </a:pPr>
            <a:r>
              <a:rPr sz="800" spc="-10" dirty="0">
                <a:latin typeface="Consolas"/>
                <a:cs typeface="Consolas"/>
              </a:rPr>
              <a:t>yaz();</a:t>
            </a:r>
            <a:endParaRPr sz="800">
              <a:latin typeface="Consolas"/>
              <a:cs typeface="Consolas"/>
            </a:endParaRPr>
          </a:p>
          <a:p>
            <a:pPr marL="67945">
              <a:lnSpc>
                <a:spcPts val="935"/>
              </a:lnSpc>
            </a:pPr>
            <a:r>
              <a:rPr sz="800" spc="-50" dirty="0"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  <a:p>
            <a:pPr marL="67945">
              <a:lnSpc>
                <a:spcPts val="935"/>
              </a:lnSpc>
            </a:pPr>
            <a:r>
              <a:rPr sz="800" dirty="0">
                <a:solidFill>
                  <a:srgbClr val="0000FF"/>
                </a:solidFill>
                <a:latin typeface="Consolas"/>
                <a:cs typeface="Consolas"/>
              </a:rPr>
              <a:t>static void</a:t>
            </a:r>
            <a:r>
              <a:rPr sz="800" spc="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latin typeface="Consolas"/>
                <a:cs typeface="Consolas"/>
              </a:rPr>
              <a:t>yaz()</a:t>
            </a:r>
            <a:endParaRPr sz="800">
              <a:latin typeface="Consolas"/>
              <a:cs typeface="Consolas"/>
            </a:endParaRPr>
          </a:p>
          <a:p>
            <a:pPr marL="67945">
              <a:lnSpc>
                <a:spcPts val="935"/>
              </a:lnSpc>
            </a:pPr>
            <a:r>
              <a:rPr sz="800" spc="-50" dirty="0"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  <a:p>
            <a:pPr marL="237490">
              <a:lnSpc>
                <a:spcPts val="935"/>
              </a:lnSpc>
            </a:pPr>
            <a:r>
              <a:rPr sz="8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800" spc="-10" dirty="0">
                <a:latin typeface="Consolas"/>
                <a:cs typeface="Consolas"/>
              </a:rPr>
              <a:t>.WriteLine(</a:t>
            </a:r>
            <a:r>
              <a:rPr sz="800" spc="-10" dirty="0">
                <a:solidFill>
                  <a:srgbClr val="A21515"/>
                </a:solidFill>
                <a:latin typeface="Consolas"/>
                <a:cs typeface="Consolas"/>
              </a:rPr>
              <a:t>"Merhaba!"</a:t>
            </a:r>
            <a:r>
              <a:rPr sz="800" spc="-10" dirty="0">
                <a:latin typeface="Consolas"/>
                <a:cs typeface="Consolas"/>
              </a:rPr>
              <a:t>);</a:t>
            </a:r>
            <a:endParaRPr sz="800">
              <a:latin typeface="Consolas"/>
              <a:cs typeface="Consolas"/>
            </a:endParaRPr>
          </a:p>
          <a:p>
            <a:pPr marL="67945">
              <a:lnSpc>
                <a:spcPts val="950"/>
              </a:lnSpc>
            </a:pPr>
            <a:r>
              <a:rPr sz="800" spc="-50" dirty="0"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60907"/>
            <a:ext cx="5784215" cy="394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15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adet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tamsayının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toplamını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bularak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geriye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döndürmeyen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fonksiyonu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tanımlayarak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373377"/>
            <a:ext cx="5755640" cy="17468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topla(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a,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b)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"Sonuç:</a:t>
            </a:r>
            <a:r>
              <a:rPr sz="9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(a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b));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  <a:spcBef>
                <a:spcPts val="103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Main(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10" dirty="0">
                <a:latin typeface="Consolas"/>
                <a:cs typeface="Consolas"/>
              </a:rPr>
              <a:t>[]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args)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 marR="3102610">
              <a:lnSpc>
                <a:spcPts val="1060"/>
              </a:lnSpc>
              <a:spcBef>
                <a:spcPts val="35"/>
              </a:spcBef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"1.</a:t>
            </a:r>
            <a:r>
              <a:rPr sz="90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x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"2.</a:t>
            </a:r>
            <a:r>
              <a:rPr sz="90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y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 </a:t>
            </a:r>
            <a:r>
              <a:rPr sz="900" dirty="0">
                <a:latin typeface="Consolas"/>
                <a:cs typeface="Consolas"/>
              </a:rPr>
              <a:t>topla(x,</a:t>
            </a:r>
            <a:r>
              <a:rPr sz="900" spc="-10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y);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1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3201897"/>
            <a:ext cx="5784215" cy="39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15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adet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tamsayının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toplamını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bularak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ekrana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yazdıran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geriye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döndürecek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şekilde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tanımlayarak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3713098"/>
            <a:ext cx="5755640" cy="17468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Main(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10" dirty="0">
                <a:latin typeface="Consolas"/>
                <a:cs typeface="Consolas"/>
              </a:rPr>
              <a:t>[]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args)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 marR="3040380">
              <a:lnSpc>
                <a:spcPct val="97500"/>
              </a:lnSpc>
              <a:spcBef>
                <a:spcPts val="15"/>
              </a:spcBef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"1.</a:t>
            </a:r>
            <a:r>
              <a:rPr sz="90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x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"2.</a:t>
            </a:r>
            <a:r>
              <a:rPr sz="900" spc="-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sayıyı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y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"Sonuç:</a:t>
            </a:r>
            <a:r>
              <a:rPr sz="9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topla(x,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y));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  <a:spcBef>
                <a:spcPts val="103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topla(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a,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b)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a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25" dirty="0">
                <a:latin typeface="Consolas"/>
                <a:cs typeface="Consolas"/>
              </a:rPr>
              <a:t> b;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6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64" y="5543524"/>
            <a:ext cx="5787390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96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4: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tamsayının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negatif,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pozitif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veya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sıfıra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eşit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durumunu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inceleyecek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“static”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sözcüğü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kullanmadan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döndürmeyen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fonksiyon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tanımlayarak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C#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884" y="6238620"/>
            <a:ext cx="5755640" cy="282448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Main(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10" dirty="0">
                <a:latin typeface="Consolas"/>
                <a:cs typeface="Consolas"/>
              </a:rPr>
              <a:t>[]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args)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"Sayıyı</a:t>
            </a:r>
            <a:r>
              <a:rPr sz="9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giriniz:</a:t>
            </a:r>
            <a:r>
              <a:rPr sz="90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</a:t>
            </a:r>
            <a:endParaRPr sz="900">
              <a:latin typeface="Consolas"/>
              <a:cs typeface="Consolas"/>
            </a:endParaRPr>
          </a:p>
          <a:p>
            <a:pPr marL="569595" marR="2788920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x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10" dirty="0">
                <a:latin typeface="Consolas"/>
                <a:cs typeface="Consolas"/>
              </a:rPr>
              <a:t>.Parse(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.ReadLine()); </a:t>
            </a:r>
            <a:r>
              <a:rPr sz="90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r>
              <a:rPr sz="900" spc="-4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pr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r>
              <a:rPr sz="900" spc="-10" dirty="0">
                <a:latin typeface="Consolas"/>
                <a:cs typeface="Consolas"/>
              </a:rPr>
              <a:t>(); pr.Denetle(x);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  <a:p>
            <a:pPr marL="318135">
              <a:lnSpc>
                <a:spcPts val="1065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70"/>
              </a:lnSpc>
              <a:spcBef>
                <a:spcPts val="103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Denetle(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sayi)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(sayi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&lt;</a:t>
            </a:r>
            <a:r>
              <a:rPr sz="900" spc="-25" dirty="0">
                <a:latin typeface="Consolas"/>
                <a:cs typeface="Consolas"/>
              </a:rPr>
              <a:t> 0)</a:t>
            </a:r>
            <a:endParaRPr sz="900">
              <a:latin typeface="Consolas"/>
              <a:cs typeface="Consolas"/>
            </a:endParaRPr>
          </a:p>
          <a:p>
            <a:pPr marL="569595" marR="2974975" indent="251460">
              <a:lnSpc>
                <a:spcPts val="1060"/>
              </a:lnSpc>
              <a:spcBef>
                <a:spcPts val="35"/>
              </a:spcBef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negatif."</a:t>
            </a:r>
            <a:r>
              <a:rPr sz="900" spc="-10" dirty="0">
                <a:latin typeface="Consolas"/>
                <a:cs typeface="Consolas"/>
              </a:rPr>
              <a:t>);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(sayi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&gt;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0)</a:t>
            </a:r>
            <a:endParaRPr sz="900">
              <a:latin typeface="Consolas"/>
              <a:cs typeface="Consolas"/>
            </a:endParaRPr>
          </a:p>
          <a:p>
            <a:pPr marL="821055">
              <a:lnSpc>
                <a:spcPts val="101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0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pozitif."</a:t>
            </a:r>
            <a:r>
              <a:rPr sz="900" spc="-10" dirty="0">
                <a:latin typeface="Consolas"/>
                <a:cs typeface="Consolas"/>
              </a:rPr>
              <a:t>);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5"/>
              </a:lnSpc>
            </a:pP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00">
              <a:latin typeface="Consolas"/>
              <a:cs typeface="Consolas"/>
            </a:endParaRPr>
          </a:p>
          <a:p>
            <a:pPr marL="821055">
              <a:lnSpc>
                <a:spcPts val="105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sıfıra</a:t>
            </a:r>
            <a:r>
              <a:rPr sz="9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eşit."</a:t>
            </a:r>
            <a:r>
              <a:rPr sz="900" spc="-10" dirty="0">
                <a:latin typeface="Consolas"/>
                <a:cs typeface="Consolas"/>
              </a:rPr>
              <a:t>);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6764" y="9146946"/>
            <a:ext cx="5784850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5885" algn="just">
              <a:lnSpc>
                <a:spcPct val="1095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Yukarıdaki programda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“static”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tanımlanmadığından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dolayı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doğrudan </a:t>
            </a:r>
            <a:r>
              <a:rPr sz="1100" spc="-10" dirty="0">
                <a:latin typeface="Calibri"/>
                <a:cs typeface="Calibri"/>
              </a:rPr>
              <a:t>erişim </a:t>
            </a:r>
            <a:r>
              <a:rPr sz="1100" dirty="0">
                <a:latin typeface="Calibri"/>
                <a:cs typeface="Calibri"/>
              </a:rPr>
              <a:t>mümkün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değildir.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ulaşabilmek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ait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olduğu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sınıftan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nesne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türetilmelidir.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Daha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 türetilen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nesne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üzerinden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erişilebilir.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60907"/>
            <a:ext cx="5788660" cy="394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Örnek</a:t>
            </a:r>
            <a:r>
              <a:rPr sz="1100" b="1" spc="10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5:</a:t>
            </a:r>
            <a:r>
              <a:rPr sz="1100" b="1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tamsayının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veya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çift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olduğunu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bulan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programı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hazırlarken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public </a:t>
            </a:r>
            <a:r>
              <a:rPr sz="1100" dirty="0">
                <a:latin typeface="Calibri"/>
                <a:cs typeface="Calibri"/>
              </a:rPr>
              <a:t>erişim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belirtecini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static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tanımlayarak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373377"/>
            <a:ext cx="5755640" cy="325564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Main(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args)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466090" marR="2762250">
              <a:lnSpc>
                <a:spcPct val="97400"/>
              </a:lnSpc>
              <a:spcBef>
                <a:spcPts val="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"Sayıyı</a:t>
            </a:r>
            <a:r>
              <a:rPr sz="95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giriniz: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r>
              <a:rPr sz="950" spc="50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x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0" dirty="0">
                <a:latin typeface="Consolas"/>
                <a:cs typeface="Consolas"/>
              </a:rPr>
              <a:t>.Parse(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(Metod.TekCift(x))</a:t>
            </a:r>
            <a:endParaRPr sz="950">
              <a:latin typeface="Consolas"/>
              <a:cs typeface="Consolas"/>
            </a:endParaRPr>
          </a:p>
          <a:p>
            <a:pPr marL="466090" marR="2428240" indent="198120">
              <a:lnSpc>
                <a:spcPts val="1100"/>
              </a:lnSpc>
              <a:spcBef>
                <a:spcPts val="4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çift</a:t>
            </a:r>
            <a:r>
              <a:rPr sz="950" spc="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sayıdır."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664210">
              <a:lnSpc>
                <a:spcPts val="108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"Sayı</a:t>
            </a:r>
            <a:r>
              <a:rPr sz="950" spc="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tek</a:t>
            </a:r>
            <a:r>
              <a:rPr sz="950" spc="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sayıdır."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30"/>
              </a:lnSpc>
              <a:spcBef>
                <a:spcPts val="108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Metod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466090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Boolean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TekCift(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sayi)</a:t>
            </a:r>
            <a:endParaRPr sz="950">
              <a:latin typeface="Consolas"/>
              <a:cs typeface="Consolas"/>
            </a:endParaRPr>
          </a:p>
          <a:p>
            <a:pPr marL="466090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863600" marR="3890645" indent="-200025">
              <a:lnSpc>
                <a:spcPts val="1120"/>
              </a:lnSpc>
              <a:spcBef>
                <a:spcPts val="4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(sayi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%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0)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spc="-2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664210">
              <a:lnSpc>
                <a:spcPts val="1055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sz="950" spc="-10" dirty="0">
                <a:latin typeface="Consolas"/>
                <a:cs typeface="Consolas"/>
              </a:rPr>
              <a:t>;</a:t>
            </a:r>
            <a:endParaRPr sz="950">
              <a:latin typeface="Consolas"/>
              <a:cs typeface="Consolas"/>
            </a:endParaRPr>
          </a:p>
          <a:p>
            <a:pPr marL="466090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028" y="4761102"/>
            <a:ext cx="5580380" cy="14617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0320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</a:t>
            </a:r>
            <a:r>
              <a:rPr sz="16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 marR="200025" algn="ctr">
              <a:lnSpc>
                <a:spcPct val="100000"/>
              </a:lnSpc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Hazır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Metotlar</a:t>
            </a:r>
            <a:endParaRPr sz="1300" dirty="0">
              <a:latin typeface="Calibri Light"/>
              <a:cs typeface="Calibri Light"/>
            </a:endParaRPr>
          </a:p>
          <a:p>
            <a:pPr marL="33655">
              <a:lnSpc>
                <a:spcPct val="100000"/>
              </a:lnSpc>
              <a:spcBef>
                <a:spcPts val="1075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spc="165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C#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Dilinde</a:t>
            </a:r>
            <a:r>
              <a:rPr sz="120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String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Fonksiyonlar</a:t>
            </a:r>
            <a:endParaRPr sz="1200" dirty="0">
              <a:latin typeface="Calibri Light"/>
              <a:cs typeface="Calibri Light"/>
            </a:endParaRPr>
          </a:p>
          <a:p>
            <a:pPr marL="262255" marR="5080" indent="-228600" algn="just">
              <a:lnSpc>
                <a:spcPct val="109500"/>
              </a:lnSpc>
              <a:spcBef>
                <a:spcPts val="960"/>
              </a:spcBef>
            </a:pPr>
            <a:r>
              <a:rPr sz="1100" b="1" dirty="0">
                <a:latin typeface="Calibri"/>
                <a:cs typeface="Calibri"/>
              </a:rPr>
              <a:t>1)</a:t>
            </a:r>
            <a:r>
              <a:rPr sz="1100" b="1" spc="185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Trim()</a:t>
            </a:r>
            <a:r>
              <a:rPr sz="1100" b="1" spc="26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25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Metinsel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ifadenin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başındaki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sonundaki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boşlukların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atılması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için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TrimStart()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TrimEnd()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olmak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üzere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türü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vardır.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TrimStart()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metodunda </a:t>
            </a:r>
            <a:r>
              <a:rPr sz="1100" dirty="0">
                <a:latin typeface="Calibri"/>
                <a:cs typeface="Calibri"/>
              </a:rPr>
              <a:t>metnin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başındaki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boşluklar,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TrimEnd()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metodunda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metnin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sonundaki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boşluklar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atılır.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84985" y="6647053"/>
          <a:ext cx="5298440" cy="541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67945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00" spc="-8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a;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 marR="746760">
                        <a:lnSpc>
                          <a:spcPct val="97200"/>
                        </a:lnSpc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00" spc="-2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Merhaba</a:t>
                      </a:r>
                      <a:r>
                        <a:rPr sz="900" spc="-2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"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;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.Write(a.Trim());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00" spc="-8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a;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9850">
                        <a:lnSpc>
                          <a:spcPts val="1050"/>
                        </a:lnSpc>
                        <a:tabLst>
                          <a:tab pos="570865" algn="l"/>
                          <a:tab pos="1136650" algn="l"/>
                        </a:tabLst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a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5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sz="9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Gökhan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sz="900" spc="-2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9850" marR="251460">
                        <a:lnSpc>
                          <a:spcPts val="1060"/>
                        </a:lnSpc>
                      </a:pP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.WriteLine(</a:t>
                      </a:r>
                      <a:r>
                        <a:rPr sz="9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"&gt;&gt;"</a:t>
                      </a:r>
                      <a:r>
                        <a:rPr sz="900" spc="-4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a.Trim()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"&lt;&lt;"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);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15364" y="7189698"/>
            <a:ext cx="556006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 algn="just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2)</a:t>
            </a:r>
            <a:r>
              <a:rPr sz="1100" b="1" spc="170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Remove()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Metindeki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belirtilen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karakterlerden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sonraki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karakterlerin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silinmesi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için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Ayrıca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istenirse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belirtilen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karakterden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karakterin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silineceği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parametre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belirlenebilir.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8033" y="7884540"/>
            <a:ext cx="5441950" cy="67754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a;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dirty="0">
                <a:latin typeface="Consolas"/>
                <a:cs typeface="Consolas"/>
              </a:rPr>
              <a:t>a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"Merhaba"</a:t>
            </a:r>
            <a:r>
              <a:rPr sz="900" spc="-10" dirty="0">
                <a:latin typeface="Consolas"/>
                <a:cs typeface="Consolas"/>
              </a:rPr>
              <a:t>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6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.Write(a.Remove(3));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3.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index'ten</a:t>
            </a:r>
            <a:r>
              <a:rPr sz="900" spc="-7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sonrasını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siler.</a:t>
            </a:r>
            <a:endParaRPr sz="900">
              <a:latin typeface="Consolas"/>
              <a:cs typeface="Consolas"/>
            </a:endParaRPr>
          </a:p>
          <a:p>
            <a:pPr marL="67945" marR="650875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7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Console.Write(a.Remove(3,2));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3.</a:t>
            </a:r>
            <a:r>
              <a:rPr sz="9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index'ten</a:t>
            </a:r>
            <a:r>
              <a:rPr sz="9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itibaren</a:t>
            </a:r>
            <a:r>
              <a:rPr sz="9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2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karakter</a:t>
            </a:r>
            <a:r>
              <a:rPr sz="9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siler.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.ReadKey();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5364" y="8578443"/>
            <a:ext cx="5559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91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3)</a:t>
            </a:r>
            <a:r>
              <a:rPr sz="1100" b="1" spc="175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SubString()</a:t>
            </a:r>
            <a:r>
              <a:rPr sz="1100" b="1" spc="9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9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Metindeki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belirtilen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karakterden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sonrasının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alınmasını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sağlar.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Ayrıca </a:t>
            </a:r>
            <a:r>
              <a:rPr sz="1100" dirty="0">
                <a:latin typeface="Calibri"/>
                <a:cs typeface="Calibri"/>
              </a:rPr>
              <a:t>istenirse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belirtilen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karakterden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karakterin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alınacağı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verilebilir.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2813" y="9087357"/>
            <a:ext cx="5297170" cy="68326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a;</a:t>
            </a:r>
            <a:endParaRPr sz="900">
              <a:latin typeface="Consolas"/>
              <a:cs typeface="Consolas"/>
            </a:endParaRPr>
          </a:p>
          <a:p>
            <a:pPr marL="68580" marR="2808605">
              <a:lnSpc>
                <a:spcPts val="1100"/>
              </a:lnSpc>
              <a:spcBef>
                <a:spcPts val="5"/>
              </a:spcBef>
            </a:pPr>
            <a:r>
              <a:rPr sz="900" dirty="0">
                <a:latin typeface="Consolas"/>
                <a:cs typeface="Consolas"/>
              </a:rPr>
              <a:t>a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"Merhaba"</a:t>
            </a:r>
            <a:r>
              <a:rPr sz="900" spc="-10" dirty="0">
                <a:latin typeface="Consolas"/>
                <a:cs typeface="Consolas"/>
              </a:rPr>
              <a:t>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.Write(a.Substring(3));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haba</a:t>
            </a:r>
            <a:endParaRPr sz="950">
              <a:latin typeface="Consolas"/>
              <a:cs typeface="Consolas"/>
            </a:endParaRPr>
          </a:p>
          <a:p>
            <a:pPr marL="68580">
              <a:lnSpc>
                <a:spcPts val="1010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Console.Write(a.Substring(3,2));</a:t>
            </a:r>
            <a:endParaRPr sz="900">
              <a:latin typeface="Consolas"/>
              <a:cs typeface="Consolas"/>
            </a:endParaRPr>
          </a:p>
          <a:p>
            <a:pPr marL="68580">
              <a:lnSpc>
                <a:spcPts val="107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.ReadKey();</a:t>
            </a:r>
            <a:endParaRPr sz="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4" y="860907"/>
            <a:ext cx="555815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 algn="just">
              <a:lnSpc>
                <a:spcPct val="1098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4)</a:t>
            </a:r>
            <a:r>
              <a:rPr sz="1100" b="1" spc="175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Split()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belirtilen karaktere göre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metinsel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parçalara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bölünebilir. </a:t>
            </a:r>
            <a:r>
              <a:rPr sz="1100" spc="-25" dirty="0">
                <a:latin typeface="Calibri"/>
                <a:cs typeface="Calibri"/>
              </a:rPr>
              <a:t>Bu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geriye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string</a:t>
            </a:r>
            <a:r>
              <a:rPr sz="1100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dizisi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döndürür.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bloğunda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meyveler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değişkeni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dizisi </a:t>
            </a:r>
            <a:r>
              <a:rPr sz="1100" dirty="0">
                <a:latin typeface="Calibri"/>
                <a:cs typeface="Calibri"/>
              </a:rPr>
              <a:t>türünde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tanımlanmıştır.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değişkende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meyve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isimleri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virgül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ayrılmıştır.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tek </a:t>
            </a:r>
            <a:r>
              <a:rPr sz="1100" dirty="0">
                <a:latin typeface="Calibri"/>
                <a:cs typeface="Calibri"/>
              </a:rPr>
              <a:t>meyvelere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erişebilmek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Split()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metodundan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virgül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işareti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kullanılarak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meyveler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string’i </a:t>
            </a:r>
            <a:r>
              <a:rPr sz="1100" dirty="0">
                <a:latin typeface="Calibri"/>
                <a:cs typeface="Calibri"/>
              </a:rPr>
              <a:t>parçalara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ayrılmıştır.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sayede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tüm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meyve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isimleri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ayrılarak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meyve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dizisinin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elemanlarını oluşturmuştur.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8033" y="2109469"/>
            <a:ext cx="5441950" cy="99568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7945" marR="2314575">
              <a:lnSpc>
                <a:spcPts val="1100"/>
              </a:lnSpc>
              <a:spcBef>
                <a:spcPts val="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meyveler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"Elma,</a:t>
            </a:r>
            <a:r>
              <a:rPr sz="95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Armut,</a:t>
            </a:r>
            <a:r>
              <a:rPr sz="95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Kayısı,</a:t>
            </a:r>
            <a:r>
              <a:rPr sz="95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Erik"</a:t>
            </a:r>
            <a:r>
              <a:rPr sz="950" spc="-10" dirty="0">
                <a:latin typeface="Consolas"/>
                <a:cs typeface="Consolas"/>
              </a:rPr>
              <a:t>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meyve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meyveler.Split(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','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8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meyve.Length;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i++)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065" marR="3311525">
              <a:lnSpc>
                <a:spcPts val="1100"/>
              </a:lnSpc>
              <a:spcBef>
                <a:spcPts val="60"/>
              </a:spcBef>
            </a:pPr>
            <a:r>
              <a:rPr sz="950" dirty="0">
                <a:latin typeface="Consolas"/>
                <a:cs typeface="Consolas"/>
              </a:rPr>
              <a:t>meyve[i]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meyve[i].Trim();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.WriteLine(meyve[i]);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9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364" y="3103218"/>
            <a:ext cx="556069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 algn="just">
              <a:lnSpc>
                <a:spcPct val="1098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5)</a:t>
            </a:r>
            <a:r>
              <a:rPr sz="1100" b="1" spc="185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String.Compare()</a:t>
            </a:r>
            <a:r>
              <a:rPr sz="1100" b="1" spc="240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245" dirty="0">
                <a:latin typeface="Calibri"/>
                <a:cs typeface="Calibri"/>
              </a:rPr>
              <a:t> 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21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Calibri"/>
                <a:cs typeface="Calibri"/>
              </a:rPr>
              <a:t>Metoda</a:t>
            </a:r>
            <a:r>
              <a:rPr sz="1100" spc="23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verilen</a:t>
            </a:r>
            <a:r>
              <a:rPr sz="1100" spc="23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24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24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değerin</a:t>
            </a:r>
            <a:r>
              <a:rPr sz="1100" spc="24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alfabetik</a:t>
            </a:r>
            <a:r>
              <a:rPr sz="1100" spc="240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olarak </a:t>
            </a:r>
            <a:r>
              <a:rPr sz="1100" dirty="0">
                <a:latin typeface="Calibri"/>
                <a:cs typeface="Calibri"/>
              </a:rPr>
              <a:t>karşılaştırılması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Sırasıyla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-</a:t>
            </a:r>
            <a:r>
              <a:rPr sz="1100" dirty="0">
                <a:latin typeface="Calibri"/>
                <a:cs typeface="Calibri"/>
              </a:rPr>
              <a:t>1,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0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değerleri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döndürülür.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İlk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alfabetik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olarak </a:t>
            </a:r>
            <a:r>
              <a:rPr sz="1100" dirty="0">
                <a:latin typeface="Calibri"/>
                <a:cs typeface="Calibri"/>
              </a:rPr>
              <a:t>geride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-15" dirty="0">
                <a:latin typeface="Calibri"/>
                <a:cs typeface="Calibri"/>
              </a:rPr>
              <a:t>-</a:t>
            </a:r>
            <a:r>
              <a:rPr sz="1100" dirty="0">
                <a:latin typeface="Calibri"/>
                <a:cs typeface="Calibri"/>
              </a:rPr>
              <a:t>1,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birbirine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eşit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0,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birinci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alfabetik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önde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değeri döndürülür.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8033" y="3981322"/>
            <a:ext cx="5441950" cy="28956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67945" marR="2049145">
              <a:lnSpc>
                <a:spcPts val="1100"/>
              </a:lnSpc>
              <a:spcBef>
                <a:spcPts val="2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950" spc="-10" dirty="0">
                <a:latin typeface="Consolas"/>
                <a:cs typeface="Consolas"/>
              </a:rPr>
              <a:t>.Compare(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"abc"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"xyz"</a:t>
            </a:r>
            <a:r>
              <a:rPr sz="950" dirty="0">
                <a:latin typeface="Consolas"/>
                <a:cs typeface="Consolas"/>
              </a:rPr>
              <a:t>));</a:t>
            </a:r>
            <a:r>
              <a:rPr sz="950" spc="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1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364" y="4269460"/>
            <a:ext cx="5556885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6)</a:t>
            </a:r>
            <a:r>
              <a:rPr sz="1100" b="1" spc="180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Equals()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3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Metoda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gönderilen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birbirine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eşit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değer,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değil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ise </a:t>
            </a:r>
            <a:r>
              <a:rPr sz="1100" dirty="0">
                <a:latin typeface="Calibri"/>
                <a:cs typeface="Calibri"/>
              </a:rPr>
              <a:t>false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döndürülür.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8033" y="4679314"/>
            <a:ext cx="5298440" cy="14795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8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950" spc="-10" dirty="0">
                <a:latin typeface="Consolas"/>
                <a:cs typeface="Consolas"/>
              </a:rPr>
              <a:t>.Equals(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"Samsun"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"Samsun"</a:t>
            </a:r>
            <a:r>
              <a:rPr sz="950" dirty="0">
                <a:latin typeface="Consolas"/>
                <a:cs typeface="Consolas"/>
              </a:rPr>
              <a:t>));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True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5364" y="4925694"/>
            <a:ext cx="45764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2.</a:t>
            </a:r>
            <a:r>
              <a:rPr sz="1200" spc="17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C#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Dilinde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Matematiksel </a:t>
            </a:r>
            <a:r>
              <a:rPr sz="1200" i="1" spc="-20" dirty="0">
                <a:solidFill>
                  <a:srgbClr val="1F3762"/>
                </a:solidFill>
                <a:latin typeface="Calibri Light"/>
                <a:cs typeface="Calibri Light"/>
              </a:rPr>
              <a:t>(Math)</a:t>
            </a:r>
            <a:r>
              <a:rPr sz="1200" i="1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Metotları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100" b="1" dirty="0">
                <a:latin typeface="Calibri"/>
                <a:cs typeface="Calibri"/>
              </a:rPr>
              <a:t>1)</a:t>
            </a:r>
            <a:r>
              <a:rPr sz="1100" b="1" spc="180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Abs()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sayının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mutlak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değerini</a:t>
            </a:r>
            <a:r>
              <a:rPr sz="1100" spc="-10" dirty="0">
                <a:latin typeface="Calibri"/>
                <a:cs typeface="Calibri"/>
              </a:rPr>
              <a:t> döndürür.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8033" y="5554090"/>
            <a:ext cx="5441950" cy="14795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9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Math</a:t>
            </a:r>
            <a:r>
              <a:rPr sz="950" spc="-10" dirty="0">
                <a:latin typeface="Consolas"/>
                <a:cs typeface="Consolas"/>
              </a:rPr>
              <a:t>.Abs(-</a:t>
            </a:r>
            <a:r>
              <a:rPr sz="950" dirty="0">
                <a:latin typeface="Consolas"/>
                <a:cs typeface="Consolas"/>
              </a:rPr>
              <a:t>5));</a:t>
            </a:r>
            <a:r>
              <a:rPr sz="950" spc="1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5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5364" y="5783960"/>
            <a:ext cx="53251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2)</a:t>
            </a:r>
            <a:r>
              <a:rPr sz="1100" b="1" spc="175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Ceiling()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ondalık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sayıyı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üstteki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tamsayıya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yuvarlar.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8033" y="5993256"/>
            <a:ext cx="5441950" cy="14795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8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Math</a:t>
            </a:r>
            <a:r>
              <a:rPr sz="950" spc="-10" dirty="0">
                <a:latin typeface="Consolas"/>
                <a:cs typeface="Consolas"/>
              </a:rPr>
              <a:t>.Ceiling(10.3));</a:t>
            </a:r>
            <a:r>
              <a:rPr sz="950" spc="4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11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5364" y="6206718"/>
            <a:ext cx="555879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3)</a:t>
            </a:r>
            <a:r>
              <a:rPr sz="1100" b="1" spc="185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Equals()</a:t>
            </a:r>
            <a:r>
              <a:rPr sz="1100" b="1" spc="15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14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Object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tipinde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verilen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parametreyi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karşılaştırarak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eşit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olmaları </a:t>
            </a:r>
            <a:r>
              <a:rPr sz="1100" dirty="0">
                <a:latin typeface="Calibri"/>
                <a:cs typeface="Calibri"/>
              </a:rPr>
              <a:t>durumunda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olmamaları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durumunda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false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döndürür.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8033" y="6615048"/>
            <a:ext cx="5441950" cy="14795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9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Math</a:t>
            </a:r>
            <a:r>
              <a:rPr sz="950" spc="-10" dirty="0">
                <a:latin typeface="Consolas"/>
                <a:cs typeface="Consolas"/>
              </a:rPr>
              <a:t>.Equals(10,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10));</a:t>
            </a:r>
            <a:r>
              <a:rPr sz="950" spc="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True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5364" y="6828510"/>
            <a:ext cx="5559425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4)</a:t>
            </a:r>
            <a:r>
              <a:rPr sz="1100" b="1" spc="180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Min()</a:t>
            </a:r>
            <a:r>
              <a:rPr sz="1100" b="1" spc="8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ve</a:t>
            </a:r>
            <a:r>
              <a:rPr sz="1100" b="1" spc="8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Max()</a:t>
            </a:r>
            <a:r>
              <a:rPr sz="1100" b="1" spc="9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Metotları</a:t>
            </a:r>
            <a:r>
              <a:rPr sz="1100" b="1" spc="8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büyük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olanını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bulan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Max() </a:t>
            </a:r>
            <a:r>
              <a:rPr sz="1100" dirty="0">
                <a:latin typeface="Calibri"/>
                <a:cs typeface="Calibri"/>
              </a:rPr>
              <a:t>fonksiyonu,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Min()</a:t>
            </a:r>
            <a:r>
              <a:rPr sz="1100" spc="-10" dirty="0">
                <a:latin typeface="Calibri"/>
                <a:cs typeface="Calibri"/>
              </a:rPr>
              <a:t> fonksiyonudur.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8033" y="7338948"/>
            <a:ext cx="5441950" cy="28956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7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Math</a:t>
            </a:r>
            <a:r>
              <a:rPr sz="950" spc="-10" dirty="0">
                <a:latin typeface="Consolas"/>
                <a:cs typeface="Consolas"/>
              </a:rPr>
              <a:t>.Min(10,</a:t>
            </a:r>
            <a:r>
              <a:rPr sz="950" dirty="0">
                <a:latin typeface="Consolas"/>
                <a:cs typeface="Consolas"/>
              </a:rPr>
              <a:t> 20));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2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Math</a:t>
            </a:r>
            <a:r>
              <a:rPr sz="950" spc="-10" dirty="0">
                <a:latin typeface="Consolas"/>
                <a:cs typeface="Consolas"/>
              </a:rPr>
              <a:t>.Max(10,</a:t>
            </a:r>
            <a:r>
              <a:rPr sz="950" dirty="0">
                <a:latin typeface="Consolas"/>
                <a:cs typeface="Consolas"/>
              </a:rPr>
              <a:t> 20));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20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5364" y="7694141"/>
            <a:ext cx="556006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 algn="just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5)</a:t>
            </a:r>
            <a:r>
              <a:rPr sz="1100" b="1" spc="185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Round()</a:t>
            </a:r>
            <a:r>
              <a:rPr sz="1100" b="1" spc="27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26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ondalıklı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ifadenin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ondalık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kısmını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yakın </a:t>
            </a:r>
            <a:r>
              <a:rPr sz="1100" dirty="0">
                <a:latin typeface="Calibri"/>
                <a:cs typeface="Calibri"/>
              </a:rPr>
              <a:t>tamsayıya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yuvarlar.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Ayrıca,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istenirse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sayının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ondalık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kısmında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basamağın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gösterileceğini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girebiliriz.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8033" y="8387842"/>
            <a:ext cx="5441950" cy="14795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8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Math</a:t>
            </a:r>
            <a:r>
              <a:rPr sz="950" spc="-10" dirty="0">
                <a:latin typeface="Consolas"/>
                <a:cs typeface="Consolas"/>
              </a:rPr>
              <a:t>.Round(10.7542,2));</a:t>
            </a:r>
            <a:r>
              <a:rPr sz="950" spc="5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10,75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5364" y="8634221"/>
            <a:ext cx="402145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6)</a:t>
            </a:r>
            <a:r>
              <a:rPr sz="1100" b="1" spc="170" dirty="0">
                <a:latin typeface="Calibri"/>
                <a:cs typeface="Calibri"/>
              </a:rPr>
              <a:t>  </a:t>
            </a:r>
            <a:r>
              <a:rPr sz="1100" b="1" dirty="0">
                <a:latin typeface="Calibri"/>
                <a:cs typeface="Calibri"/>
              </a:rPr>
              <a:t>Sqrt()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Metodu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sayının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karekökünü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alır.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8033" y="8944101"/>
            <a:ext cx="5441950" cy="14795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8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Math</a:t>
            </a:r>
            <a:r>
              <a:rPr sz="950" spc="-10" dirty="0">
                <a:latin typeface="Consolas"/>
                <a:cs typeface="Consolas"/>
              </a:rPr>
              <a:t>.Sqrt(64));</a:t>
            </a:r>
            <a:r>
              <a:rPr sz="950" spc="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8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4" y="877315"/>
            <a:ext cx="5560060" cy="3678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41935" algn="l"/>
              </a:tabLst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C#</a:t>
            </a:r>
            <a:r>
              <a:rPr sz="120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Dilinde</a:t>
            </a:r>
            <a:r>
              <a:rPr sz="120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DateTime</a:t>
            </a:r>
            <a:r>
              <a:rPr sz="1200" spc="-4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Sınıfı</a:t>
            </a:r>
            <a:r>
              <a:rPr sz="120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Metotları</a:t>
            </a:r>
            <a:endParaRPr sz="1200">
              <a:latin typeface="Calibri Light"/>
              <a:cs typeface="Calibri Light"/>
            </a:endParaRPr>
          </a:p>
          <a:p>
            <a:pPr marL="468630" lvl="1" indent="-22796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dirty="0">
                <a:latin typeface="Consolas"/>
                <a:cs typeface="Consolas"/>
              </a:rPr>
              <a:t>.Now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Tarih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saat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bilgisini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(10.11.2017 19:48:34)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.Now.ToLongDateString()</a:t>
            </a:r>
            <a:r>
              <a:rPr sz="950" spc="3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Uzun</a:t>
            </a:r>
            <a:r>
              <a:rPr sz="1100" spc="2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formatlı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tarih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Calibri"/>
                <a:cs typeface="Calibri"/>
              </a:rPr>
              <a:t>(10</a:t>
            </a:r>
            <a:r>
              <a:rPr sz="1100" i="1" spc="2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Kasım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2017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1100" i="1" spc="-10" dirty="0">
                <a:latin typeface="Calibri"/>
                <a:cs typeface="Calibri"/>
              </a:rPr>
              <a:t>Cuma)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.Now.ToShortDateString()</a:t>
            </a:r>
            <a:r>
              <a:rPr sz="950" spc="-27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Kısa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formatlı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tarih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(10.11.2017)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.Now.ToLongTimeString()</a:t>
            </a:r>
            <a:r>
              <a:rPr sz="950" spc="-254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Uzun formatlı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zaman bilgisini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(19:48:47)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.Now.ToShortTimeString()</a:t>
            </a:r>
            <a:r>
              <a:rPr sz="950" spc="-26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Kısa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formatlı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zaman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bilgisini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(19:48)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2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.Now.DayOfWeek</a:t>
            </a:r>
            <a:r>
              <a:rPr sz="950" spc="-265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Bulunduğun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günü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(Cuma)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.Now.DayOfYear</a:t>
            </a:r>
            <a:r>
              <a:rPr sz="950" spc="-265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Yılın kaçıncı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günü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bilgisini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(314)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.Now.Hour</a:t>
            </a:r>
            <a:r>
              <a:rPr sz="950" spc="-27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Sistemdeki saati verir.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(19)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.Now.Month</a:t>
            </a:r>
            <a:r>
              <a:rPr sz="950" spc="-27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Sistemdeki ay bilgisini verir.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(11)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2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.Now.Year</a:t>
            </a:r>
            <a:r>
              <a:rPr sz="950" spc="-27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İçinde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bulunduğumuz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yılı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(2017)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.Today</a:t>
            </a:r>
            <a:r>
              <a:rPr sz="950" spc="-27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Bugünün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tarihini verir.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(10.11.2017 00:00:00)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.Now.AddDays(1)</a:t>
            </a:r>
            <a:r>
              <a:rPr sz="950" spc="-254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Bugünün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tarihine gün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ekler.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(11.11.2017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19:48:47)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.Now.AddHours(2)</a:t>
            </a:r>
            <a:r>
              <a:rPr sz="950" spc="-26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Bugünün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tarihine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saat ekler.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(11.11.2017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19:48:47)</a:t>
            </a:r>
            <a:endParaRPr sz="1100">
              <a:latin typeface="Calibri"/>
              <a:cs typeface="Calibri"/>
            </a:endParaRPr>
          </a:p>
          <a:p>
            <a:pPr marL="468630" lvl="1" indent="-227965">
              <a:lnSpc>
                <a:spcPct val="100000"/>
              </a:lnSpc>
              <a:spcBef>
                <a:spcPts val="120"/>
              </a:spcBef>
              <a:buClr>
                <a:srgbClr val="000000"/>
              </a:buClr>
              <a:buSzPct val="115789"/>
              <a:buFont typeface="Wingdings"/>
              <a:buChar char=""/>
              <a:tabLst>
                <a:tab pos="468630" algn="l"/>
              </a:tabLst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.Now.Day</a:t>
            </a:r>
            <a:r>
              <a:rPr sz="950" spc="-270" dirty="0">
                <a:latin typeface="Consolas"/>
                <a:cs typeface="Consolas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libri"/>
                <a:cs typeface="Calibri"/>
              </a:rPr>
              <a:t>İçinde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bulunduğumuz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günü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verir.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(10)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00">
              <a:latin typeface="Calibri"/>
              <a:cs typeface="Calibri"/>
            </a:endParaRPr>
          </a:p>
          <a:p>
            <a:pPr marL="240665" marR="5080">
              <a:lnSpc>
                <a:spcPct val="110000"/>
              </a:lnSpc>
              <a:spcBef>
                <a:spcPts val="5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Klavyeden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doğum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tarihi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bilgisine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kişinin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kaç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gün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yaşadığını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bulan</a:t>
            </a:r>
            <a:r>
              <a:rPr sz="1100" spc="-10" dirty="0">
                <a:latin typeface="Calibri"/>
                <a:cs typeface="Calibri"/>
              </a:rPr>
              <a:t> programı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hazırlayınız.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8033" y="4673218"/>
            <a:ext cx="5441950" cy="141922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7945" marR="3973829">
              <a:lnSpc>
                <a:spcPts val="1100"/>
              </a:lnSpc>
              <a:spcBef>
                <a:spcPts val="5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7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dogumTarihi;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yasadigiGun;</a:t>
            </a:r>
            <a:endParaRPr sz="950">
              <a:latin typeface="Consolas"/>
              <a:cs typeface="Consolas"/>
            </a:endParaRPr>
          </a:p>
          <a:p>
            <a:pPr marL="67945" marR="4306570">
              <a:lnSpc>
                <a:spcPts val="1120"/>
              </a:lnSpc>
              <a:spcBef>
                <a:spcPts val="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fazlaGun; </a:t>
            </a:r>
            <a:r>
              <a:rPr sz="950" dirty="0">
                <a:latin typeface="Consolas"/>
                <a:cs typeface="Consolas"/>
              </a:rPr>
              <a:t>yasadigiGun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0;</a:t>
            </a:r>
            <a:endParaRPr sz="950">
              <a:latin typeface="Consolas"/>
              <a:cs typeface="Consolas"/>
            </a:endParaRPr>
          </a:p>
          <a:p>
            <a:pPr marL="67945" marR="322580">
              <a:lnSpc>
                <a:spcPts val="1100"/>
              </a:lnSpc>
              <a:spcBef>
                <a:spcPts val="10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dirty="0">
                <a:latin typeface="Consolas"/>
                <a:cs typeface="Consolas"/>
              </a:rPr>
              <a:t>.Write(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"Doğum</a:t>
            </a:r>
            <a:r>
              <a:rPr sz="950" spc="-6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tarihi</a:t>
            </a:r>
            <a:r>
              <a:rPr sz="95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24.12.2000</a:t>
            </a:r>
            <a:r>
              <a:rPr sz="95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veya</a:t>
            </a:r>
            <a:r>
              <a:rPr sz="95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24/12/2000</a:t>
            </a:r>
            <a:r>
              <a:rPr sz="95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formatında</a:t>
            </a:r>
            <a:r>
              <a:rPr sz="95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girin:</a:t>
            </a:r>
            <a:r>
              <a:rPr sz="950" spc="-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dogumTarihi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Convert</a:t>
            </a:r>
            <a:r>
              <a:rPr sz="950" spc="-10" dirty="0">
                <a:latin typeface="Consolas"/>
                <a:cs typeface="Consolas"/>
              </a:rPr>
              <a:t>.ToDateTime(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80"/>
              </a:lnSpc>
            </a:pPr>
            <a:r>
              <a:rPr sz="950" dirty="0">
                <a:latin typeface="Consolas"/>
                <a:cs typeface="Consolas"/>
              </a:rPr>
              <a:t>fazlaGun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dirty="0">
                <a:latin typeface="Consolas"/>
                <a:cs typeface="Consolas"/>
              </a:rPr>
              <a:t>.Today.Year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dogumTarihi.Year)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/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4;</a:t>
            </a:r>
            <a:endParaRPr sz="950">
              <a:latin typeface="Consolas"/>
              <a:cs typeface="Consolas"/>
            </a:endParaRPr>
          </a:p>
          <a:p>
            <a:pPr marL="67945" marR="1256030" algn="just">
              <a:lnSpc>
                <a:spcPct val="97500"/>
              </a:lnSpc>
              <a:spcBef>
                <a:spcPts val="15"/>
              </a:spcBef>
            </a:pPr>
            <a:r>
              <a:rPr sz="950" dirty="0">
                <a:latin typeface="Consolas"/>
                <a:cs typeface="Consolas"/>
              </a:rPr>
              <a:t>yasadigiGun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dirty="0">
                <a:latin typeface="Consolas"/>
                <a:cs typeface="Consolas"/>
              </a:rPr>
              <a:t>.Today.Year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dogumTarihi.Year)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*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365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50" dirty="0">
                <a:latin typeface="Consolas"/>
                <a:cs typeface="Consolas"/>
              </a:rPr>
              <a:t>+ </a:t>
            </a:r>
            <a:r>
              <a:rPr sz="950" spc="-10" dirty="0"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10" dirty="0">
                <a:latin typeface="Consolas"/>
                <a:cs typeface="Consolas"/>
              </a:rPr>
              <a:t>.Today.DayOfYear</a:t>
            </a:r>
            <a:r>
              <a:rPr sz="950" spc="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dogumTarihi.DayOfYear)</a:t>
            </a:r>
            <a:r>
              <a:rPr sz="950" spc="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2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fazlaGun;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"Yaşadığı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 gün:</a:t>
            </a:r>
            <a:r>
              <a:rPr sz="950" spc="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yasadigiGun);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364" y="6250914"/>
            <a:ext cx="5554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91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TimeSpan()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tarihler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arasındaki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gün,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saat,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dakika,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saniye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sanise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cinsinden </a:t>
            </a:r>
            <a:r>
              <a:rPr sz="1100" dirty="0">
                <a:latin typeface="Calibri"/>
                <a:cs typeface="Calibri"/>
              </a:rPr>
              <a:t>döndürür.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örneğin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TimeSpan()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çözümü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gösterilmiştir;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8033" y="6759828"/>
            <a:ext cx="5441950" cy="85344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spc="-7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dogumTarihi;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TimeSpan</a:t>
            </a:r>
            <a:r>
              <a:rPr sz="950" spc="-7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yasadigiGun;</a:t>
            </a:r>
            <a:endParaRPr sz="950">
              <a:latin typeface="Consolas"/>
              <a:cs typeface="Consolas"/>
            </a:endParaRPr>
          </a:p>
          <a:p>
            <a:pPr marL="67945" marR="322580">
              <a:lnSpc>
                <a:spcPts val="1120"/>
              </a:lnSpc>
              <a:spcBef>
                <a:spcPts val="3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"Doğum</a:t>
            </a:r>
            <a:r>
              <a:rPr sz="95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tarihi</a:t>
            </a:r>
            <a:r>
              <a:rPr sz="95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24.12.2000</a:t>
            </a:r>
            <a:r>
              <a:rPr sz="95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veya</a:t>
            </a:r>
            <a:r>
              <a:rPr sz="95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24/12/2000</a:t>
            </a:r>
            <a:r>
              <a:rPr sz="95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formatında</a:t>
            </a:r>
            <a:r>
              <a:rPr sz="950" spc="-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girin:</a:t>
            </a:r>
            <a:r>
              <a:rPr sz="950" spc="-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 </a:t>
            </a:r>
            <a:r>
              <a:rPr sz="950" dirty="0">
                <a:latin typeface="Consolas"/>
                <a:cs typeface="Consolas"/>
              </a:rPr>
              <a:t>dogumTarihi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Convert</a:t>
            </a:r>
            <a:r>
              <a:rPr sz="950" spc="-10" dirty="0">
                <a:latin typeface="Consolas"/>
                <a:cs typeface="Consolas"/>
              </a:rPr>
              <a:t>.ToDateTime(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.ReadLine());</a:t>
            </a:r>
            <a:endParaRPr sz="950">
              <a:latin typeface="Consolas"/>
              <a:cs typeface="Consolas"/>
            </a:endParaRPr>
          </a:p>
          <a:p>
            <a:pPr marL="67945" marR="2315845">
              <a:lnSpc>
                <a:spcPts val="1100"/>
              </a:lnSpc>
              <a:spcBef>
                <a:spcPts val="5"/>
              </a:spcBef>
            </a:pPr>
            <a:r>
              <a:rPr sz="950" dirty="0">
                <a:latin typeface="Consolas"/>
                <a:cs typeface="Consolas"/>
              </a:rPr>
              <a:t>yasadigiGun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DateTime</a:t>
            </a:r>
            <a:r>
              <a:rPr sz="950" dirty="0">
                <a:latin typeface="Consolas"/>
                <a:cs typeface="Consolas"/>
              </a:rPr>
              <a:t>.Today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dogumTarihi);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"Yaşadığı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 gün:</a:t>
            </a:r>
            <a:r>
              <a:rPr sz="950" spc="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yasadigiGun);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8839"/>
            <a:ext cx="5787390" cy="1183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Random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Sınıfı</a:t>
            </a:r>
            <a:endParaRPr sz="130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500"/>
              </a:lnSpc>
              <a:spcBef>
                <a:spcPts val="965"/>
              </a:spcBef>
            </a:pPr>
            <a:r>
              <a:rPr sz="1100" dirty="0">
                <a:latin typeface="Calibri"/>
                <a:cs typeface="Calibri"/>
              </a:rPr>
              <a:t>Rastgele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üretmek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sınıftır.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üretebilmek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Random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sınıfından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nesne </a:t>
            </a:r>
            <a:r>
              <a:rPr sz="1100" dirty="0">
                <a:latin typeface="Calibri"/>
                <a:cs typeface="Calibri"/>
              </a:rPr>
              <a:t>türetilmesi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gerekir.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Random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sınıfına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ait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Next()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sayılar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üretilmeye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başlar.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Next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metodunun </a:t>
            </a:r>
            <a:r>
              <a:rPr sz="1100" dirty="0">
                <a:latin typeface="Calibri"/>
                <a:cs typeface="Calibri"/>
              </a:rPr>
              <a:t>üç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vardır.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935"/>
              </a:spcBef>
            </a:pPr>
            <a:r>
              <a:rPr sz="1100" b="1" dirty="0">
                <a:latin typeface="Calibri"/>
                <a:cs typeface="Calibri"/>
              </a:rPr>
              <a:t>1)</a:t>
            </a:r>
            <a:r>
              <a:rPr sz="1100" b="1" spc="19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Next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gibi kullanılırsa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negatif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olmayan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rastgele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sayılar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üretir.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8033" y="2178049"/>
            <a:ext cx="5441950" cy="28956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Random</a:t>
            </a:r>
            <a:r>
              <a:rPr sz="950" spc="-2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Random</a:t>
            </a:r>
            <a:r>
              <a:rPr sz="950" spc="-10" dirty="0">
                <a:latin typeface="Consolas"/>
                <a:cs typeface="Consolas"/>
              </a:rPr>
              <a:t>();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.Write(s.Next());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364" y="2633218"/>
            <a:ext cx="53352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2)</a:t>
            </a:r>
            <a:r>
              <a:rPr sz="1100" b="1" spc="18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Parantez</a:t>
            </a:r>
            <a:r>
              <a:rPr sz="1100" spc="-10" dirty="0">
                <a:latin typeface="Calibri"/>
                <a:cs typeface="Calibri"/>
              </a:rPr>
              <a:t> içerisindeki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üst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üzere </a:t>
            </a:r>
            <a:r>
              <a:rPr sz="1100" i="1" dirty="0">
                <a:latin typeface="Calibri"/>
                <a:cs typeface="Calibri"/>
              </a:rPr>
              <a:t>(üst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sınır hariç)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negatif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olmayan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-10" dirty="0">
                <a:latin typeface="Calibri"/>
                <a:cs typeface="Calibri"/>
              </a:rPr>
              <a:t> üretir.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8033" y="2840989"/>
            <a:ext cx="5441950" cy="28956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67945" marR="3642360">
              <a:lnSpc>
                <a:spcPts val="1100"/>
              </a:lnSpc>
              <a:spcBef>
                <a:spcPts val="20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Random</a:t>
            </a:r>
            <a:r>
              <a:rPr sz="950" spc="-2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Random</a:t>
            </a:r>
            <a:r>
              <a:rPr sz="950" spc="-10" dirty="0">
                <a:latin typeface="Consolas"/>
                <a:cs typeface="Consolas"/>
              </a:rPr>
              <a:t>();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.Write(s.Next(15));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5364" y="3279621"/>
            <a:ext cx="5560695" cy="39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2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3)</a:t>
            </a:r>
            <a:r>
              <a:rPr sz="1100" b="1" spc="18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Parantez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içerisinde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üst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sınır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 olarak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girilir.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dahil</a:t>
            </a:r>
            <a:r>
              <a:rPr sz="1100" dirty="0">
                <a:latin typeface="Calibri"/>
                <a:cs typeface="Calibri"/>
              </a:rPr>
              <a:t>, üst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sınır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hariç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olacak </a:t>
            </a:r>
            <a:r>
              <a:rPr sz="1100" dirty="0">
                <a:latin typeface="Calibri"/>
                <a:cs typeface="Calibri"/>
              </a:rPr>
              <a:t>şekilde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negatif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olmayan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sayılar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üretir.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8033" y="3688714"/>
            <a:ext cx="5298440" cy="28956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67945" marR="3299460">
              <a:lnSpc>
                <a:spcPts val="1100"/>
              </a:lnSpc>
              <a:spcBef>
                <a:spcPts val="20"/>
              </a:spcBef>
            </a:pP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Random</a:t>
            </a:r>
            <a:r>
              <a:rPr sz="950" spc="-2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Random</a:t>
            </a:r>
            <a:r>
              <a:rPr sz="950" spc="-10" dirty="0">
                <a:latin typeface="Consolas"/>
                <a:cs typeface="Consolas"/>
              </a:rPr>
              <a:t>();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.Write(s.Next(5,</a:t>
            </a:r>
            <a:r>
              <a:rPr sz="950" spc="65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15));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6764" y="4110354"/>
            <a:ext cx="5785485" cy="2158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</a:t>
            </a:r>
            <a:r>
              <a:rPr sz="16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Sıralama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Algoritmaları</a:t>
            </a:r>
            <a:endParaRPr sz="1300" dirty="0">
              <a:latin typeface="Calibri Light"/>
              <a:cs typeface="Calibri Light"/>
            </a:endParaRPr>
          </a:p>
          <a:p>
            <a:pPr marL="241300">
              <a:lnSpc>
                <a:spcPct val="100000"/>
              </a:lnSpc>
              <a:spcBef>
                <a:spcPts val="1085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1)</a:t>
            </a:r>
            <a:r>
              <a:rPr sz="1200" spc="135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Kabarcık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Sıralama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(Bubble</a:t>
            </a:r>
            <a:r>
              <a:rPr sz="120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Sort)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Algoritması</a:t>
            </a:r>
            <a:endParaRPr sz="1200" dirty="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7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Her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defasında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elemanını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karşılaştırarak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gerekliyse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yer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değişikliği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hiçbir </a:t>
            </a:r>
            <a:r>
              <a:rPr sz="1100" dirty="0">
                <a:latin typeface="Calibri"/>
                <a:cs typeface="Calibri"/>
              </a:rPr>
              <a:t>yer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değişikliği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yapılmadığı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kadar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devam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eder.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geçişte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büyük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sağına </a:t>
            </a:r>
            <a:r>
              <a:rPr sz="1100" dirty="0">
                <a:latin typeface="Calibri"/>
                <a:cs typeface="Calibri"/>
              </a:rPr>
              <a:t>aktarılmış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olur.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Kabarcık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sıralaması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algoritmasında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yapılan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listeyi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küçükten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büyüğe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doğru sıralamaktır.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{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15,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8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}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listesini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kabarcık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sıralaması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algoritmasını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kullanarak </a:t>
            </a:r>
            <a:r>
              <a:rPr sz="1100" spc="-10" dirty="0">
                <a:latin typeface="Calibri"/>
                <a:cs typeface="Calibri"/>
              </a:rPr>
              <a:t>çözünüz.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36624" y="6839077"/>
            <a:ext cx="2286635" cy="228600"/>
            <a:chOff x="1036624" y="6839077"/>
            <a:chExt cx="2286635" cy="228600"/>
          </a:xfrm>
        </p:grpSpPr>
        <p:sp>
          <p:nvSpPr>
            <p:cNvPr id="10" name="object 10"/>
            <p:cNvSpPr/>
            <p:nvPr/>
          </p:nvSpPr>
          <p:spPr>
            <a:xfrm>
              <a:off x="1042720" y="6846696"/>
              <a:ext cx="905510" cy="215265"/>
            </a:xfrm>
            <a:custGeom>
              <a:avLst/>
              <a:gdLst/>
              <a:ahLst/>
              <a:cxnLst/>
              <a:rect l="l" t="t" r="r" b="b"/>
              <a:pathLst>
                <a:path w="905510" h="215265">
                  <a:moveTo>
                    <a:pt x="449567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449567" y="214884"/>
                  </a:lnTo>
                  <a:lnTo>
                    <a:pt x="449567" y="0"/>
                  </a:lnTo>
                  <a:close/>
                </a:path>
                <a:path w="905510" h="215265">
                  <a:moveTo>
                    <a:pt x="905205" y="0"/>
                  </a:moveTo>
                  <a:lnTo>
                    <a:pt x="455625" y="0"/>
                  </a:lnTo>
                  <a:lnTo>
                    <a:pt x="455625" y="214884"/>
                  </a:lnTo>
                  <a:lnTo>
                    <a:pt x="905205" y="214884"/>
                  </a:lnTo>
                  <a:lnTo>
                    <a:pt x="90520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624" y="6839089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917384" y="0"/>
                  </a:moveTo>
                  <a:lnTo>
                    <a:pt x="911301" y="0"/>
                  </a:lnTo>
                  <a:lnTo>
                    <a:pt x="911301" y="6083"/>
                  </a:lnTo>
                  <a:lnTo>
                    <a:pt x="911301" y="222491"/>
                  </a:lnTo>
                  <a:lnTo>
                    <a:pt x="461721" y="222491"/>
                  </a:lnTo>
                  <a:lnTo>
                    <a:pt x="461721" y="6083"/>
                  </a:lnTo>
                  <a:lnTo>
                    <a:pt x="911301" y="6083"/>
                  </a:lnTo>
                  <a:lnTo>
                    <a:pt x="911301" y="0"/>
                  </a:lnTo>
                  <a:lnTo>
                    <a:pt x="461721" y="0"/>
                  </a:lnTo>
                  <a:lnTo>
                    <a:pt x="455663" y="0"/>
                  </a:lnTo>
                  <a:lnTo>
                    <a:pt x="455625" y="6083"/>
                  </a:lnTo>
                  <a:lnTo>
                    <a:pt x="455625" y="222491"/>
                  </a:lnTo>
                  <a:lnTo>
                    <a:pt x="6096" y="222491"/>
                  </a:lnTo>
                  <a:lnTo>
                    <a:pt x="6096" y="6083"/>
                  </a:lnTo>
                  <a:lnTo>
                    <a:pt x="455625" y="6083"/>
                  </a:lnTo>
                  <a:lnTo>
                    <a:pt x="455625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6096" y="228587"/>
                  </a:lnTo>
                  <a:lnTo>
                    <a:pt x="917384" y="228587"/>
                  </a:lnTo>
                  <a:lnTo>
                    <a:pt x="917384" y="222491"/>
                  </a:lnTo>
                  <a:lnTo>
                    <a:pt x="917384" y="6083"/>
                  </a:lnTo>
                  <a:lnTo>
                    <a:pt x="917384" y="0"/>
                  </a:lnTo>
                  <a:close/>
                </a:path>
                <a:path w="2286635" h="228600">
                  <a:moveTo>
                    <a:pt x="1373060" y="0"/>
                  </a:moveTo>
                  <a:lnTo>
                    <a:pt x="1366977" y="0"/>
                  </a:lnTo>
                  <a:lnTo>
                    <a:pt x="917397" y="0"/>
                  </a:lnTo>
                  <a:lnTo>
                    <a:pt x="917397" y="6083"/>
                  </a:lnTo>
                  <a:lnTo>
                    <a:pt x="1366977" y="6083"/>
                  </a:lnTo>
                  <a:lnTo>
                    <a:pt x="1366977" y="222491"/>
                  </a:lnTo>
                  <a:lnTo>
                    <a:pt x="917397" y="222491"/>
                  </a:lnTo>
                  <a:lnTo>
                    <a:pt x="917397" y="228587"/>
                  </a:lnTo>
                  <a:lnTo>
                    <a:pt x="1366977" y="228587"/>
                  </a:lnTo>
                  <a:lnTo>
                    <a:pt x="1373060" y="228587"/>
                  </a:lnTo>
                  <a:lnTo>
                    <a:pt x="1373060" y="222491"/>
                  </a:lnTo>
                  <a:lnTo>
                    <a:pt x="1373060" y="6083"/>
                  </a:lnTo>
                  <a:lnTo>
                    <a:pt x="1373060" y="0"/>
                  </a:lnTo>
                  <a:close/>
                </a:path>
                <a:path w="2286635" h="228600">
                  <a:moveTo>
                    <a:pt x="1822958" y="222491"/>
                  </a:moveTo>
                  <a:lnTo>
                    <a:pt x="1373073" y="222491"/>
                  </a:lnTo>
                  <a:lnTo>
                    <a:pt x="1373073" y="228587"/>
                  </a:lnTo>
                  <a:lnTo>
                    <a:pt x="1822958" y="228587"/>
                  </a:lnTo>
                  <a:lnTo>
                    <a:pt x="1822958" y="222491"/>
                  </a:lnTo>
                  <a:close/>
                </a:path>
                <a:path w="2286635" h="228600">
                  <a:moveTo>
                    <a:pt x="1822958" y="0"/>
                  </a:moveTo>
                  <a:lnTo>
                    <a:pt x="1373073" y="0"/>
                  </a:lnTo>
                  <a:lnTo>
                    <a:pt x="1373073" y="6083"/>
                  </a:lnTo>
                  <a:lnTo>
                    <a:pt x="1822958" y="6083"/>
                  </a:lnTo>
                  <a:lnTo>
                    <a:pt x="1822958" y="0"/>
                  </a:lnTo>
                  <a:close/>
                </a:path>
                <a:path w="2286635" h="228600">
                  <a:moveTo>
                    <a:pt x="1829117" y="0"/>
                  </a:moveTo>
                  <a:lnTo>
                    <a:pt x="1823034" y="0"/>
                  </a:lnTo>
                  <a:lnTo>
                    <a:pt x="1823034" y="6083"/>
                  </a:lnTo>
                  <a:lnTo>
                    <a:pt x="1823034" y="222491"/>
                  </a:lnTo>
                  <a:lnTo>
                    <a:pt x="1823034" y="228587"/>
                  </a:lnTo>
                  <a:lnTo>
                    <a:pt x="1829117" y="228587"/>
                  </a:lnTo>
                  <a:lnTo>
                    <a:pt x="1829117" y="222491"/>
                  </a:lnTo>
                  <a:lnTo>
                    <a:pt x="1829117" y="6083"/>
                  </a:lnTo>
                  <a:lnTo>
                    <a:pt x="1829117" y="0"/>
                  </a:lnTo>
                  <a:close/>
                </a:path>
                <a:path w="2286635" h="228600">
                  <a:moveTo>
                    <a:pt x="2286330" y="0"/>
                  </a:moveTo>
                  <a:lnTo>
                    <a:pt x="2280234" y="0"/>
                  </a:lnTo>
                  <a:lnTo>
                    <a:pt x="1829130" y="0"/>
                  </a:lnTo>
                  <a:lnTo>
                    <a:pt x="1829130" y="6083"/>
                  </a:lnTo>
                  <a:lnTo>
                    <a:pt x="2280234" y="6083"/>
                  </a:lnTo>
                  <a:lnTo>
                    <a:pt x="2280234" y="222491"/>
                  </a:lnTo>
                  <a:lnTo>
                    <a:pt x="1829130" y="222491"/>
                  </a:lnTo>
                  <a:lnTo>
                    <a:pt x="1829130" y="228587"/>
                  </a:lnTo>
                  <a:lnTo>
                    <a:pt x="2280234" y="228587"/>
                  </a:lnTo>
                  <a:lnTo>
                    <a:pt x="2286330" y="228587"/>
                  </a:lnTo>
                  <a:lnTo>
                    <a:pt x="2286330" y="222491"/>
                  </a:lnTo>
                  <a:lnTo>
                    <a:pt x="2286330" y="6083"/>
                  </a:lnTo>
                  <a:lnTo>
                    <a:pt x="2286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098671" y="6839077"/>
            <a:ext cx="2286635" cy="628015"/>
            <a:chOff x="4098671" y="6839077"/>
            <a:chExt cx="2286635" cy="628015"/>
          </a:xfrm>
        </p:grpSpPr>
        <p:sp>
          <p:nvSpPr>
            <p:cNvPr id="13" name="object 13"/>
            <p:cNvSpPr/>
            <p:nvPr/>
          </p:nvSpPr>
          <p:spPr>
            <a:xfrm>
              <a:off x="4104767" y="6846696"/>
              <a:ext cx="905510" cy="215265"/>
            </a:xfrm>
            <a:custGeom>
              <a:avLst/>
              <a:gdLst/>
              <a:ahLst/>
              <a:cxnLst/>
              <a:rect l="l" t="t" r="r" b="b"/>
              <a:pathLst>
                <a:path w="905510" h="215265">
                  <a:moveTo>
                    <a:pt x="449872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449872" y="214884"/>
                  </a:lnTo>
                  <a:lnTo>
                    <a:pt x="449872" y="0"/>
                  </a:lnTo>
                  <a:close/>
                </a:path>
                <a:path w="905510" h="215265">
                  <a:moveTo>
                    <a:pt x="905510" y="0"/>
                  </a:moveTo>
                  <a:lnTo>
                    <a:pt x="455930" y="0"/>
                  </a:lnTo>
                  <a:lnTo>
                    <a:pt x="455930" y="214884"/>
                  </a:lnTo>
                  <a:lnTo>
                    <a:pt x="905510" y="214884"/>
                  </a:lnTo>
                  <a:lnTo>
                    <a:pt x="9055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98671" y="6839089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1824786" y="0"/>
                  </a:moveTo>
                  <a:lnTo>
                    <a:pt x="1373378" y="0"/>
                  </a:lnTo>
                  <a:lnTo>
                    <a:pt x="1367282" y="0"/>
                  </a:lnTo>
                  <a:lnTo>
                    <a:pt x="1367282" y="6083"/>
                  </a:lnTo>
                  <a:lnTo>
                    <a:pt x="1367282" y="222491"/>
                  </a:lnTo>
                  <a:lnTo>
                    <a:pt x="917702" y="222491"/>
                  </a:lnTo>
                  <a:lnTo>
                    <a:pt x="917702" y="6083"/>
                  </a:lnTo>
                  <a:lnTo>
                    <a:pt x="1367282" y="6083"/>
                  </a:lnTo>
                  <a:lnTo>
                    <a:pt x="1367282" y="0"/>
                  </a:lnTo>
                  <a:lnTo>
                    <a:pt x="917702" y="0"/>
                  </a:lnTo>
                  <a:lnTo>
                    <a:pt x="911606" y="0"/>
                  </a:lnTo>
                  <a:lnTo>
                    <a:pt x="911606" y="6083"/>
                  </a:lnTo>
                  <a:lnTo>
                    <a:pt x="911606" y="222491"/>
                  </a:lnTo>
                  <a:lnTo>
                    <a:pt x="462026" y="222491"/>
                  </a:lnTo>
                  <a:lnTo>
                    <a:pt x="462026" y="6083"/>
                  </a:lnTo>
                  <a:lnTo>
                    <a:pt x="911606" y="6083"/>
                  </a:lnTo>
                  <a:lnTo>
                    <a:pt x="911606" y="0"/>
                  </a:lnTo>
                  <a:lnTo>
                    <a:pt x="462026" y="0"/>
                  </a:lnTo>
                  <a:lnTo>
                    <a:pt x="455968" y="0"/>
                  </a:lnTo>
                  <a:lnTo>
                    <a:pt x="455930" y="6083"/>
                  </a:lnTo>
                  <a:lnTo>
                    <a:pt x="455930" y="222491"/>
                  </a:lnTo>
                  <a:lnTo>
                    <a:pt x="6096" y="222491"/>
                  </a:lnTo>
                  <a:lnTo>
                    <a:pt x="6096" y="6083"/>
                  </a:lnTo>
                  <a:lnTo>
                    <a:pt x="455930" y="6083"/>
                  </a:lnTo>
                  <a:lnTo>
                    <a:pt x="45593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6096" y="228587"/>
                  </a:lnTo>
                  <a:lnTo>
                    <a:pt x="1824786" y="228587"/>
                  </a:lnTo>
                  <a:lnTo>
                    <a:pt x="1824786" y="222491"/>
                  </a:lnTo>
                  <a:lnTo>
                    <a:pt x="1373378" y="222491"/>
                  </a:lnTo>
                  <a:lnTo>
                    <a:pt x="1373378" y="6083"/>
                  </a:lnTo>
                  <a:lnTo>
                    <a:pt x="1824786" y="6083"/>
                  </a:lnTo>
                  <a:lnTo>
                    <a:pt x="1824786" y="0"/>
                  </a:lnTo>
                  <a:close/>
                </a:path>
                <a:path w="2286635" h="228600">
                  <a:moveTo>
                    <a:pt x="1830946" y="0"/>
                  </a:moveTo>
                  <a:lnTo>
                    <a:pt x="1824863" y="0"/>
                  </a:lnTo>
                  <a:lnTo>
                    <a:pt x="1824863" y="6083"/>
                  </a:lnTo>
                  <a:lnTo>
                    <a:pt x="1824863" y="222491"/>
                  </a:lnTo>
                  <a:lnTo>
                    <a:pt x="1824863" y="228587"/>
                  </a:lnTo>
                  <a:lnTo>
                    <a:pt x="1830946" y="228587"/>
                  </a:lnTo>
                  <a:lnTo>
                    <a:pt x="1830946" y="222491"/>
                  </a:lnTo>
                  <a:lnTo>
                    <a:pt x="1830946" y="6083"/>
                  </a:lnTo>
                  <a:lnTo>
                    <a:pt x="1830946" y="0"/>
                  </a:lnTo>
                  <a:close/>
                </a:path>
                <a:path w="2286635" h="228600">
                  <a:moveTo>
                    <a:pt x="2280526" y="222491"/>
                  </a:moveTo>
                  <a:lnTo>
                    <a:pt x="1830959" y="222491"/>
                  </a:lnTo>
                  <a:lnTo>
                    <a:pt x="1830959" y="228587"/>
                  </a:lnTo>
                  <a:lnTo>
                    <a:pt x="2280526" y="228587"/>
                  </a:lnTo>
                  <a:lnTo>
                    <a:pt x="2280526" y="222491"/>
                  </a:lnTo>
                  <a:close/>
                </a:path>
                <a:path w="2286635" h="228600">
                  <a:moveTo>
                    <a:pt x="2280526" y="0"/>
                  </a:moveTo>
                  <a:lnTo>
                    <a:pt x="1830959" y="0"/>
                  </a:lnTo>
                  <a:lnTo>
                    <a:pt x="1830959" y="6083"/>
                  </a:lnTo>
                  <a:lnTo>
                    <a:pt x="2280526" y="6083"/>
                  </a:lnTo>
                  <a:lnTo>
                    <a:pt x="2280526" y="0"/>
                  </a:lnTo>
                  <a:close/>
                </a:path>
                <a:path w="2286635" h="228600">
                  <a:moveTo>
                    <a:pt x="2286635" y="0"/>
                  </a:moveTo>
                  <a:lnTo>
                    <a:pt x="2280539" y="0"/>
                  </a:lnTo>
                  <a:lnTo>
                    <a:pt x="2280539" y="6083"/>
                  </a:lnTo>
                  <a:lnTo>
                    <a:pt x="2280539" y="222491"/>
                  </a:lnTo>
                  <a:lnTo>
                    <a:pt x="2280539" y="228587"/>
                  </a:lnTo>
                  <a:lnTo>
                    <a:pt x="2286635" y="228587"/>
                  </a:lnTo>
                  <a:lnTo>
                    <a:pt x="2286635" y="222491"/>
                  </a:lnTo>
                  <a:lnTo>
                    <a:pt x="2286635" y="6083"/>
                  </a:lnTo>
                  <a:lnTo>
                    <a:pt x="2286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60697" y="7244460"/>
              <a:ext cx="905510" cy="216535"/>
            </a:xfrm>
            <a:custGeom>
              <a:avLst/>
              <a:gdLst/>
              <a:ahLst/>
              <a:cxnLst/>
              <a:rect l="l" t="t" r="r" b="b"/>
              <a:pathLst>
                <a:path w="905510" h="216534">
                  <a:moveTo>
                    <a:pt x="449580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49580" y="216408"/>
                  </a:lnTo>
                  <a:lnTo>
                    <a:pt x="449580" y="0"/>
                  </a:lnTo>
                  <a:close/>
                </a:path>
                <a:path w="905510" h="216534">
                  <a:moveTo>
                    <a:pt x="905256" y="0"/>
                  </a:moveTo>
                  <a:lnTo>
                    <a:pt x="455676" y="0"/>
                  </a:lnTo>
                  <a:lnTo>
                    <a:pt x="455676" y="216408"/>
                  </a:lnTo>
                  <a:lnTo>
                    <a:pt x="905256" y="216408"/>
                  </a:lnTo>
                  <a:lnTo>
                    <a:pt x="90525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98671" y="7238377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1824786" y="0"/>
                  </a:moveTo>
                  <a:lnTo>
                    <a:pt x="1373378" y="0"/>
                  </a:lnTo>
                  <a:lnTo>
                    <a:pt x="1367282" y="0"/>
                  </a:lnTo>
                  <a:lnTo>
                    <a:pt x="1367282" y="6083"/>
                  </a:lnTo>
                  <a:lnTo>
                    <a:pt x="1367282" y="222491"/>
                  </a:lnTo>
                  <a:lnTo>
                    <a:pt x="917702" y="222491"/>
                  </a:lnTo>
                  <a:lnTo>
                    <a:pt x="917702" y="6083"/>
                  </a:lnTo>
                  <a:lnTo>
                    <a:pt x="1367282" y="6083"/>
                  </a:lnTo>
                  <a:lnTo>
                    <a:pt x="1367282" y="0"/>
                  </a:lnTo>
                  <a:lnTo>
                    <a:pt x="917702" y="0"/>
                  </a:lnTo>
                  <a:lnTo>
                    <a:pt x="911606" y="0"/>
                  </a:lnTo>
                  <a:lnTo>
                    <a:pt x="911606" y="6083"/>
                  </a:lnTo>
                  <a:lnTo>
                    <a:pt x="911606" y="222491"/>
                  </a:lnTo>
                  <a:lnTo>
                    <a:pt x="462026" y="222491"/>
                  </a:lnTo>
                  <a:lnTo>
                    <a:pt x="462026" y="6083"/>
                  </a:lnTo>
                  <a:lnTo>
                    <a:pt x="911606" y="6083"/>
                  </a:lnTo>
                  <a:lnTo>
                    <a:pt x="911606" y="0"/>
                  </a:lnTo>
                  <a:lnTo>
                    <a:pt x="462026" y="0"/>
                  </a:lnTo>
                  <a:lnTo>
                    <a:pt x="455968" y="0"/>
                  </a:lnTo>
                  <a:lnTo>
                    <a:pt x="455930" y="6083"/>
                  </a:lnTo>
                  <a:lnTo>
                    <a:pt x="455930" y="222491"/>
                  </a:lnTo>
                  <a:lnTo>
                    <a:pt x="6096" y="222491"/>
                  </a:lnTo>
                  <a:lnTo>
                    <a:pt x="6096" y="6083"/>
                  </a:lnTo>
                  <a:lnTo>
                    <a:pt x="455930" y="6083"/>
                  </a:lnTo>
                  <a:lnTo>
                    <a:pt x="45593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6096" y="228587"/>
                  </a:lnTo>
                  <a:lnTo>
                    <a:pt x="1824786" y="228587"/>
                  </a:lnTo>
                  <a:lnTo>
                    <a:pt x="1824786" y="222491"/>
                  </a:lnTo>
                  <a:lnTo>
                    <a:pt x="1373378" y="222491"/>
                  </a:lnTo>
                  <a:lnTo>
                    <a:pt x="1373378" y="6083"/>
                  </a:lnTo>
                  <a:lnTo>
                    <a:pt x="1824786" y="6083"/>
                  </a:lnTo>
                  <a:lnTo>
                    <a:pt x="1824786" y="0"/>
                  </a:lnTo>
                  <a:close/>
                </a:path>
                <a:path w="2286635" h="228600">
                  <a:moveTo>
                    <a:pt x="1830946" y="0"/>
                  </a:moveTo>
                  <a:lnTo>
                    <a:pt x="1824863" y="0"/>
                  </a:lnTo>
                  <a:lnTo>
                    <a:pt x="1824863" y="6083"/>
                  </a:lnTo>
                  <a:lnTo>
                    <a:pt x="1824863" y="222491"/>
                  </a:lnTo>
                  <a:lnTo>
                    <a:pt x="1824863" y="228587"/>
                  </a:lnTo>
                  <a:lnTo>
                    <a:pt x="1830946" y="228587"/>
                  </a:lnTo>
                  <a:lnTo>
                    <a:pt x="1830946" y="222491"/>
                  </a:lnTo>
                  <a:lnTo>
                    <a:pt x="1830946" y="6083"/>
                  </a:lnTo>
                  <a:lnTo>
                    <a:pt x="1830946" y="0"/>
                  </a:lnTo>
                  <a:close/>
                </a:path>
                <a:path w="2286635" h="228600">
                  <a:moveTo>
                    <a:pt x="2280526" y="222491"/>
                  </a:moveTo>
                  <a:lnTo>
                    <a:pt x="1830959" y="222491"/>
                  </a:lnTo>
                  <a:lnTo>
                    <a:pt x="1830959" y="228587"/>
                  </a:lnTo>
                  <a:lnTo>
                    <a:pt x="2280526" y="228587"/>
                  </a:lnTo>
                  <a:lnTo>
                    <a:pt x="2280526" y="222491"/>
                  </a:lnTo>
                  <a:close/>
                </a:path>
                <a:path w="2286635" h="228600">
                  <a:moveTo>
                    <a:pt x="2280526" y="0"/>
                  </a:moveTo>
                  <a:lnTo>
                    <a:pt x="1830959" y="0"/>
                  </a:lnTo>
                  <a:lnTo>
                    <a:pt x="1830959" y="6083"/>
                  </a:lnTo>
                  <a:lnTo>
                    <a:pt x="2280526" y="6083"/>
                  </a:lnTo>
                  <a:lnTo>
                    <a:pt x="2280526" y="0"/>
                  </a:lnTo>
                  <a:close/>
                </a:path>
                <a:path w="2286635" h="228600">
                  <a:moveTo>
                    <a:pt x="2286635" y="0"/>
                  </a:moveTo>
                  <a:lnTo>
                    <a:pt x="2280539" y="0"/>
                  </a:lnTo>
                  <a:lnTo>
                    <a:pt x="2280539" y="6083"/>
                  </a:lnTo>
                  <a:lnTo>
                    <a:pt x="2280539" y="222491"/>
                  </a:lnTo>
                  <a:lnTo>
                    <a:pt x="2280539" y="228587"/>
                  </a:lnTo>
                  <a:lnTo>
                    <a:pt x="2286635" y="228587"/>
                  </a:lnTo>
                  <a:lnTo>
                    <a:pt x="2286635" y="222491"/>
                  </a:lnTo>
                  <a:lnTo>
                    <a:pt x="2286635" y="6083"/>
                  </a:lnTo>
                  <a:lnTo>
                    <a:pt x="2286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036624" y="7238365"/>
            <a:ext cx="2286635" cy="228600"/>
            <a:chOff x="1036624" y="7238365"/>
            <a:chExt cx="2286635" cy="228600"/>
          </a:xfrm>
        </p:grpSpPr>
        <p:sp>
          <p:nvSpPr>
            <p:cNvPr id="18" name="object 18"/>
            <p:cNvSpPr/>
            <p:nvPr/>
          </p:nvSpPr>
          <p:spPr>
            <a:xfrm>
              <a:off x="1498346" y="7244460"/>
              <a:ext cx="906780" cy="216535"/>
            </a:xfrm>
            <a:custGeom>
              <a:avLst/>
              <a:gdLst/>
              <a:ahLst/>
              <a:cxnLst/>
              <a:rect l="l" t="t" r="r" b="b"/>
              <a:pathLst>
                <a:path w="906780" h="216534">
                  <a:moveTo>
                    <a:pt x="449580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49580" y="216408"/>
                  </a:lnTo>
                  <a:lnTo>
                    <a:pt x="449580" y="0"/>
                  </a:lnTo>
                  <a:close/>
                </a:path>
                <a:path w="906780" h="216534">
                  <a:moveTo>
                    <a:pt x="906780" y="0"/>
                  </a:moveTo>
                  <a:lnTo>
                    <a:pt x="457200" y="0"/>
                  </a:lnTo>
                  <a:lnTo>
                    <a:pt x="457200" y="216408"/>
                  </a:lnTo>
                  <a:lnTo>
                    <a:pt x="906780" y="216408"/>
                  </a:lnTo>
                  <a:lnTo>
                    <a:pt x="9067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36624" y="7238377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917384" y="0"/>
                  </a:moveTo>
                  <a:lnTo>
                    <a:pt x="911301" y="0"/>
                  </a:lnTo>
                  <a:lnTo>
                    <a:pt x="911301" y="6083"/>
                  </a:lnTo>
                  <a:lnTo>
                    <a:pt x="911301" y="222491"/>
                  </a:lnTo>
                  <a:lnTo>
                    <a:pt x="461721" y="222491"/>
                  </a:lnTo>
                  <a:lnTo>
                    <a:pt x="461721" y="6083"/>
                  </a:lnTo>
                  <a:lnTo>
                    <a:pt x="911301" y="6083"/>
                  </a:lnTo>
                  <a:lnTo>
                    <a:pt x="911301" y="0"/>
                  </a:lnTo>
                  <a:lnTo>
                    <a:pt x="461721" y="0"/>
                  </a:lnTo>
                  <a:lnTo>
                    <a:pt x="455663" y="0"/>
                  </a:lnTo>
                  <a:lnTo>
                    <a:pt x="455625" y="6083"/>
                  </a:lnTo>
                  <a:lnTo>
                    <a:pt x="455625" y="222491"/>
                  </a:lnTo>
                  <a:lnTo>
                    <a:pt x="6096" y="222491"/>
                  </a:lnTo>
                  <a:lnTo>
                    <a:pt x="6096" y="6083"/>
                  </a:lnTo>
                  <a:lnTo>
                    <a:pt x="455625" y="6083"/>
                  </a:lnTo>
                  <a:lnTo>
                    <a:pt x="455625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6096" y="228587"/>
                  </a:lnTo>
                  <a:lnTo>
                    <a:pt x="917384" y="228587"/>
                  </a:lnTo>
                  <a:lnTo>
                    <a:pt x="917384" y="222491"/>
                  </a:lnTo>
                  <a:lnTo>
                    <a:pt x="917384" y="6083"/>
                  </a:lnTo>
                  <a:lnTo>
                    <a:pt x="917384" y="0"/>
                  </a:lnTo>
                  <a:close/>
                </a:path>
                <a:path w="2286635" h="228600">
                  <a:moveTo>
                    <a:pt x="1373060" y="0"/>
                  </a:moveTo>
                  <a:lnTo>
                    <a:pt x="1366977" y="0"/>
                  </a:lnTo>
                  <a:lnTo>
                    <a:pt x="917397" y="0"/>
                  </a:lnTo>
                  <a:lnTo>
                    <a:pt x="917397" y="6083"/>
                  </a:lnTo>
                  <a:lnTo>
                    <a:pt x="1366977" y="6083"/>
                  </a:lnTo>
                  <a:lnTo>
                    <a:pt x="1366977" y="222491"/>
                  </a:lnTo>
                  <a:lnTo>
                    <a:pt x="917397" y="222491"/>
                  </a:lnTo>
                  <a:lnTo>
                    <a:pt x="917397" y="228587"/>
                  </a:lnTo>
                  <a:lnTo>
                    <a:pt x="1366977" y="228587"/>
                  </a:lnTo>
                  <a:lnTo>
                    <a:pt x="1373060" y="228587"/>
                  </a:lnTo>
                  <a:lnTo>
                    <a:pt x="1373060" y="222491"/>
                  </a:lnTo>
                  <a:lnTo>
                    <a:pt x="1373060" y="6083"/>
                  </a:lnTo>
                  <a:lnTo>
                    <a:pt x="1373060" y="0"/>
                  </a:lnTo>
                  <a:close/>
                </a:path>
                <a:path w="2286635" h="228600">
                  <a:moveTo>
                    <a:pt x="1822958" y="222491"/>
                  </a:moveTo>
                  <a:lnTo>
                    <a:pt x="1373073" y="222491"/>
                  </a:lnTo>
                  <a:lnTo>
                    <a:pt x="1373073" y="228587"/>
                  </a:lnTo>
                  <a:lnTo>
                    <a:pt x="1822958" y="228587"/>
                  </a:lnTo>
                  <a:lnTo>
                    <a:pt x="1822958" y="222491"/>
                  </a:lnTo>
                  <a:close/>
                </a:path>
                <a:path w="2286635" h="228600">
                  <a:moveTo>
                    <a:pt x="1822958" y="0"/>
                  </a:moveTo>
                  <a:lnTo>
                    <a:pt x="1373073" y="0"/>
                  </a:lnTo>
                  <a:lnTo>
                    <a:pt x="1373073" y="6083"/>
                  </a:lnTo>
                  <a:lnTo>
                    <a:pt x="1822958" y="6083"/>
                  </a:lnTo>
                  <a:lnTo>
                    <a:pt x="1822958" y="0"/>
                  </a:lnTo>
                  <a:close/>
                </a:path>
                <a:path w="2286635" h="228600">
                  <a:moveTo>
                    <a:pt x="1829117" y="0"/>
                  </a:moveTo>
                  <a:lnTo>
                    <a:pt x="1823034" y="0"/>
                  </a:lnTo>
                  <a:lnTo>
                    <a:pt x="1823034" y="6083"/>
                  </a:lnTo>
                  <a:lnTo>
                    <a:pt x="1823034" y="222491"/>
                  </a:lnTo>
                  <a:lnTo>
                    <a:pt x="1823034" y="228587"/>
                  </a:lnTo>
                  <a:lnTo>
                    <a:pt x="1829117" y="228587"/>
                  </a:lnTo>
                  <a:lnTo>
                    <a:pt x="1829117" y="222491"/>
                  </a:lnTo>
                  <a:lnTo>
                    <a:pt x="1829117" y="6083"/>
                  </a:lnTo>
                  <a:lnTo>
                    <a:pt x="1829117" y="0"/>
                  </a:lnTo>
                  <a:close/>
                </a:path>
                <a:path w="2286635" h="228600">
                  <a:moveTo>
                    <a:pt x="2286330" y="0"/>
                  </a:moveTo>
                  <a:lnTo>
                    <a:pt x="2280234" y="0"/>
                  </a:lnTo>
                  <a:lnTo>
                    <a:pt x="1829130" y="0"/>
                  </a:lnTo>
                  <a:lnTo>
                    <a:pt x="1829130" y="6083"/>
                  </a:lnTo>
                  <a:lnTo>
                    <a:pt x="2280234" y="6083"/>
                  </a:lnTo>
                  <a:lnTo>
                    <a:pt x="2280234" y="222491"/>
                  </a:lnTo>
                  <a:lnTo>
                    <a:pt x="1829130" y="222491"/>
                  </a:lnTo>
                  <a:lnTo>
                    <a:pt x="1829130" y="228587"/>
                  </a:lnTo>
                  <a:lnTo>
                    <a:pt x="2280234" y="228587"/>
                  </a:lnTo>
                  <a:lnTo>
                    <a:pt x="2286330" y="228587"/>
                  </a:lnTo>
                  <a:lnTo>
                    <a:pt x="2286330" y="222491"/>
                  </a:lnTo>
                  <a:lnTo>
                    <a:pt x="2286330" y="6083"/>
                  </a:lnTo>
                  <a:lnTo>
                    <a:pt x="2286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036624" y="7637653"/>
            <a:ext cx="2286635" cy="228600"/>
            <a:chOff x="1036624" y="7637653"/>
            <a:chExt cx="2286635" cy="228600"/>
          </a:xfrm>
        </p:grpSpPr>
        <p:sp>
          <p:nvSpPr>
            <p:cNvPr id="21" name="object 21"/>
            <p:cNvSpPr/>
            <p:nvPr/>
          </p:nvSpPr>
          <p:spPr>
            <a:xfrm>
              <a:off x="1955546" y="7643761"/>
              <a:ext cx="906144" cy="216535"/>
            </a:xfrm>
            <a:custGeom>
              <a:avLst/>
              <a:gdLst/>
              <a:ahLst/>
              <a:cxnLst/>
              <a:rect l="l" t="t" r="r" b="b"/>
              <a:pathLst>
                <a:path w="906144" h="216534">
                  <a:moveTo>
                    <a:pt x="449580" y="0"/>
                  </a:moveTo>
                  <a:lnTo>
                    <a:pt x="0" y="0"/>
                  </a:lnTo>
                  <a:lnTo>
                    <a:pt x="0" y="216395"/>
                  </a:lnTo>
                  <a:lnTo>
                    <a:pt x="449580" y="216395"/>
                  </a:lnTo>
                  <a:lnTo>
                    <a:pt x="449580" y="0"/>
                  </a:lnTo>
                  <a:close/>
                </a:path>
                <a:path w="906144" h="216534">
                  <a:moveTo>
                    <a:pt x="905560" y="0"/>
                  </a:moveTo>
                  <a:lnTo>
                    <a:pt x="455676" y="0"/>
                  </a:lnTo>
                  <a:lnTo>
                    <a:pt x="455676" y="216395"/>
                  </a:lnTo>
                  <a:lnTo>
                    <a:pt x="905560" y="216395"/>
                  </a:lnTo>
                  <a:lnTo>
                    <a:pt x="9055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36624" y="7637665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917384" y="6096"/>
                  </a:moveTo>
                  <a:lnTo>
                    <a:pt x="911301" y="6096"/>
                  </a:lnTo>
                  <a:lnTo>
                    <a:pt x="911301" y="222491"/>
                  </a:lnTo>
                  <a:lnTo>
                    <a:pt x="461721" y="222491"/>
                  </a:lnTo>
                  <a:lnTo>
                    <a:pt x="461721" y="6096"/>
                  </a:lnTo>
                  <a:lnTo>
                    <a:pt x="455625" y="6096"/>
                  </a:lnTo>
                  <a:lnTo>
                    <a:pt x="455625" y="222491"/>
                  </a:lnTo>
                  <a:lnTo>
                    <a:pt x="6096" y="222491"/>
                  </a:lnTo>
                  <a:lnTo>
                    <a:pt x="6096" y="6096"/>
                  </a:lnTo>
                  <a:lnTo>
                    <a:pt x="0" y="6096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917384" y="228587"/>
                  </a:lnTo>
                  <a:lnTo>
                    <a:pt x="917384" y="222491"/>
                  </a:lnTo>
                  <a:lnTo>
                    <a:pt x="917384" y="6096"/>
                  </a:lnTo>
                  <a:close/>
                </a:path>
                <a:path w="2286635" h="228600">
                  <a:moveTo>
                    <a:pt x="917384" y="0"/>
                  </a:moveTo>
                  <a:lnTo>
                    <a:pt x="917384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917384" y="6083"/>
                  </a:lnTo>
                  <a:lnTo>
                    <a:pt x="917384" y="0"/>
                  </a:lnTo>
                  <a:close/>
                </a:path>
                <a:path w="2286635" h="228600">
                  <a:moveTo>
                    <a:pt x="1373060" y="6096"/>
                  </a:moveTo>
                  <a:lnTo>
                    <a:pt x="1366977" y="6096"/>
                  </a:lnTo>
                  <a:lnTo>
                    <a:pt x="1366977" y="222491"/>
                  </a:lnTo>
                  <a:lnTo>
                    <a:pt x="917397" y="222491"/>
                  </a:lnTo>
                  <a:lnTo>
                    <a:pt x="917397" y="228587"/>
                  </a:lnTo>
                  <a:lnTo>
                    <a:pt x="1366977" y="228587"/>
                  </a:lnTo>
                  <a:lnTo>
                    <a:pt x="1373060" y="228587"/>
                  </a:lnTo>
                  <a:lnTo>
                    <a:pt x="1373060" y="222491"/>
                  </a:lnTo>
                  <a:lnTo>
                    <a:pt x="1373060" y="6096"/>
                  </a:lnTo>
                  <a:close/>
                </a:path>
                <a:path w="2286635" h="228600">
                  <a:moveTo>
                    <a:pt x="1373060" y="0"/>
                  </a:moveTo>
                  <a:lnTo>
                    <a:pt x="1366977" y="0"/>
                  </a:lnTo>
                  <a:lnTo>
                    <a:pt x="917397" y="0"/>
                  </a:lnTo>
                  <a:lnTo>
                    <a:pt x="917397" y="6083"/>
                  </a:lnTo>
                  <a:lnTo>
                    <a:pt x="1366977" y="6083"/>
                  </a:lnTo>
                  <a:lnTo>
                    <a:pt x="1373060" y="6083"/>
                  </a:lnTo>
                  <a:lnTo>
                    <a:pt x="1373060" y="0"/>
                  </a:lnTo>
                  <a:close/>
                </a:path>
                <a:path w="2286635" h="228600">
                  <a:moveTo>
                    <a:pt x="1822958" y="222491"/>
                  </a:moveTo>
                  <a:lnTo>
                    <a:pt x="1373073" y="222491"/>
                  </a:lnTo>
                  <a:lnTo>
                    <a:pt x="1373073" y="228587"/>
                  </a:lnTo>
                  <a:lnTo>
                    <a:pt x="1822958" y="228587"/>
                  </a:lnTo>
                  <a:lnTo>
                    <a:pt x="1822958" y="222491"/>
                  </a:lnTo>
                  <a:close/>
                </a:path>
                <a:path w="2286635" h="228600">
                  <a:moveTo>
                    <a:pt x="1822958" y="0"/>
                  </a:moveTo>
                  <a:lnTo>
                    <a:pt x="1373073" y="0"/>
                  </a:lnTo>
                  <a:lnTo>
                    <a:pt x="1373073" y="6083"/>
                  </a:lnTo>
                  <a:lnTo>
                    <a:pt x="1822958" y="6083"/>
                  </a:lnTo>
                  <a:lnTo>
                    <a:pt x="1822958" y="0"/>
                  </a:lnTo>
                  <a:close/>
                </a:path>
                <a:path w="2286635" h="228600">
                  <a:moveTo>
                    <a:pt x="1829117" y="6096"/>
                  </a:moveTo>
                  <a:lnTo>
                    <a:pt x="1823034" y="6096"/>
                  </a:lnTo>
                  <a:lnTo>
                    <a:pt x="1823034" y="222491"/>
                  </a:lnTo>
                  <a:lnTo>
                    <a:pt x="1823034" y="228587"/>
                  </a:lnTo>
                  <a:lnTo>
                    <a:pt x="1829117" y="228587"/>
                  </a:lnTo>
                  <a:lnTo>
                    <a:pt x="1829117" y="222491"/>
                  </a:lnTo>
                  <a:lnTo>
                    <a:pt x="1829117" y="6096"/>
                  </a:lnTo>
                  <a:close/>
                </a:path>
                <a:path w="2286635" h="228600">
                  <a:moveTo>
                    <a:pt x="1829117" y="0"/>
                  </a:moveTo>
                  <a:lnTo>
                    <a:pt x="1823034" y="0"/>
                  </a:lnTo>
                  <a:lnTo>
                    <a:pt x="1823034" y="6083"/>
                  </a:lnTo>
                  <a:lnTo>
                    <a:pt x="1829117" y="6083"/>
                  </a:lnTo>
                  <a:lnTo>
                    <a:pt x="1829117" y="0"/>
                  </a:lnTo>
                  <a:close/>
                </a:path>
                <a:path w="2286635" h="228600">
                  <a:moveTo>
                    <a:pt x="2286330" y="6096"/>
                  </a:moveTo>
                  <a:lnTo>
                    <a:pt x="2280234" y="6096"/>
                  </a:lnTo>
                  <a:lnTo>
                    <a:pt x="2280234" y="222491"/>
                  </a:lnTo>
                  <a:lnTo>
                    <a:pt x="1829130" y="222491"/>
                  </a:lnTo>
                  <a:lnTo>
                    <a:pt x="1829130" y="228587"/>
                  </a:lnTo>
                  <a:lnTo>
                    <a:pt x="2280234" y="228587"/>
                  </a:lnTo>
                  <a:lnTo>
                    <a:pt x="2286330" y="228587"/>
                  </a:lnTo>
                  <a:lnTo>
                    <a:pt x="2286330" y="222491"/>
                  </a:lnTo>
                  <a:lnTo>
                    <a:pt x="2286330" y="6096"/>
                  </a:lnTo>
                  <a:close/>
                </a:path>
                <a:path w="2286635" h="228600">
                  <a:moveTo>
                    <a:pt x="2286330" y="0"/>
                  </a:moveTo>
                  <a:lnTo>
                    <a:pt x="2280234" y="0"/>
                  </a:lnTo>
                  <a:lnTo>
                    <a:pt x="1829130" y="0"/>
                  </a:lnTo>
                  <a:lnTo>
                    <a:pt x="1829130" y="6083"/>
                  </a:lnTo>
                  <a:lnTo>
                    <a:pt x="2280234" y="6083"/>
                  </a:lnTo>
                  <a:lnTo>
                    <a:pt x="2286330" y="6083"/>
                  </a:lnTo>
                  <a:lnTo>
                    <a:pt x="2286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098671" y="7637653"/>
            <a:ext cx="2286635" cy="228600"/>
            <a:chOff x="4098671" y="7637653"/>
            <a:chExt cx="2286635" cy="228600"/>
          </a:xfrm>
        </p:grpSpPr>
        <p:sp>
          <p:nvSpPr>
            <p:cNvPr id="24" name="object 24"/>
            <p:cNvSpPr/>
            <p:nvPr/>
          </p:nvSpPr>
          <p:spPr>
            <a:xfrm>
              <a:off x="5016373" y="7643761"/>
              <a:ext cx="906144" cy="216535"/>
            </a:xfrm>
            <a:custGeom>
              <a:avLst/>
              <a:gdLst/>
              <a:ahLst/>
              <a:cxnLst/>
              <a:rect l="l" t="t" r="r" b="b"/>
              <a:pathLst>
                <a:path w="906145" h="216534">
                  <a:moveTo>
                    <a:pt x="449580" y="0"/>
                  </a:moveTo>
                  <a:lnTo>
                    <a:pt x="0" y="0"/>
                  </a:lnTo>
                  <a:lnTo>
                    <a:pt x="0" y="216395"/>
                  </a:lnTo>
                  <a:lnTo>
                    <a:pt x="449580" y="216395"/>
                  </a:lnTo>
                  <a:lnTo>
                    <a:pt x="449580" y="0"/>
                  </a:lnTo>
                  <a:close/>
                </a:path>
                <a:path w="906145" h="216534">
                  <a:moveTo>
                    <a:pt x="905560" y="0"/>
                  </a:moveTo>
                  <a:lnTo>
                    <a:pt x="455676" y="0"/>
                  </a:lnTo>
                  <a:lnTo>
                    <a:pt x="455676" y="216395"/>
                  </a:lnTo>
                  <a:lnTo>
                    <a:pt x="905560" y="216395"/>
                  </a:lnTo>
                  <a:lnTo>
                    <a:pt x="9055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98671" y="7637665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1824786" y="222491"/>
                  </a:moveTo>
                  <a:lnTo>
                    <a:pt x="1373378" y="222491"/>
                  </a:lnTo>
                  <a:lnTo>
                    <a:pt x="1373378" y="6096"/>
                  </a:lnTo>
                  <a:lnTo>
                    <a:pt x="1367282" y="6096"/>
                  </a:lnTo>
                  <a:lnTo>
                    <a:pt x="1367282" y="222491"/>
                  </a:lnTo>
                  <a:lnTo>
                    <a:pt x="917702" y="222491"/>
                  </a:lnTo>
                  <a:lnTo>
                    <a:pt x="917702" y="6096"/>
                  </a:lnTo>
                  <a:lnTo>
                    <a:pt x="911606" y="6096"/>
                  </a:lnTo>
                  <a:lnTo>
                    <a:pt x="911606" y="222491"/>
                  </a:lnTo>
                  <a:lnTo>
                    <a:pt x="462026" y="222491"/>
                  </a:lnTo>
                  <a:lnTo>
                    <a:pt x="462026" y="6096"/>
                  </a:lnTo>
                  <a:lnTo>
                    <a:pt x="455930" y="6096"/>
                  </a:lnTo>
                  <a:lnTo>
                    <a:pt x="455930" y="222491"/>
                  </a:lnTo>
                  <a:lnTo>
                    <a:pt x="6096" y="222491"/>
                  </a:lnTo>
                  <a:lnTo>
                    <a:pt x="6096" y="6096"/>
                  </a:lnTo>
                  <a:lnTo>
                    <a:pt x="0" y="6096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6096" y="228587"/>
                  </a:lnTo>
                  <a:lnTo>
                    <a:pt x="1824786" y="228587"/>
                  </a:lnTo>
                  <a:lnTo>
                    <a:pt x="1824786" y="222491"/>
                  </a:lnTo>
                  <a:close/>
                </a:path>
                <a:path w="2286635" h="228600">
                  <a:moveTo>
                    <a:pt x="1824786" y="0"/>
                  </a:moveTo>
                  <a:lnTo>
                    <a:pt x="182478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1824786" y="6083"/>
                  </a:lnTo>
                  <a:lnTo>
                    <a:pt x="1824786" y="0"/>
                  </a:lnTo>
                  <a:close/>
                </a:path>
                <a:path w="2286635" h="228600">
                  <a:moveTo>
                    <a:pt x="1830946" y="6096"/>
                  </a:moveTo>
                  <a:lnTo>
                    <a:pt x="1824863" y="6096"/>
                  </a:lnTo>
                  <a:lnTo>
                    <a:pt x="1824863" y="222491"/>
                  </a:lnTo>
                  <a:lnTo>
                    <a:pt x="1824863" y="228587"/>
                  </a:lnTo>
                  <a:lnTo>
                    <a:pt x="1830946" y="228587"/>
                  </a:lnTo>
                  <a:lnTo>
                    <a:pt x="1830946" y="222491"/>
                  </a:lnTo>
                  <a:lnTo>
                    <a:pt x="1830946" y="6096"/>
                  </a:lnTo>
                  <a:close/>
                </a:path>
                <a:path w="2286635" h="228600">
                  <a:moveTo>
                    <a:pt x="1830946" y="0"/>
                  </a:moveTo>
                  <a:lnTo>
                    <a:pt x="1824863" y="0"/>
                  </a:lnTo>
                  <a:lnTo>
                    <a:pt x="1824863" y="6083"/>
                  </a:lnTo>
                  <a:lnTo>
                    <a:pt x="1830946" y="6083"/>
                  </a:lnTo>
                  <a:lnTo>
                    <a:pt x="1830946" y="0"/>
                  </a:lnTo>
                  <a:close/>
                </a:path>
                <a:path w="2286635" h="228600">
                  <a:moveTo>
                    <a:pt x="2280526" y="222491"/>
                  </a:moveTo>
                  <a:lnTo>
                    <a:pt x="1830959" y="222491"/>
                  </a:lnTo>
                  <a:lnTo>
                    <a:pt x="1830959" y="228587"/>
                  </a:lnTo>
                  <a:lnTo>
                    <a:pt x="2280526" y="228587"/>
                  </a:lnTo>
                  <a:lnTo>
                    <a:pt x="2280526" y="222491"/>
                  </a:lnTo>
                  <a:close/>
                </a:path>
                <a:path w="2286635" h="228600">
                  <a:moveTo>
                    <a:pt x="2280526" y="0"/>
                  </a:moveTo>
                  <a:lnTo>
                    <a:pt x="1830959" y="0"/>
                  </a:lnTo>
                  <a:lnTo>
                    <a:pt x="1830959" y="6083"/>
                  </a:lnTo>
                  <a:lnTo>
                    <a:pt x="2280526" y="6083"/>
                  </a:lnTo>
                  <a:lnTo>
                    <a:pt x="2280526" y="0"/>
                  </a:lnTo>
                  <a:close/>
                </a:path>
                <a:path w="2286635" h="228600">
                  <a:moveTo>
                    <a:pt x="2286635" y="6096"/>
                  </a:moveTo>
                  <a:lnTo>
                    <a:pt x="2280539" y="6096"/>
                  </a:lnTo>
                  <a:lnTo>
                    <a:pt x="2280539" y="222491"/>
                  </a:lnTo>
                  <a:lnTo>
                    <a:pt x="2280539" y="228587"/>
                  </a:lnTo>
                  <a:lnTo>
                    <a:pt x="2286635" y="228587"/>
                  </a:lnTo>
                  <a:lnTo>
                    <a:pt x="2286635" y="222491"/>
                  </a:lnTo>
                  <a:lnTo>
                    <a:pt x="2286635" y="6096"/>
                  </a:lnTo>
                  <a:close/>
                </a:path>
                <a:path w="2286635" h="228600">
                  <a:moveTo>
                    <a:pt x="2286635" y="0"/>
                  </a:moveTo>
                  <a:lnTo>
                    <a:pt x="2280539" y="0"/>
                  </a:lnTo>
                  <a:lnTo>
                    <a:pt x="2280539" y="6083"/>
                  </a:lnTo>
                  <a:lnTo>
                    <a:pt x="2286635" y="6083"/>
                  </a:lnTo>
                  <a:lnTo>
                    <a:pt x="2286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036624" y="8723121"/>
            <a:ext cx="2286635" cy="228600"/>
            <a:chOff x="1036624" y="8723121"/>
            <a:chExt cx="2286635" cy="228600"/>
          </a:xfrm>
        </p:grpSpPr>
        <p:sp>
          <p:nvSpPr>
            <p:cNvPr id="27" name="object 27"/>
            <p:cNvSpPr/>
            <p:nvPr/>
          </p:nvSpPr>
          <p:spPr>
            <a:xfrm>
              <a:off x="1042720" y="8729230"/>
              <a:ext cx="905510" cy="216535"/>
            </a:xfrm>
            <a:custGeom>
              <a:avLst/>
              <a:gdLst/>
              <a:ahLst/>
              <a:cxnLst/>
              <a:rect l="l" t="t" r="r" b="b"/>
              <a:pathLst>
                <a:path w="905510" h="216534">
                  <a:moveTo>
                    <a:pt x="449567" y="0"/>
                  </a:moveTo>
                  <a:lnTo>
                    <a:pt x="0" y="0"/>
                  </a:lnTo>
                  <a:lnTo>
                    <a:pt x="0" y="216395"/>
                  </a:lnTo>
                  <a:lnTo>
                    <a:pt x="449567" y="216395"/>
                  </a:lnTo>
                  <a:lnTo>
                    <a:pt x="449567" y="0"/>
                  </a:lnTo>
                  <a:close/>
                </a:path>
                <a:path w="905510" h="216534">
                  <a:moveTo>
                    <a:pt x="905205" y="0"/>
                  </a:moveTo>
                  <a:lnTo>
                    <a:pt x="455625" y="0"/>
                  </a:lnTo>
                  <a:lnTo>
                    <a:pt x="455625" y="216395"/>
                  </a:lnTo>
                  <a:lnTo>
                    <a:pt x="905205" y="216395"/>
                  </a:lnTo>
                  <a:lnTo>
                    <a:pt x="90520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67278" y="8729217"/>
              <a:ext cx="449580" cy="216535"/>
            </a:xfrm>
            <a:custGeom>
              <a:avLst/>
              <a:gdLst/>
              <a:ahLst/>
              <a:cxnLst/>
              <a:rect l="l" t="t" r="r" b="b"/>
              <a:pathLst>
                <a:path w="449579" h="216534">
                  <a:moveTo>
                    <a:pt x="449580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449580" y="216407"/>
                  </a:lnTo>
                  <a:lnTo>
                    <a:pt x="4495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36624" y="8723134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917384" y="6096"/>
                  </a:moveTo>
                  <a:lnTo>
                    <a:pt x="911301" y="6096"/>
                  </a:lnTo>
                  <a:lnTo>
                    <a:pt x="911301" y="222491"/>
                  </a:lnTo>
                  <a:lnTo>
                    <a:pt x="461721" y="222491"/>
                  </a:lnTo>
                  <a:lnTo>
                    <a:pt x="461721" y="6096"/>
                  </a:lnTo>
                  <a:lnTo>
                    <a:pt x="455625" y="6096"/>
                  </a:lnTo>
                  <a:lnTo>
                    <a:pt x="455625" y="222491"/>
                  </a:lnTo>
                  <a:lnTo>
                    <a:pt x="6096" y="222491"/>
                  </a:lnTo>
                  <a:lnTo>
                    <a:pt x="6096" y="6096"/>
                  </a:lnTo>
                  <a:lnTo>
                    <a:pt x="0" y="6096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917384" y="228587"/>
                  </a:lnTo>
                  <a:lnTo>
                    <a:pt x="917384" y="222491"/>
                  </a:lnTo>
                  <a:lnTo>
                    <a:pt x="917384" y="6096"/>
                  </a:lnTo>
                  <a:close/>
                </a:path>
                <a:path w="2286635" h="228600">
                  <a:moveTo>
                    <a:pt x="917384" y="0"/>
                  </a:moveTo>
                  <a:lnTo>
                    <a:pt x="917384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917384" y="6083"/>
                  </a:lnTo>
                  <a:lnTo>
                    <a:pt x="917384" y="0"/>
                  </a:lnTo>
                  <a:close/>
                </a:path>
                <a:path w="2286635" h="228600">
                  <a:moveTo>
                    <a:pt x="1373060" y="6096"/>
                  </a:moveTo>
                  <a:lnTo>
                    <a:pt x="1366977" y="6096"/>
                  </a:lnTo>
                  <a:lnTo>
                    <a:pt x="1366977" y="222491"/>
                  </a:lnTo>
                  <a:lnTo>
                    <a:pt x="917397" y="222491"/>
                  </a:lnTo>
                  <a:lnTo>
                    <a:pt x="917397" y="228587"/>
                  </a:lnTo>
                  <a:lnTo>
                    <a:pt x="1366977" y="228587"/>
                  </a:lnTo>
                  <a:lnTo>
                    <a:pt x="1373060" y="228587"/>
                  </a:lnTo>
                  <a:lnTo>
                    <a:pt x="1373060" y="222491"/>
                  </a:lnTo>
                  <a:lnTo>
                    <a:pt x="1373060" y="6096"/>
                  </a:lnTo>
                  <a:close/>
                </a:path>
                <a:path w="2286635" h="228600">
                  <a:moveTo>
                    <a:pt x="1373060" y="0"/>
                  </a:moveTo>
                  <a:lnTo>
                    <a:pt x="1366977" y="0"/>
                  </a:lnTo>
                  <a:lnTo>
                    <a:pt x="917397" y="0"/>
                  </a:lnTo>
                  <a:lnTo>
                    <a:pt x="917397" y="6083"/>
                  </a:lnTo>
                  <a:lnTo>
                    <a:pt x="1366977" y="6083"/>
                  </a:lnTo>
                  <a:lnTo>
                    <a:pt x="1373060" y="6083"/>
                  </a:lnTo>
                  <a:lnTo>
                    <a:pt x="1373060" y="0"/>
                  </a:lnTo>
                  <a:close/>
                </a:path>
                <a:path w="2286635" h="228600">
                  <a:moveTo>
                    <a:pt x="1822958" y="222491"/>
                  </a:moveTo>
                  <a:lnTo>
                    <a:pt x="1373073" y="222491"/>
                  </a:lnTo>
                  <a:lnTo>
                    <a:pt x="1373073" y="228587"/>
                  </a:lnTo>
                  <a:lnTo>
                    <a:pt x="1822958" y="228587"/>
                  </a:lnTo>
                  <a:lnTo>
                    <a:pt x="1822958" y="222491"/>
                  </a:lnTo>
                  <a:close/>
                </a:path>
                <a:path w="2286635" h="228600">
                  <a:moveTo>
                    <a:pt x="1822958" y="0"/>
                  </a:moveTo>
                  <a:lnTo>
                    <a:pt x="1373073" y="0"/>
                  </a:lnTo>
                  <a:lnTo>
                    <a:pt x="1373073" y="6083"/>
                  </a:lnTo>
                  <a:lnTo>
                    <a:pt x="1822958" y="6083"/>
                  </a:lnTo>
                  <a:lnTo>
                    <a:pt x="1822958" y="0"/>
                  </a:lnTo>
                  <a:close/>
                </a:path>
                <a:path w="2286635" h="228600">
                  <a:moveTo>
                    <a:pt x="1829117" y="6096"/>
                  </a:moveTo>
                  <a:lnTo>
                    <a:pt x="1823034" y="6096"/>
                  </a:lnTo>
                  <a:lnTo>
                    <a:pt x="1823034" y="222491"/>
                  </a:lnTo>
                  <a:lnTo>
                    <a:pt x="1823034" y="228587"/>
                  </a:lnTo>
                  <a:lnTo>
                    <a:pt x="1829117" y="228587"/>
                  </a:lnTo>
                  <a:lnTo>
                    <a:pt x="1829117" y="222491"/>
                  </a:lnTo>
                  <a:lnTo>
                    <a:pt x="1829117" y="6096"/>
                  </a:lnTo>
                  <a:close/>
                </a:path>
                <a:path w="2286635" h="228600">
                  <a:moveTo>
                    <a:pt x="1829117" y="0"/>
                  </a:moveTo>
                  <a:lnTo>
                    <a:pt x="1823034" y="0"/>
                  </a:lnTo>
                  <a:lnTo>
                    <a:pt x="1823034" y="6083"/>
                  </a:lnTo>
                  <a:lnTo>
                    <a:pt x="1829117" y="6083"/>
                  </a:lnTo>
                  <a:lnTo>
                    <a:pt x="1829117" y="0"/>
                  </a:lnTo>
                  <a:close/>
                </a:path>
                <a:path w="2286635" h="228600">
                  <a:moveTo>
                    <a:pt x="2286330" y="6096"/>
                  </a:moveTo>
                  <a:lnTo>
                    <a:pt x="2280234" y="6096"/>
                  </a:lnTo>
                  <a:lnTo>
                    <a:pt x="2280234" y="222491"/>
                  </a:lnTo>
                  <a:lnTo>
                    <a:pt x="1829130" y="222491"/>
                  </a:lnTo>
                  <a:lnTo>
                    <a:pt x="1829130" y="228587"/>
                  </a:lnTo>
                  <a:lnTo>
                    <a:pt x="2280234" y="228587"/>
                  </a:lnTo>
                  <a:lnTo>
                    <a:pt x="2286330" y="228587"/>
                  </a:lnTo>
                  <a:lnTo>
                    <a:pt x="2286330" y="222491"/>
                  </a:lnTo>
                  <a:lnTo>
                    <a:pt x="2286330" y="6096"/>
                  </a:lnTo>
                  <a:close/>
                </a:path>
                <a:path w="2286635" h="228600">
                  <a:moveTo>
                    <a:pt x="2286330" y="0"/>
                  </a:moveTo>
                  <a:lnTo>
                    <a:pt x="2280234" y="0"/>
                  </a:lnTo>
                  <a:lnTo>
                    <a:pt x="1829130" y="0"/>
                  </a:lnTo>
                  <a:lnTo>
                    <a:pt x="1829130" y="6083"/>
                  </a:lnTo>
                  <a:lnTo>
                    <a:pt x="2280234" y="6083"/>
                  </a:lnTo>
                  <a:lnTo>
                    <a:pt x="2286330" y="6083"/>
                  </a:lnTo>
                  <a:lnTo>
                    <a:pt x="2286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097146" y="8723121"/>
            <a:ext cx="2285365" cy="228600"/>
            <a:chOff x="4097146" y="8723121"/>
            <a:chExt cx="2285365" cy="228600"/>
          </a:xfrm>
        </p:grpSpPr>
        <p:sp>
          <p:nvSpPr>
            <p:cNvPr id="31" name="object 31"/>
            <p:cNvSpPr/>
            <p:nvPr/>
          </p:nvSpPr>
          <p:spPr>
            <a:xfrm>
              <a:off x="4101719" y="8729230"/>
              <a:ext cx="905510" cy="216535"/>
            </a:xfrm>
            <a:custGeom>
              <a:avLst/>
              <a:gdLst/>
              <a:ahLst/>
              <a:cxnLst/>
              <a:rect l="l" t="t" r="r" b="b"/>
              <a:pathLst>
                <a:path w="905510" h="216534">
                  <a:moveTo>
                    <a:pt x="449884" y="0"/>
                  </a:moveTo>
                  <a:lnTo>
                    <a:pt x="0" y="0"/>
                  </a:lnTo>
                  <a:lnTo>
                    <a:pt x="0" y="216395"/>
                  </a:lnTo>
                  <a:lnTo>
                    <a:pt x="449884" y="216395"/>
                  </a:lnTo>
                  <a:lnTo>
                    <a:pt x="449884" y="0"/>
                  </a:lnTo>
                  <a:close/>
                </a:path>
                <a:path w="905510" h="216534">
                  <a:moveTo>
                    <a:pt x="905510" y="0"/>
                  </a:moveTo>
                  <a:lnTo>
                    <a:pt x="455930" y="0"/>
                  </a:lnTo>
                  <a:lnTo>
                    <a:pt x="455930" y="216395"/>
                  </a:lnTo>
                  <a:lnTo>
                    <a:pt x="905510" y="216395"/>
                  </a:lnTo>
                  <a:lnTo>
                    <a:pt x="9055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26581" y="8729217"/>
              <a:ext cx="449580" cy="216535"/>
            </a:xfrm>
            <a:custGeom>
              <a:avLst/>
              <a:gdLst/>
              <a:ahLst/>
              <a:cxnLst/>
              <a:rect l="l" t="t" r="r" b="b"/>
              <a:pathLst>
                <a:path w="449579" h="216534">
                  <a:moveTo>
                    <a:pt x="449579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449579" y="216407"/>
                  </a:lnTo>
                  <a:lnTo>
                    <a:pt x="4495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97147" y="8723134"/>
              <a:ext cx="2285365" cy="228600"/>
            </a:xfrm>
            <a:custGeom>
              <a:avLst/>
              <a:gdLst/>
              <a:ahLst/>
              <a:cxnLst/>
              <a:rect l="l" t="t" r="r" b="b"/>
              <a:pathLst>
                <a:path w="2285365" h="228600">
                  <a:moveTo>
                    <a:pt x="1823262" y="222491"/>
                  </a:moveTo>
                  <a:lnTo>
                    <a:pt x="1373378" y="222491"/>
                  </a:lnTo>
                  <a:lnTo>
                    <a:pt x="1373378" y="6096"/>
                  </a:lnTo>
                  <a:lnTo>
                    <a:pt x="1367282" y="6096"/>
                  </a:lnTo>
                  <a:lnTo>
                    <a:pt x="1367282" y="222491"/>
                  </a:lnTo>
                  <a:lnTo>
                    <a:pt x="917702" y="222491"/>
                  </a:lnTo>
                  <a:lnTo>
                    <a:pt x="917702" y="6096"/>
                  </a:lnTo>
                  <a:lnTo>
                    <a:pt x="911606" y="6096"/>
                  </a:lnTo>
                  <a:lnTo>
                    <a:pt x="911606" y="222491"/>
                  </a:lnTo>
                  <a:lnTo>
                    <a:pt x="462026" y="222491"/>
                  </a:lnTo>
                  <a:lnTo>
                    <a:pt x="462026" y="6096"/>
                  </a:lnTo>
                  <a:lnTo>
                    <a:pt x="455930" y="6096"/>
                  </a:lnTo>
                  <a:lnTo>
                    <a:pt x="455930" y="222491"/>
                  </a:lnTo>
                  <a:lnTo>
                    <a:pt x="6096" y="222491"/>
                  </a:lnTo>
                  <a:lnTo>
                    <a:pt x="6096" y="6096"/>
                  </a:lnTo>
                  <a:lnTo>
                    <a:pt x="0" y="6096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6096" y="228587"/>
                  </a:lnTo>
                  <a:lnTo>
                    <a:pt x="1823262" y="228587"/>
                  </a:lnTo>
                  <a:lnTo>
                    <a:pt x="1823262" y="222491"/>
                  </a:lnTo>
                  <a:close/>
                </a:path>
                <a:path w="2285365" h="228600">
                  <a:moveTo>
                    <a:pt x="1823262" y="0"/>
                  </a:moveTo>
                  <a:lnTo>
                    <a:pt x="1823262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1823262" y="6083"/>
                  </a:lnTo>
                  <a:lnTo>
                    <a:pt x="1823262" y="0"/>
                  </a:lnTo>
                  <a:close/>
                </a:path>
                <a:path w="2285365" h="228600">
                  <a:moveTo>
                    <a:pt x="2285111" y="6096"/>
                  </a:moveTo>
                  <a:lnTo>
                    <a:pt x="2279015" y="6096"/>
                  </a:lnTo>
                  <a:lnTo>
                    <a:pt x="2279015" y="222491"/>
                  </a:lnTo>
                  <a:lnTo>
                    <a:pt x="1829435" y="222491"/>
                  </a:lnTo>
                  <a:lnTo>
                    <a:pt x="1829435" y="6096"/>
                  </a:lnTo>
                  <a:lnTo>
                    <a:pt x="1823339" y="6096"/>
                  </a:lnTo>
                  <a:lnTo>
                    <a:pt x="1823339" y="222491"/>
                  </a:lnTo>
                  <a:lnTo>
                    <a:pt x="1823339" y="228587"/>
                  </a:lnTo>
                  <a:lnTo>
                    <a:pt x="1829435" y="228587"/>
                  </a:lnTo>
                  <a:lnTo>
                    <a:pt x="2279015" y="228587"/>
                  </a:lnTo>
                  <a:lnTo>
                    <a:pt x="2285111" y="228587"/>
                  </a:lnTo>
                  <a:lnTo>
                    <a:pt x="2285111" y="222491"/>
                  </a:lnTo>
                  <a:lnTo>
                    <a:pt x="2285111" y="6096"/>
                  </a:lnTo>
                  <a:close/>
                </a:path>
                <a:path w="2285365" h="228600">
                  <a:moveTo>
                    <a:pt x="2285111" y="0"/>
                  </a:moveTo>
                  <a:lnTo>
                    <a:pt x="2279015" y="0"/>
                  </a:lnTo>
                  <a:lnTo>
                    <a:pt x="1829435" y="0"/>
                  </a:lnTo>
                  <a:lnTo>
                    <a:pt x="1823339" y="0"/>
                  </a:lnTo>
                  <a:lnTo>
                    <a:pt x="1823339" y="6083"/>
                  </a:lnTo>
                  <a:lnTo>
                    <a:pt x="1829435" y="6083"/>
                  </a:lnTo>
                  <a:lnTo>
                    <a:pt x="2279015" y="6083"/>
                  </a:lnTo>
                  <a:lnTo>
                    <a:pt x="2285111" y="6083"/>
                  </a:lnTo>
                  <a:lnTo>
                    <a:pt x="2285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036624" y="9122409"/>
            <a:ext cx="2286635" cy="228600"/>
            <a:chOff x="1036624" y="9122409"/>
            <a:chExt cx="2286635" cy="228600"/>
          </a:xfrm>
        </p:grpSpPr>
        <p:sp>
          <p:nvSpPr>
            <p:cNvPr id="35" name="object 35"/>
            <p:cNvSpPr/>
            <p:nvPr/>
          </p:nvSpPr>
          <p:spPr>
            <a:xfrm>
              <a:off x="1498346" y="9128518"/>
              <a:ext cx="906780" cy="216535"/>
            </a:xfrm>
            <a:custGeom>
              <a:avLst/>
              <a:gdLst/>
              <a:ahLst/>
              <a:cxnLst/>
              <a:rect l="l" t="t" r="r" b="b"/>
              <a:pathLst>
                <a:path w="906780" h="216534">
                  <a:moveTo>
                    <a:pt x="449580" y="0"/>
                  </a:moveTo>
                  <a:lnTo>
                    <a:pt x="0" y="0"/>
                  </a:lnTo>
                  <a:lnTo>
                    <a:pt x="0" y="216395"/>
                  </a:lnTo>
                  <a:lnTo>
                    <a:pt x="449580" y="216395"/>
                  </a:lnTo>
                  <a:lnTo>
                    <a:pt x="449580" y="0"/>
                  </a:lnTo>
                  <a:close/>
                </a:path>
                <a:path w="906780" h="216534">
                  <a:moveTo>
                    <a:pt x="906780" y="0"/>
                  </a:moveTo>
                  <a:lnTo>
                    <a:pt x="457200" y="0"/>
                  </a:lnTo>
                  <a:lnTo>
                    <a:pt x="457200" y="216395"/>
                  </a:lnTo>
                  <a:lnTo>
                    <a:pt x="906780" y="216395"/>
                  </a:lnTo>
                  <a:lnTo>
                    <a:pt x="9067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67278" y="9128505"/>
              <a:ext cx="449580" cy="216535"/>
            </a:xfrm>
            <a:custGeom>
              <a:avLst/>
              <a:gdLst/>
              <a:ahLst/>
              <a:cxnLst/>
              <a:rect l="l" t="t" r="r" b="b"/>
              <a:pathLst>
                <a:path w="449579" h="216534">
                  <a:moveTo>
                    <a:pt x="449580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449580" y="216407"/>
                  </a:lnTo>
                  <a:lnTo>
                    <a:pt x="4495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36624" y="9122422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917384" y="6096"/>
                  </a:moveTo>
                  <a:lnTo>
                    <a:pt x="911301" y="6096"/>
                  </a:lnTo>
                  <a:lnTo>
                    <a:pt x="911301" y="222491"/>
                  </a:lnTo>
                  <a:lnTo>
                    <a:pt x="461721" y="222491"/>
                  </a:lnTo>
                  <a:lnTo>
                    <a:pt x="461721" y="6096"/>
                  </a:lnTo>
                  <a:lnTo>
                    <a:pt x="455625" y="6096"/>
                  </a:lnTo>
                  <a:lnTo>
                    <a:pt x="455625" y="222491"/>
                  </a:lnTo>
                  <a:lnTo>
                    <a:pt x="6096" y="222491"/>
                  </a:lnTo>
                  <a:lnTo>
                    <a:pt x="6096" y="6096"/>
                  </a:lnTo>
                  <a:lnTo>
                    <a:pt x="0" y="6096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917384" y="228587"/>
                  </a:lnTo>
                  <a:lnTo>
                    <a:pt x="917384" y="222491"/>
                  </a:lnTo>
                  <a:lnTo>
                    <a:pt x="917384" y="6096"/>
                  </a:lnTo>
                  <a:close/>
                </a:path>
                <a:path w="2286635" h="228600">
                  <a:moveTo>
                    <a:pt x="917384" y="0"/>
                  </a:moveTo>
                  <a:lnTo>
                    <a:pt x="917384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917384" y="6083"/>
                  </a:lnTo>
                  <a:lnTo>
                    <a:pt x="917384" y="0"/>
                  </a:lnTo>
                  <a:close/>
                </a:path>
                <a:path w="2286635" h="228600">
                  <a:moveTo>
                    <a:pt x="1373060" y="6096"/>
                  </a:moveTo>
                  <a:lnTo>
                    <a:pt x="1366977" y="6096"/>
                  </a:lnTo>
                  <a:lnTo>
                    <a:pt x="1366977" y="222491"/>
                  </a:lnTo>
                  <a:lnTo>
                    <a:pt x="917397" y="222491"/>
                  </a:lnTo>
                  <a:lnTo>
                    <a:pt x="917397" y="228587"/>
                  </a:lnTo>
                  <a:lnTo>
                    <a:pt x="1366977" y="228587"/>
                  </a:lnTo>
                  <a:lnTo>
                    <a:pt x="1373060" y="228587"/>
                  </a:lnTo>
                  <a:lnTo>
                    <a:pt x="1373060" y="222491"/>
                  </a:lnTo>
                  <a:lnTo>
                    <a:pt x="1373060" y="6096"/>
                  </a:lnTo>
                  <a:close/>
                </a:path>
                <a:path w="2286635" h="228600">
                  <a:moveTo>
                    <a:pt x="1373060" y="0"/>
                  </a:moveTo>
                  <a:lnTo>
                    <a:pt x="1366977" y="0"/>
                  </a:lnTo>
                  <a:lnTo>
                    <a:pt x="917397" y="0"/>
                  </a:lnTo>
                  <a:lnTo>
                    <a:pt x="917397" y="6083"/>
                  </a:lnTo>
                  <a:lnTo>
                    <a:pt x="1366977" y="6083"/>
                  </a:lnTo>
                  <a:lnTo>
                    <a:pt x="1373060" y="6083"/>
                  </a:lnTo>
                  <a:lnTo>
                    <a:pt x="1373060" y="0"/>
                  </a:lnTo>
                  <a:close/>
                </a:path>
                <a:path w="2286635" h="228600">
                  <a:moveTo>
                    <a:pt x="1822958" y="222491"/>
                  </a:moveTo>
                  <a:lnTo>
                    <a:pt x="1373073" y="222491"/>
                  </a:lnTo>
                  <a:lnTo>
                    <a:pt x="1373073" y="228587"/>
                  </a:lnTo>
                  <a:lnTo>
                    <a:pt x="1822958" y="228587"/>
                  </a:lnTo>
                  <a:lnTo>
                    <a:pt x="1822958" y="222491"/>
                  </a:lnTo>
                  <a:close/>
                </a:path>
                <a:path w="2286635" h="228600">
                  <a:moveTo>
                    <a:pt x="1822958" y="0"/>
                  </a:moveTo>
                  <a:lnTo>
                    <a:pt x="1373073" y="0"/>
                  </a:lnTo>
                  <a:lnTo>
                    <a:pt x="1373073" y="6083"/>
                  </a:lnTo>
                  <a:lnTo>
                    <a:pt x="1822958" y="6083"/>
                  </a:lnTo>
                  <a:lnTo>
                    <a:pt x="1822958" y="0"/>
                  </a:lnTo>
                  <a:close/>
                </a:path>
                <a:path w="2286635" h="228600">
                  <a:moveTo>
                    <a:pt x="1829117" y="6096"/>
                  </a:moveTo>
                  <a:lnTo>
                    <a:pt x="1823034" y="6096"/>
                  </a:lnTo>
                  <a:lnTo>
                    <a:pt x="1823034" y="222491"/>
                  </a:lnTo>
                  <a:lnTo>
                    <a:pt x="1823034" y="228587"/>
                  </a:lnTo>
                  <a:lnTo>
                    <a:pt x="1829117" y="228587"/>
                  </a:lnTo>
                  <a:lnTo>
                    <a:pt x="1829117" y="222491"/>
                  </a:lnTo>
                  <a:lnTo>
                    <a:pt x="1829117" y="6096"/>
                  </a:lnTo>
                  <a:close/>
                </a:path>
                <a:path w="2286635" h="228600">
                  <a:moveTo>
                    <a:pt x="1829117" y="0"/>
                  </a:moveTo>
                  <a:lnTo>
                    <a:pt x="1823034" y="0"/>
                  </a:lnTo>
                  <a:lnTo>
                    <a:pt x="1823034" y="6083"/>
                  </a:lnTo>
                  <a:lnTo>
                    <a:pt x="1829117" y="6083"/>
                  </a:lnTo>
                  <a:lnTo>
                    <a:pt x="1829117" y="0"/>
                  </a:lnTo>
                  <a:close/>
                </a:path>
                <a:path w="2286635" h="228600">
                  <a:moveTo>
                    <a:pt x="2286330" y="6096"/>
                  </a:moveTo>
                  <a:lnTo>
                    <a:pt x="2280234" y="6096"/>
                  </a:lnTo>
                  <a:lnTo>
                    <a:pt x="2280234" y="222491"/>
                  </a:lnTo>
                  <a:lnTo>
                    <a:pt x="1829130" y="222491"/>
                  </a:lnTo>
                  <a:lnTo>
                    <a:pt x="1829130" y="228587"/>
                  </a:lnTo>
                  <a:lnTo>
                    <a:pt x="2280234" y="228587"/>
                  </a:lnTo>
                  <a:lnTo>
                    <a:pt x="2286330" y="228587"/>
                  </a:lnTo>
                  <a:lnTo>
                    <a:pt x="2286330" y="222491"/>
                  </a:lnTo>
                  <a:lnTo>
                    <a:pt x="2286330" y="6096"/>
                  </a:lnTo>
                  <a:close/>
                </a:path>
                <a:path w="2286635" h="228600">
                  <a:moveTo>
                    <a:pt x="2286330" y="0"/>
                  </a:moveTo>
                  <a:lnTo>
                    <a:pt x="2280234" y="0"/>
                  </a:lnTo>
                  <a:lnTo>
                    <a:pt x="1829130" y="0"/>
                  </a:lnTo>
                  <a:lnTo>
                    <a:pt x="1829130" y="6083"/>
                  </a:lnTo>
                  <a:lnTo>
                    <a:pt x="2280234" y="6083"/>
                  </a:lnTo>
                  <a:lnTo>
                    <a:pt x="2286330" y="6083"/>
                  </a:lnTo>
                  <a:lnTo>
                    <a:pt x="2286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4097146" y="9122409"/>
            <a:ext cx="2285365" cy="228600"/>
            <a:chOff x="4097146" y="9122409"/>
            <a:chExt cx="2285365" cy="228600"/>
          </a:xfrm>
        </p:grpSpPr>
        <p:sp>
          <p:nvSpPr>
            <p:cNvPr id="39" name="object 39"/>
            <p:cNvSpPr/>
            <p:nvPr/>
          </p:nvSpPr>
          <p:spPr>
            <a:xfrm>
              <a:off x="4557649" y="9128518"/>
              <a:ext cx="906780" cy="216535"/>
            </a:xfrm>
            <a:custGeom>
              <a:avLst/>
              <a:gdLst/>
              <a:ahLst/>
              <a:cxnLst/>
              <a:rect l="l" t="t" r="r" b="b"/>
              <a:pathLst>
                <a:path w="906779" h="216534">
                  <a:moveTo>
                    <a:pt x="449580" y="0"/>
                  </a:moveTo>
                  <a:lnTo>
                    <a:pt x="0" y="0"/>
                  </a:lnTo>
                  <a:lnTo>
                    <a:pt x="0" y="216395"/>
                  </a:lnTo>
                  <a:lnTo>
                    <a:pt x="449580" y="216395"/>
                  </a:lnTo>
                  <a:lnTo>
                    <a:pt x="449580" y="0"/>
                  </a:lnTo>
                  <a:close/>
                </a:path>
                <a:path w="906779" h="216534">
                  <a:moveTo>
                    <a:pt x="906780" y="0"/>
                  </a:moveTo>
                  <a:lnTo>
                    <a:pt x="457200" y="0"/>
                  </a:lnTo>
                  <a:lnTo>
                    <a:pt x="457200" y="216395"/>
                  </a:lnTo>
                  <a:lnTo>
                    <a:pt x="906780" y="216395"/>
                  </a:lnTo>
                  <a:lnTo>
                    <a:pt x="9067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26581" y="9128505"/>
              <a:ext cx="449580" cy="216535"/>
            </a:xfrm>
            <a:custGeom>
              <a:avLst/>
              <a:gdLst/>
              <a:ahLst/>
              <a:cxnLst/>
              <a:rect l="l" t="t" r="r" b="b"/>
              <a:pathLst>
                <a:path w="449579" h="216534">
                  <a:moveTo>
                    <a:pt x="449579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449579" y="216407"/>
                  </a:lnTo>
                  <a:lnTo>
                    <a:pt x="4495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97147" y="9122422"/>
              <a:ext cx="2285365" cy="228600"/>
            </a:xfrm>
            <a:custGeom>
              <a:avLst/>
              <a:gdLst/>
              <a:ahLst/>
              <a:cxnLst/>
              <a:rect l="l" t="t" r="r" b="b"/>
              <a:pathLst>
                <a:path w="2285365" h="228600">
                  <a:moveTo>
                    <a:pt x="1823262" y="222491"/>
                  </a:moveTo>
                  <a:lnTo>
                    <a:pt x="1373378" y="222491"/>
                  </a:lnTo>
                  <a:lnTo>
                    <a:pt x="1373378" y="6096"/>
                  </a:lnTo>
                  <a:lnTo>
                    <a:pt x="1367282" y="6096"/>
                  </a:lnTo>
                  <a:lnTo>
                    <a:pt x="1367282" y="222491"/>
                  </a:lnTo>
                  <a:lnTo>
                    <a:pt x="917702" y="222491"/>
                  </a:lnTo>
                  <a:lnTo>
                    <a:pt x="917702" y="6096"/>
                  </a:lnTo>
                  <a:lnTo>
                    <a:pt x="911606" y="6096"/>
                  </a:lnTo>
                  <a:lnTo>
                    <a:pt x="911606" y="222491"/>
                  </a:lnTo>
                  <a:lnTo>
                    <a:pt x="462026" y="222491"/>
                  </a:lnTo>
                  <a:lnTo>
                    <a:pt x="462026" y="6096"/>
                  </a:lnTo>
                  <a:lnTo>
                    <a:pt x="455930" y="6096"/>
                  </a:lnTo>
                  <a:lnTo>
                    <a:pt x="455930" y="222491"/>
                  </a:lnTo>
                  <a:lnTo>
                    <a:pt x="6096" y="222491"/>
                  </a:lnTo>
                  <a:lnTo>
                    <a:pt x="6096" y="6096"/>
                  </a:lnTo>
                  <a:lnTo>
                    <a:pt x="0" y="6096"/>
                  </a:lnTo>
                  <a:lnTo>
                    <a:pt x="0" y="222491"/>
                  </a:lnTo>
                  <a:lnTo>
                    <a:pt x="0" y="228587"/>
                  </a:lnTo>
                  <a:lnTo>
                    <a:pt x="6096" y="228587"/>
                  </a:lnTo>
                  <a:lnTo>
                    <a:pt x="1823262" y="228587"/>
                  </a:lnTo>
                  <a:lnTo>
                    <a:pt x="1823262" y="222491"/>
                  </a:lnTo>
                  <a:close/>
                </a:path>
                <a:path w="2285365" h="228600">
                  <a:moveTo>
                    <a:pt x="1823262" y="0"/>
                  </a:moveTo>
                  <a:lnTo>
                    <a:pt x="1823262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1823262" y="6083"/>
                  </a:lnTo>
                  <a:lnTo>
                    <a:pt x="1823262" y="0"/>
                  </a:lnTo>
                  <a:close/>
                </a:path>
                <a:path w="2285365" h="228600">
                  <a:moveTo>
                    <a:pt x="2285111" y="6096"/>
                  </a:moveTo>
                  <a:lnTo>
                    <a:pt x="2279015" y="6096"/>
                  </a:lnTo>
                  <a:lnTo>
                    <a:pt x="2279015" y="222491"/>
                  </a:lnTo>
                  <a:lnTo>
                    <a:pt x="1829435" y="222491"/>
                  </a:lnTo>
                  <a:lnTo>
                    <a:pt x="1829435" y="6096"/>
                  </a:lnTo>
                  <a:lnTo>
                    <a:pt x="1823339" y="6096"/>
                  </a:lnTo>
                  <a:lnTo>
                    <a:pt x="1823339" y="222491"/>
                  </a:lnTo>
                  <a:lnTo>
                    <a:pt x="1823339" y="228587"/>
                  </a:lnTo>
                  <a:lnTo>
                    <a:pt x="1829435" y="228587"/>
                  </a:lnTo>
                  <a:lnTo>
                    <a:pt x="2279015" y="228587"/>
                  </a:lnTo>
                  <a:lnTo>
                    <a:pt x="2285111" y="228587"/>
                  </a:lnTo>
                  <a:lnTo>
                    <a:pt x="2285111" y="222491"/>
                  </a:lnTo>
                  <a:lnTo>
                    <a:pt x="2285111" y="6096"/>
                  </a:lnTo>
                  <a:close/>
                </a:path>
                <a:path w="2285365" h="228600">
                  <a:moveTo>
                    <a:pt x="2285111" y="0"/>
                  </a:moveTo>
                  <a:lnTo>
                    <a:pt x="2279015" y="0"/>
                  </a:lnTo>
                  <a:lnTo>
                    <a:pt x="1829435" y="0"/>
                  </a:lnTo>
                  <a:lnTo>
                    <a:pt x="1823339" y="0"/>
                  </a:lnTo>
                  <a:lnTo>
                    <a:pt x="1823339" y="6083"/>
                  </a:lnTo>
                  <a:lnTo>
                    <a:pt x="1829435" y="6083"/>
                  </a:lnTo>
                  <a:lnTo>
                    <a:pt x="2279015" y="6083"/>
                  </a:lnTo>
                  <a:lnTo>
                    <a:pt x="2285111" y="6083"/>
                  </a:lnTo>
                  <a:lnTo>
                    <a:pt x="2285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817168" y="6381876"/>
          <a:ext cx="5765795" cy="3366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01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9240">
                <a:tc gridSpan="13">
                  <a:txBody>
                    <a:bodyPr/>
                    <a:lstStyle/>
                    <a:p>
                      <a:pPr marL="263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 rowSpan="3" gridSpan="2">
                  <a:txBody>
                    <a:bodyPr/>
                    <a:lstStyle/>
                    <a:p>
                      <a:pPr marL="139065" marR="139700" indent="-139065" algn="r">
                        <a:lnSpc>
                          <a:spcPts val="1275"/>
                        </a:lnSpc>
                        <a:buAutoNum type="arabicPeriod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4160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9065" marR="139700" indent="-139065" algn="r">
                        <a:lnSpc>
                          <a:spcPct val="100000"/>
                        </a:lnSpc>
                        <a:spcBef>
                          <a:spcPts val="185"/>
                        </a:spcBef>
                        <a:buAutoNum type="arabicPeriod" startAt="2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9065" marR="139700" indent="-139065" algn="r">
                        <a:lnSpc>
                          <a:spcPct val="100000"/>
                        </a:lnSpc>
                        <a:spcBef>
                          <a:spcPts val="185"/>
                        </a:spcBef>
                        <a:buAutoNum type="arabicPeriod" startAt="3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8161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9065" marR="139700" indent="-139065" algn="r">
                        <a:lnSpc>
                          <a:spcPct val="100000"/>
                        </a:lnSpc>
                        <a:spcBef>
                          <a:spcPts val="185"/>
                        </a:spcBef>
                        <a:buAutoNum type="arabicPeriod" startAt="4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15494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4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 gridSpan="13">
                  <a:txBody>
                    <a:bodyPr/>
                    <a:lstStyle/>
                    <a:p>
                      <a:pPr marL="26352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4725">
                <a:tc gridSpan="2">
                  <a:txBody>
                    <a:bodyPr/>
                    <a:lstStyle/>
                    <a:p>
                      <a:pPr marL="139065" marR="139700" indent="-139065" algn="r">
                        <a:lnSpc>
                          <a:spcPts val="1275"/>
                        </a:lnSpc>
                        <a:buAutoNum type="arabicPeriod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8161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9065" marR="139700" indent="-139065" algn="r">
                        <a:lnSpc>
                          <a:spcPct val="100000"/>
                        </a:lnSpc>
                        <a:spcBef>
                          <a:spcPts val="180"/>
                        </a:spcBef>
                        <a:buAutoNum type="arabicPeriod" startAt="2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8161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9065" marR="139700" indent="-139065" algn="r">
                        <a:lnSpc>
                          <a:spcPct val="100000"/>
                        </a:lnSpc>
                        <a:spcBef>
                          <a:spcPts val="185"/>
                        </a:spcBef>
                        <a:buAutoNum type="arabicPeriod" startAt="3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15494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4361815" y="6685152"/>
            <a:ext cx="838835" cy="550545"/>
          </a:xfrm>
          <a:custGeom>
            <a:avLst/>
            <a:gdLst/>
            <a:ahLst/>
            <a:cxnLst/>
            <a:rect l="l" t="t" r="r" b="b"/>
            <a:pathLst>
              <a:path w="838835" h="550545">
                <a:moveTo>
                  <a:pt x="351663" y="94996"/>
                </a:moveTo>
                <a:lnTo>
                  <a:pt x="338836" y="94996"/>
                </a:lnTo>
                <a:lnTo>
                  <a:pt x="315315" y="65659"/>
                </a:lnTo>
                <a:lnTo>
                  <a:pt x="282536" y="43180"/>
                </a:lnTo>
                <a:lnTo>
                  <a:pt x="242849" y="28816"/>
                </a:lnTo>
                <a:lnTo>
                  <a:pt x="198628" y="23749"/>
                </a:lnTo>
                <a:lnTo>
                  <a:pt x="150304" y="29768"/>
                </a:lnTo>
                <a:lnTo>
                  <a:pt x="108356" y="46520"/>
                </a:lnTo>
                <a:lnTo>
                  <a:pt x="75298" y="72059"/>
                </a:lnTo>
                <a:lnTo>
                  <a:pt x="53619" y="104444"/>
                </a:lnTo>
                <a:lnTo>
                  <a:pt x="45847" y="141732"/>
                </a:lnTo>
                <a:lnTo>
                  <a:pt x="54102" y="141732"/>
                </a:lnTo>
                <a:lnTo>
                  <a:pt x="59931" y="110896"/>
                </a:lnTo>
                <a:lnTo>
                  <a:pt x="76542" y="83045"/>
                </a:lnTo>
                <a:lnTo>
                  <a:pt x="102641" y="59740"/>
                </a:lnTo>
                <a:lnTo>
                  <a:pt x="136906" y="42545"/>
                </a:lnTo>
                <a:lnTo>
                  <a:pt x="181394" y="32854"/>
                </a:lnTo>
                <a:lnTo>
                  <a:pt x="226047" y="34112"/>
                </a:lnTo>
                <a:lnTo>
                  <a:pt x="267690" y="45466"/>
                </a:lnTo>
                <a:lnTo>
                  <a:pt x="303161" y="66052"/>
                </a:lnTo>
                <a:lnTo>
                  <a:pt x="329311" y="94996"/>
                </a:lnTo>
                <a:lnTo>
                  <a:pt x="316611" y="94996"/>
                </a:lnTo>
                <a:lnTo>
                  <a:pt x="347345" y="141732"/>
                </a:lnTo>
                <a:lnTo>
                  <a:pt x="351663" y="94996"/>
                </a:lnTo>
                <a:close/>
              </a:path>
              <a:path w="838835" h="550545">
                <a:moveTo>
                  <a:pt x="384302" y="145923"/>
                </a:moveTo>
                <a:lnTo>
                  <a:pt x="377520" y="107124"/>
                </a:lnTo>
                <a:lnTo>
                  <a:pt x="358381" y="72250"/>
                </a:lnTo>
                <a:lnTo>
                  <a:pt x="328714" y="42722"/>
                </a:lnTo>
                <a:lnTo>
                  <a:pt x="290309" y="19913"/>
                </a:lnTo>
                <a:lnTo>
                  <a:pt x="244995" y="5219"/>
                </a:lnTo>
                <a:lnTo>
                  <a:pt x="194564" y="0"/>
                </a:lnTo>
                <a:lnTo>
                  <a:pt x="137909" y="6654"/>
                </a:lnTo>
                <a:lnTo>
                  <a:pt x="87452" y="25501"/>
                </a:lnTo>
                <a:lnTo>
                  <a:pt x="46342" y="54864"/>
                </a:lnTo>
                <a:lnTo>
                  <a:pt x="17780" y="93091"/>
                </a:lnTo>
                <a:lnTo>
                  <a:pt x="0" y="93726"/>
                </a:lnTo>
                <a:lnTo>
                  <a:pt x="8763" y="152400"/>
                </a:lnTo>
                <a:lnTo>
                  <a:pt x="43942" y="92202"/>
                </a:lnTo>
                <a:lnTo>
                  <a:pt x="26289" y="92837"/>
                </a:lnTo>
                <a:lnTo>
                  <a:pt x="50876" y="60744"/>
                </a:lnTo>
                <a:lnTo>
                  <a:pt x="84556" y="35547"/>
                </a:lnTo>
                <a:lnTo>
                  <a:pt x="125031" y="17957"/>
                </a:lnTo>
                <a:lnTo>
                  <a:pt x="170027" y="8699"/>
                </a:lnTo>
                <a:lnTo>
                  <a:pt x="217284" y="8496"/>
                </a:lnTo>
                <a:lnTo>
                  <a:pt x="264541" y="18034"/>
                </a:lnTo>
                <a:lnTo>
                  <a:pt x="310819" y="39204"/>
                </a:lnTo>
                <a:lnTo>
                  <a:pt x="346265" y="69024"/>
                </a:lnTo>
                <a:lnTo>
                  <a:pt x="368935" y="105333"/>
                </a:lnTo>
                <a:lnTo>
                  <a:pt x="376936" y="145923"/>
                </a:lnTo>
                <a:lnTo>
                  <a:pt x="384302" y="145923"/>
                </a:lnTo>
                <a:close/>
              </a:path>
              <a:path w="838835" h="550545">
                <a:moveTo>
                  <a:pt x="805688" y="493141"/>
                </a:moveTo>
                <a:lnTo>
                  <a:pt x="792861" y="493141"/>
                </a:lnTo>
                <a:lnTo>
                  <a:pt x="769340" y="463804"/>
                </a:lnTo>
                <a:lnTo>
                  <a:pt x="736561" y="441325"/>
                </a:lnTo>
                <a:lnTo>
                  <a:pt x="696874" y="426961"/>
                </a:lnTo>
                <a:lnTo>
                  <a:pt x="652653" y="421894"/>
                </a:lnTo>
                <a:lnTo>
                  <a:pt x="604329" y="427913"/>
                </a:lnTo>
                <a:lnTo>
                  <a:pt x="562381" y="444665"/>
                </a:lnTo>
                <a:lnTo>
                  <a:pt x="529323" y="470204"/>
                </a:lnTo>
                <a:lnTo>
                  <a:pt x="507644" y="502589"/>
                </a:lnTo>
                <a:lnTo>
                  <a:pt x="499872" y="539877"/>
                </a:lnTo>
                <a:lnTo>
                  <a:pt x="508127" y="539877"/>
                </a:lnTo>
                <a:lnTo>
                  <a:pt x="513956" y="509041"/>
                </a:lnTo>
                <a:lnTo>
                  <a:pt x="530567" y="481190"/>
                </a:lnTo>
                <a:lnTo>
                  <a:pt x="556666" y="457885"/>
                </a:lnTo>
                <a:lnTo>
                  <a:pt x="590931" y="440690"/>
                </a:lnTo>
                <a:lnTo>
                  <a:pt x="635419" y="430999"/>
                </a:lnTo>
                <a:lnTo>
                  <a:pt x="680072" y="432257"/>
                </a:lnTo>
                <a:lnTo>
                  <a:pt x="721715" y="443611"/>
                </a:lnTo>
                <a:lnTo>
                  <a:pt x="757186" y="464197"/>
                </a:lnTo>
                <a:lnTo>
                  <a:pt x="783336" y="493141"/>
                </a:lnTo>
                <a:lnTo>
                  <a:pt x="770636" y="493141"/>
                </a:lnTo>
                <a:lnTo>
                  <a:pt x="801370" y="539877"/>
                </a:lnTo>
                <a:lnTo>
                  <a:pt x="805688" y="493141"/>
                </a:lnTo>
                <a:close/>
              </a:path>
              <a:path w="838835" h="550545">
                <a:moveTo>
                  <a:pt x="838327" y="544068"/>
                </a:moveTo>
                <a:lnTo>
                  <a:pt x="831545" y="505269"/>
                </a:lnTo>
                <a:lnTo>
                  <a:pt x="812406" y="470395"/>
                </a:lnTo>
                <a:lnTo>
                  <a:pt x="782739" y="440867"/>
                </a:lnTo>
                <a:lnTo>
                  <a:pt x="744334" y="418058"/>
                </a:lnTo>
                <a:lnTo>
                  <a:pt x="699020" y="403364"/>
                </a:lnTo>
                <a:lnTo>
                  <a:pt x="648589" y="398145"/>
                </a:lnTo>
                <a:lnTo>
                  <a:pt x="591934" y="404799"/>
                </a:lnTo>
                <a:lnTo>
                  <a:pt x="541477" y="423646"/>
                </a:lnTo>
                <a:lnTo>
                  <a:pt x="500367" y="453009"/>
                </a:lnTo>
                <a:lnTo>
                  <a:pt x="471805" y="491236"/>
                </a:lnTo>
                <a:lnTo>
                  <a:pt x="454025" y="491871"/>
                </a:lnTo>
                <a:lnTo>
                  <a:pt x="462788" y="550545"/>
                </a:lnTo>
                <a:lnTo>
                  <a:pt x="497967" y="490347"/>
                </a:lnTo>
                <a:lnTo>
                  <a:pt x="480314" y="490982"/>
                </a:lnTo>
                <a:lnTo>
                  <a:pt x="504901" y="458889"/>
                </a:lnTo>
                <a:lnTo>
                  <a:pt x="538581" y="433692"/>
                </a:lnTo>
                <a:lnTo>
                  <a:pt x="579056" y="416102"/>
                </a:lnTo>
                <a:lnTo>
                  <a:pt x="624052" y="406844"/>
                </a:lnTo>
                <a:lnTo>
                  <a:pt x="671309" y="406641"/>
                </a:lnTo>
                <a:lnTo>
                  <a:pt x="718566" y="416179"/>
                </a:lnTo>
                <a:lnTo>
                  <a:pt x="764844" y="437349"/>
                </a:lnTo>
                <a:lnTo>
                  <a:pt x="800290" y="467169"/>
                </a:lnTo>
                <a:lnTo>
                  <a:pt x="822960" y="503478"/>
                </a:lnTo>
                <a:lnTo>
                  <a:pt x="830961" y="544068"/>
                </a:lnTo>
                <a:lnTo>
                  <a:pt x="838327" y="544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730240" y="7885048"/>
            <a:ext cx="384810" cy="152400"/>
          </a:xfrm>
          <a:custGeom>
            <a:avLst/>
            <a:gdLst/>
            <a:ahLst/>
            <a:cxnLst/>
            <a:rect l="l" t="t" r="r" b="b"/>
            <a:pathLst>
              <a:path w="384810" h="152400">
                <a:moveTo>
                  <a:pt x="351663" y="94996"/>
                </a:moveTo>
                <a:lnTo>
                  <a:pt x="338836" y="94996"/>
                </a:lnTo>
                <a:lnTo>
                  <a:pt x="315315" y="65671"/>
                </a:lnTo>
                <a:lnTo>
                  <a:pt x="282536" y="43243"/>
                </a:lnTo>
                <a:lnTo>
                  <a:pt x="242849" y="28917"/>
                </a:lnTo>
                <a:lnTo>
                  <a:pt x="198628" y="23876"/>
                </a:lnTo>
                <a:lnTo>
                  <a:pt x="150304" y="29883"/>
                </a:lnTo>
                <a:lnTo>
                  <a:pt x="108356" y="46609"/>
                </a:lnTo>
                <a:lnTo>
                  <a:pt x="75298" y="72110"/>
                </a:lnTo>
                <a:lnTo>
                  <a:pt x="53619" y="104457"/>
                </a:lnTo>
                <a:lnTo>
                  <a:pt x="45847" y="141732"/>
                </a:lnTo>
                <a:lnTo>
                  <a:pt x="54102" y="141732"/>
                </a:lnTo>
                <a:lnTo>
                  <a:pt x="59931" y="110896"/>
                </a:lnTo>
                <a:lnTo>
                  <a:pt x="76542" y="83058"/>
                </a:lnTo>
                <a:lnTo>
                  <a:pt x="102641" y="59804"/>
                </a:lnTo>
                <a:lnTo>
                  <a:pt x="136906" y="42672"/>
                </a:lnTo>
                <a:lnTo>
                  <a:pt x="181394" y="32918"/>
                </a:lnTo>
                <a:lnTo>
                  <a:pt x="226047" y="34137"/>
                </a:lnTo>
                <a:lnTo>
                  <a:pt x="267690" y="45478"/>
                </a:lnTo>
                <a:lnTo>
                  <a:pt x="303161" y="66052"/>
                </a:lnTo>
                <a:lnTo>
                  <a:pt x="329311" y="94996"/>
                </a:lnTo>
                <a:lnTo>
                  <a:pt x="316611" y="94996"/>
                </a:lnTo>
                <a:lnTo>
                  <a:pt x="347345" y="141732"/>
                </a:lnTo>
                <a:lnTo>
                  <a:pt x="351663" y="94996"/>
                </a:lnTo>
                <a:close/>
              </a:path>
              <a:path w="384810" h="152400">
                <a:moveTo>
                  <a:pt x="384302" y="145923"/>
                </a:moveTo>
                <a:lnTo>
                  <a:pt x="377520" y="107162"/>
                </a:lnTo>
                <a:lnTo>
                  <a:pt x="358381" y="72313"/>
                </a:lnTo>
                <a:lnTo>
                  <a:pt x="328714" y="42773"/>
                </a:lnTo>
                <a:lnTo>
                  <a:pt x="290309" y="19939"/>
                </a:lnTo>
                <a:lnTo>
                  <a:pt x="244995" y="5219"/>
                </a:lnTo>
                <a:lnTo>
                  <a:pt x="194564" y="0"/>
                </a:lnTo>
                <a:lnTo>
                  <a:pt x="137909" y="6680"/>
                </a:lnTo>
                <a:lnTo>
                  <a:pt x="87452" y="25552"/>
                </a:lnTo>
                <a:lnTo>
                  <a:pt x="46342" y="54927"/>
                </a:lnTo>
                <a:lnTo>
                  <a:pt x="17780" y="93091"/>
                </a:lnTo>
                <a:lnTo>
                  <a:pt x="0" y="93726"/>
                </a:lnTo>
                <a:lnTo>
                  <a:pt x="8763" y="152400"/>
                </a:lnTo>
                <a:lnTo>
                  <a:pt x="43942" y="92202"/>
                </a:lnTo>
                <a:lnTo>
                  <a:pt x="26289" y="92837"/>
                </a:lnTo>
                <a:lnTo>
                  <a:pt x="50876" y="60744"/>
                </a:lnTo>
                <a:lnTo>
                  <a:pt x="84556" y="35547"/>
                </a:lnTo>
                <a:lnTo>
                  <a:pt x="125031" y="17957"/>
                </a:lnTo>
                <a:lnTo>
                  <a:pt x="170027" y="8699"/>
                </a:lnTo>
                <a:lnTo>
                  <a:pt x="217284" y="8496"/>
                </a:lnTo>
                <a:lnTo>
                  <a:pt x="264541" y="18034"/>
                </a:lnTo>
                <a:lnTo>
                  <a:pt x="310819" y="39217"/>
                </a:lnTo>
                <a:lnTo>
                  <a:pt x="346265" y="69075"/>
                </a:lnTo>
                <a:lnTo>
                  <a:pt x="368935" y="105384"/>
                </a:lnTo>
                <a:lnTo>
                  <a:pt x="376936" y="145923"/>
                </a:lnTo>
                <a:lnTo>
                  <a:pt x="384302" y="145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361307" y="8571229"/>
            <a:ext cx="384175" cy="152400"/>
          </a:xfrm>
          <a:custGeom>
            <a:avLst/>
            <a:gdLst/>
            <a:ahLst/>
            <a:cxnLst/>
            <a:rect l="l" t="t" r="r" b="b"/>
            <a:pathLst>
              <a:path w="384175" h="152400">
                <a:moveTo>
                  <a:pt x="351536" y="94996"/>
                </a:moveTo>
                <a:lnTo>
                  <a:pt x="338709" y="94996"/>
                </a:lnTo>
                <a:lnTo>
                  <a:pt x="315188" y="65671"/>
                </a:lnTo>
                <a:lnTo>
                  <a:pt x="282409" y="43243"/>
                </a:lnTo>
                <a:lnTo>
                  <a:pt x="242722" y="28917"/>
                </a:lnTo>
                <a:lnTo>
                  <a:pt x="198501" y="23876"/>
                </a:lnTo>
                <a:lnTo>
                  <a:pt x="150177" y="29883"/>
                </a:lnTo>
                <a:lnTo>
                  <a:pt x="108229" y="46609"/>
                </a:lnTo>
                <a:lnTo>
                  <a:pt x="75171" y="72110"/>
                </a:lnTo>
                <a:lnTo>
                  <a:pt x="53492" y="104457"/>
                </a:lnTo>
                <a:lnTo>
                  <a:pt x="45720" y="141732"/>
                </a:lnTo>
                <a:lnTo>
                  <a:pt x="53975" y="141732"/>
                </a:lnTo>
                <a:lnTo>
                  <a:pt x="59804" y="110896"/>
                </a:lnTo>
                <a:lnTo>
                  <a:pt x="76415" y="83045"/>
                </a:lnTo>
                <a:lnTo>
                  <a:pt x="102514" y="59740"/>
                </a:lnTo>
                <a:lnTo>
                  <a:pt x="136779" y="42545"/>
                </a:lnTo>
                <a:lnTo>
                  <a:pt x="181267" y="32854"/>
                </a:lnTo>
                <a:lnTo>
                  <a:pt x="225920" y="34112"/>
                </a:lnTo>
                <a:lnTo>
                  <a:pt x="267563" y="45466"/>
                </a:lnTo>
                <a:lnTo>
                  <a:pt x="303034" y="66052"/>
                </a:lnTo>
                <a:lnTo>
                  <a:pt x="329184" y="94996"/>
                </a:lnTo>
                <a:lnTo>
                  <a:pt x="316484" y="94996"/>
                </a:lnTo>
                <a:lnTo>
                  <a:pt x="347218" y="141732"/>
                </a:lnTo>
                <a:lnTo>
                  <a:pt x="351536" y="94996"/>
                </a:lnTo>
                <a:close/>
              </a:path>
              <a:path w="384175" h="152400">
                <a:moveTo>
                  <a:pt x="384175" y="145923"/>
                </a:moveTo>
                <a:lnTo>
                  <a:pt x="377393" y="107162"/>
                </a:lnTo>
                <a:lnTo>
                  <a:pt x="358267" y="72313"/>
                </a:lnTo>
                <a:lnTo>
                  <a:pt x="328612" y="42773"/>
                </a:lnTo>
                <a:lnTo>
                  <a:pt x="290220" y="19939"/>
                </a:lnTo>
                <a:lnTo>
                  <a:pt x="244944" y="5219"/>
                </a:lnTo>
                <a:lnTo>
                  <a:pt x="194564" y="0"/>
                </a:lnTo>
                <a:lnTo>
                  <a:pt x="137845" y="6654"/>
                </a:lnTo>
                <a:lnTo>
                  <a:pt x="87337" y="25501"/>
                </a:lnTo>
                <a:lnTo>
                  <a:pt x="46215" y="54864"/>
                </a:lnTo>
                <a:lnTo>
                  <a:pt x="17653" y="93091"/>
                </a:lnTo>
                <a:lnTo>
                  <a:pt x="0" y="93726"/>
                </a:lnTo>
                <a:lnTo>
                  <a:pt x="8636" y="152400"/>
                </a:lnTo>
                <a:lnTo>
                  <a:pt x="43815" y="92202"/>
                </a:lnTo>
                <a:lnTo>
                  <a:pt x="26162" y="92837"/>
                </a:lnTo>
                <a:lnTo>
                  <a:pt x="50749" y="60744"/>
                </a:lnTo>
                <a:lnTo>
                  <a:pt x="84429" y="35547"/>
                </a:lnTo>
                <a:lnTo>
                  <a:pt x="124891" y="17957"/>
                </a:lnTo>
                <a:lnTo>
                  <a:pt x="169900" y="8699"/>
                </a:lnTo>
                <a:lnTo>
                  <a:pt x="217157" y="8496"/>
                </a:lnTo>
                <a:lnTo>
                  <a:pt x="264414" y="18034"/>
                </a:lnTo>
                <a:lnTo>
                  <a:pt x="310692" y="39204"/>
                </a:lnTo>
                <a:lnTo>
                  <a:pt x="346125" y="69024"/>
                </a:lnTo>
                <a:lnTo>
                  <a:pt x="368808" y="105333"/>
                </a:lnTo>
                <a:lnTo>
                  <a:pt x="376809" y="145923"/>
                </a:lnTo>
                <a:lnTo>
                  <a:pt x="384175" y="145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272532" y="9369551"/>
            <a:ext cx="384175" cy="152400"/>
          </a:xfrm>
          <a:custGeom>
            <a:avLst/>
            <a:gdLst/>
            <a:ahLst/>
            <a:cxnLst/>
            <a:rect l="l" t="t" r="r" b="b"/>
            <a:pathLst>
              <a:path w="384175" h="152400">
                <a:moveTo>
                  <a:pt x="351536" y="94907"/>
                </a:moveTo>
                <a:lnTo>
                  <a:pt x="338709" y="94907"/>
                </a:lnTo>
                <a:lnTo>
                  <a:pt x="315188" y="65557"/>
                </a:lnTo>
                <a:lnTo>
                  <a:pt x="282409" y="43129"/>
                </a:lnTo>
                <a:lnTo>
                  <a:pt x="242722" y="28790"/>
                </a:lnTo>
                <a:lnTo>
                  <a:pt x="198501" y="23749"/>
                </a:lnTo>
                <a:lnTo>
                  <a:pt x="150177" y="29768"/>
                </a:lnTo>
                <a:lnTo>
                  <a:pt x="108229" y="46507"/>
                </a:lnTo>
                <a:lnTo>
                  <a:pt x="75171" y="72034"/>
                </a:lnTo>
                <a:lnTo>
                  <a:pt x="53492" y="104406"/>
                </a:lnTo>
                <a:lnTo>
                  <a:pt x="45720" y="141668"/>
                </a:lnTo>
                <a:lnTo>
                  <a:pt x="53975" y="141668"/>
                </a:lnTo>
                <a:lnTo>
                  <a:pt x="59804" y="110832"/>
                </a:lnTo>
                <a:lnTo>
                  <a:pt x="76415" y="82994"/>
                </a:lnTo>
                <a:lnTo>
                  <a:pt x="102514" y="59715"/>
                </a:lnTo>
                <a:lnTo>
                  <a:pt x="136779" y="42545"/>
                </a:lnTo>
                <a:lnTo>
                  <a:pt x="181267" y="32842"/>
                </a:lnTo>
                <a:lnTo>
                  <a:pt x="225920" y="34074"/>
                </a:lnTo>
                <a:lnTo>
                  <a:pt x="267563" y="45389"/>
                </a:lnTo>
                <a:lnTo>
                  <a:pt x="303034" y="65963"/>
                </a:lnTo>
                <a:lnTo>
                  <a:pt x="329184" y="94907"/>
                </a:lnTo>
                <a:lnTo>
                  <a:pt x="316484" y="94907"/>
                </a:lnTo>
                <a:lnTo>
                  <a:pt x="347218" y="141668"/>
                </a:lnTo>
                <a:lnTo>
                  <a:pt x="351536" y="94907"/>
                </a:lnTo>
                <a:close/>
              </a:path>
              <a:path w="384175" h="152400">
                <a:moveTo>
                  <a:pt x="384175" y="145872"/>
                </a:moveTo>
                <a:lnTo>
                  <a:pt x="377393" y="107099"/>
                </a:lnTo>
                <a:lnTo>
                  <a:pt x="358267" y="72250"/>
                </a:lnTo>
                <a:lnTo>
                  <a:pt x="328612" y="42722"/>
                </a:lnTo>
                <a:lnTo>
                  <a:pt x="290220" y="19913"/>
                </a:lnTo>
                <a:lnTo>
                  <a:pt x="244944" y="5219"/>
                </a:lnTo>
                <a:lnTo>
                  <a:pt x="194564" y="0"/>
                </a:lnTo>
                <a:lnTo>
                  <a:pt x="137845" y="6654"/>
                </a:lnTo>
                <a:lnTo>
                  <a:pt x="87337" y="25501"/>
                </a:lnTo>
                <a:lnTo>
                  <a:pt x="46215" y="54851"/>
                </a:lnTo>
                <a:lnTo>
                  <a:pt x="17653" y="93052"/>
                </a:lnTo>
                <a:lnTo>
                  <a:pt x="0" y="93662"/>
                </a:lnTo>
                <a:lnTo>
                  <a:pt x="8636" y="152298"/>
                </a:lnTo>
                <a:lnTo>
                  <a:pt x="43815" y="92151"/>
                </a:lnTo>
                <a:lnTo>
                  <a:pt x="26162" y="92760"/>
                </a:lnTo>
                <a:lnTo>
                  <a:pt x="50749" y="60655"/>
                </a:lnTo>
                <a:lnTo>
                  <a:pt x="84429" y="35458"/>
                </a:lnTo>
                <a:lnTo>
                  <a:pt x="124891" y="17881"/>
                </a:lnTo>
                <a:lnTo>
                  <a:pt x="169900" y="8636"/>
                </a:lnTo>
                <a:lnTo>
                  <a:pt x="217157" y="8407"/>
                </a:lnTo>
                <a:lnTo>
                  <a:pt x="264414" y="17907"/>
                </a:lnTo>
                <a:lnTo>
                  <a:pt x="310692" y="39141"/>
                </a:lnTo>
                <a:lnTo>
                  <a:pt x="346125" y="68999"/>
                </a:lnTo>
                <a:lnTo>
                  <a:pt x="368808" y="105308"/>
                </a:lnTo>
                <a:lnTo>
                  <a:pt x="376809" y="145872"/>
                </a:lnTo>
                <a:lnTo>
                  <a:pt x="384175" y="145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8148" y="1475485"/>
            <a:ext cx="2286635" cy="228600"/>
            <a:chOff x="1038148" y="1475485"/>
            <a:chExt cx="2286635" cy="228600"/>
          </a:xfrm>
        </p:grpSpPr>
        <p:sp>
          <p:nvSpPr>
            <p:cNvPr id="3" name="object 3"/>
            <p:cNvSpPr/>
            <p:nvPr/>
          </p:nvSpPr>
          <p:spPr>
            <a:xfrm>
              <a:off x="1044244" y="1481581"/>
              <a:ext cx="906780" cy="216535"/>
            </a:xfrm>
            <a:custGeom>
              <a:avLst/>
              <a:gdLst/>
              <a:ahLst/>
              <a:cxnLst/>
              <a:rect l="l" t="t" r="r" b="b"/>
              <a:pathLst>
                <a:path w="906780" h="216535">
                  <a:moveTo>
                    <a:pt x="449580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49580" y="216408"/>
                  </a:lnTo>
                  <a:lnTo>
                    <a:pt x="449580" y="0"/>
                  </a:lnTo>
                  <a:close/>
                </a:path>
                <a:path w="906780" h="216535">
                  <a:moveTo>
                    <a:pt x="906729" y="0"/>
                  </a:moveTo>
                  <a:lnTo>
                    <a:pt x="457149" y="0"/>
                  </a:lnTo>
                  <a:lnTo>
                    <a:pt x="457149" y="216408"/>
                  </a:lnTo>
                  <a:lnTo>
                    <a:pt x="906729" y="216408"/>
                  </a:lnTo>
                  <a:lnTo>
                    <a:pt x="90672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12746" y="1481581"/>
              <a:ext cx="906144" cy="216535"/>
            </a:xfrm>
            <a:custGeom>
              <a:avLst/>
              <a:gdLst/>
              <a:ahLst/>
              <a:cxnLst/>
              <a:rect l="l" t="t" r="r" b="b"/>
              <a:pathLst>
                <a:path w="906145" h="216535">
                  <a:moveTo>
                    <a:pt x="44988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49884" y="216408"/>
                  </a:lnTo>
                  <a:lnTo>
                    <a:pt x="449884" y="0"/>
                  </a:lnTo>
                  <a:close/>
                </a:path>
                <a:path w="906145" h="216535">
                  <a:moveTo>
                    <a:pt x="905624" y="0"/>
                  </a:moveTo>
                  <a:lnTo>
                    <a:pt x="456057" y="0"/>
                  </a:lnTo>
                  <a:lnTo>
                    <a:pt x="456057" y="216408"/>
                  </a:lnTo>
                  <a:lnTo>
                    <a:pt x="905624" y="216408"/>
                  </a:lnTo>
                  <a:lnTo>
                    <a:pt x="90562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8148" y="1475485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1373060" y="0"/>
                  </a:moveTo>
                  <a:lnTo>
                    <a:pt x="1366977" y="0"/>
                  </a:lnTo>
                  <a:lnTo>
                    <a:pt x="1366977" y="6096"/>
                  </a:lnTo>
                  <a:lnTo>
                    <a:pt x="1366977" y="222504"/>
                  </a:lnTo>
                  <a:lnTo>
                    <a:pt x="917397" y="222504"/>
                  </a:lnTo>
                  <a:lnTo>
                    <a:pt x="917397" y="6096"/>
                  </a:lnTo>
                  <a:lnTo>
                    <a:pt x="1366977" y="6096"/>
                  </a:lnTo>
                  <a:lnTo>
                    <a:pt x="1366977" y="0"/>
                  </a:lnTo>
                  <a:lnTo>
                    <a:pt x="917397" y="0"/>
                  </a:lnTo>
                  <a:lnTo>
                    <a:pt x="911301" y="0"/>
                  </a:lnTo>
                  <a:lnTo>
                    <a:pt x="911301" y="6096"/>
                  </a:lnTo>
                  <a:lnTo>
                    <a:pt x="911301" y="222504"/>
                  </a:lnTo>
                  <a:lnTo>
                    <a:pt x="461721" y="222504"/>
                  </a:lnTo>
                  <a:lnTo>
                    <a:pt x="461721" y="6096"/>
                  </a:lnTo>
                  <a:lnTo>
                    <a:pt x="911301" y="6096"/>
                  </a:lnTo>
                  <a:lnTo>
                    <a:pt x="911301" y="0"/>
                  </a:lnTo>
                  <a:lnTo>
                    <a:pt x="461721" y="0"/>
                  </a:lnTo>
                  <a:lnTo>
                    <a:pt x="455676" y="0"/>
                  </a:lnTo>
                  <a:lnTo>
                    <a:pt x="455625" y="6096"/>
                  </a:lnTo>
                  <a:lnTo>
                    <a:pt x="455625" y="222504"/>
                  </a:lnTo>
                  <a:lnTo>
                    <a:pt x="6096" y="222504"/>
                  </a:lnTo>
                  <a:lnTo>
                    <a:pt x="6096" y="6096"/>
                  </a:lnTo>
                  <a:lnTo>
                    <a:pt x="455625" y="6096"/>
                  </a:lnTo>
                  <a:lnTo>
                    <a:pt x="455625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222504"/>
                  </a:lnTo>
                  <a:lnTo>
                    <a:pt x="0" y="228600"/>
                  </a:lnTo>
                  <a:lnTo>
                    <a:pt x="6096" y="228600"/>
                  </a:lnTo>
                  <a:lnTo>
                    <a:pt x="1373060" y="228600"/>
                  </a:lnTo>
                  <a:lnTo>
                    <a:pt x="1373060" y="222504"/>
                  </a:lnTo>
                  <a:lnTo>
                    <a:pt x="1373060" y="6096"/>
                  </a:lnTo>
                  <a:lnTo>
                    <a:pt x="1373060" y="0"/>
                  </a:lnTo>
                  <a:close/>
                </a:path>
                <a:path w="2286635" h="228600">
                  <a:moveTo>
                    <a:pt x="1824482" y="222504"/>
                  </a:moveTo>
                  <a:lnTo>
                    <a:pt x="1373073" y="222504"/>
                  </a:lnTo>
                  <a:lnTo>
                    <a:pt x="1373073" y="228600"/>
                  </a:lnTo>
                  <a:lnTo>
                    <a:pt x="1824482" y="228600"/>
                  </a:lnTo>
                  <a:lnTo>
                    <a:pt x="1824482" y="222504"/>
                  </a:lnTo>
                  <a:close/>
                </a:path>
                <a:path w="2286635" h="228600">
                  <a:moveTo>
                    <a:pt x="1824482" y="0"/>
                  </a:moveTo>
                  <a:lnTo>
                    <a:pt x="1373073" y="0"/>
                  </a:lnTo>
                  <a:lnTo>
                    <a:pt x="1373073" y="6096"/>
                  </a:lnTo>
                  <a:lnTo>
                    <a:pt x="1824482" y="6096"/>
                  </a:lnTo>
                  <a:lnTo>
                    <a:pt x="1824482" y="0"/>
                  </a:lnTo>
                  <a:close/>
                </a:path>
                <a:path w="2286635" h="228600">
                  <a:moveTo>
                    <a:pt x="2280221" y="0"/>
                  </a:moveTo>
                  <a:lnTo>
                    <a:pt x="1830654" y="0"/>
                  </a:lnTo>
                  <a:lnTo>
                    <a:pt x="1824558" y="0"/>
                  </a:lnTo>
                  <a:lnTo>
                    <a:pt x="1824558" y="6096"/>
                  </a:lnTo>
                  <a:lnTo>
                    <a:pt x="1824558" y="222504"/>
                  </a:lnTo>
                  <a:lnTo>
                    <a:pt x="1824558" y="228600"/>
                  </a:lnTo>
                  <a:lnTo>
                    <a:pt x="1830654" y="228600"/>
                  </a:lnTo>
                  <a:lnTo>
                    <a:pt x="2280221" y="228600"/>
                  </a:lnTo>
                  <a:lnTo>
                    <a:pt x="2280221" y="222504"/>
                  </a:lnTo>
                  <a:lnTo>
                    <a:pt x="1830654" y="222504"/>
                  </a:lnTo>
                  <a:lnTo>
                    <a:pt x="1830654" y="6096"/>
                  </a:lnTo>
                  <a:lnTo>
                    <a:pt x="2280221" y="6096"/>
                  </a:lnTo>
                  <a:lnTo>
                    <a:pt x="2280221" y="0"/>
                  </a:lnTo>
                  <a:close/>
                </a:path>
                <a:path w="2286635" h="228600">
                  <a:moveTo>
                    <a:pt x="2286330" y="0"/>
                  </a:moveTo>
                  <a:lnTo>
                    <a:pt x="2280234" y="0"/>
                  </a:lnTo>
                  <a:lnTo>
                    <a:pt x="2280234" y="6096"/>
                  </a:lnTo>
                  <a:lnTo>
                    <a:pt x="2280234" y="222504"/>
                  </a:lnTo>
                  <a:lnTo>
                    <a:pt x="2280234" y="228600"/>
                  </a:lnTo>
                  <a:lnTo>
                    <a:pt x="2286330" y="228600"/>
                  </a:lnTo>
                  <a:lnTo>
                    <a:pt x="2286330" y="222504"/>
                  </a:lnTo>
                  <a:lnTo>
                    <a:pt x="2286330" y="6096"/>
                  </a:lnTo>
                  <a:lnTo>
                    <a:pt x="2286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095622" y="1475485"/>
            <a:ext cx="2286635" cy="228600"/>
            <a:chOff x="4095622" y="1475485"/>
            <a:chExt cx="2286635" cy="228600"/>
          </a:xfrm>
        </p:grpSpPr>
        <p:sp>
          <p:nvSpPr>
            <p:cNvPr id="7" name="object 7"/>
            <p:cNvSpPr/>
            <p:nvPr/>
          </p:nvSpPr>
          <p:spPr>
            <a:xfrm>
              <a:off x="4101719" y="1481581"/>
              <a:ext cx="905510" cy="216535"/>
            </a:xfrm>
            <a:custGeom>
              <a:avLst/>
              <a:gdLst/>
              <a:ahLst/>
              <a:cxnLst/>
              <a:rect l="l" t="t" r="r" b="b"/>
              <a:pathLst>
                <a:path w="905510" h="216535">
                  <a:moveTo>
                    <a:pt x="44988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49884" y="216408"/>
                  </a:lnTo>
                  <a:lnTo>
                    <a:pt x="449884" y="0"/>
                  </a:lnTo>
                  <a:close/>
                </a:path>
                <a:path w="905510" h="216535">
                  <a:moveTo>
                    <a:pt x="905510" y="0"/>
                  </a:moveTo>
                  <a:lnTo>
                    <a:pt x="455930" y="0"/>
                  </a:lnTo>
                  <a:lnTo>
                    <a:pt x="455930" y="216408"/>
                  </a:lnTo>
                  <a:lnTo>
                    <a:pt x="905510" y="216408"/>
                  </a:lnTo>
                  <a:lnTo>
                    <a:pt x="9055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69001" y="1481581"/>
              <a:ext cx="906144" cy="216535"/>
            </a:xfrm>
            <a:custGeom>
              <a:avLst/>
              <a:gdLst/>
              <a:ahLst/>
              <a:cxnLst/>
              <a:rect l="l" t="t" r="r" b="b"/>
              <a:pathLst>
                <a:path w="906145" h="216535">
                  <a:moveTo>
                    <a:pt x="44988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49884" y="216408"/>
                  </a:lnTo>
                  <a:lnTo>
                    <a:pt x="449884" y="0"/>
                  </a:lnTo>
                  <a:close/>
                </a:path>
                <a:path w="906145" h="216535">
                  <a:moveTo>
                    <a:pt x="905637" y="0"/>
                  </a:moveTo>
                  <a:lnTo>
                    <a:pt x="457581" y="0"/>
                  </a:lnTo>
                  <a:lnTo>
                    <a:pt x="457581" y="216408"/>
                  </a:lnTo>
                  <a:lnTo>
                    <a:pt x="905637" y="216408"/>
                  </a:lnTo>
                  <a:lnTo>
                    <a:pt x="90563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95623" y="1475485"/>
              <a:ext cx="2286635" cy="228600"/>
            </a:xfrm>
            <a:custGeom>
              <a:avLst/>
              <a:gdLst/>
              <a:ahLst/>
              <a:cxnLst/>
              <a:rect l="l" t="t" r="r" b="b"/>
              <a:pathLst>
                <a:path w="2286635" h="228600">
                  <a:moveTo>
                    <a:pt x="1373365" y="0"/>
                  </a:moveTo>
                  <a:lnTo>
                    <a:pt x="1367282" y="0"/>
                  </a:lnTo>
                  <a:lnTo>
                    <a:pt x="1367282" y="6096"/>
                  </a:lnTo>
                  <a:lnTo>
                    <a:pt x="1367282" y="222504"/>
                  </a:lnTo>
                  <a:lnTo>
                    <a:pt x="917702" y="222504"/>
                  </a:lnTo>
                  <a:lnTo>
                    <a:pt x="917702" y="6096"/>
                  </a:lnTo>
                  <a:lnTo>
                    <a:pt x="1367282" y="6096"/>
                  </a:lnTo>
                  <a:lnTo>
                    <a:pt x="1367282" y="0"/>
                  </a:lnTo>
                  <a:lnTo>
                    <a:pt x="917702" y="0"/>
                  </a:lnTo>
                  <a:lnTo>
                    <a:pt x="911606" y="0"/>
                  </a:lnTo>
                  <a:lnTo>
                    <a:pt x="911606" y="6096"/>
                  </a:lnTo>
                  <a:lnTo>
                    <a:pt x="911606" y="222504"/>
                  </a:lnTo>
                  <a:lnTo>
                    <a:pt x="462026" y="222504"/>
                  </a:lnTo>
                  <a:lnTo>
                    <a:pt x="462026" y="6096"/>
                  </a:lnTo>
                  <a:lnTo>
                    <a:pt x="911606" y="6096"/>
                  </a:lnTo>
                  <a:lnTo>
                    <a:pt x="911606" y="0"/>
                  </a:lnTo>
                  <a:lnTo>
                    <a:pt x="462026" y="0"/>
                  </a:lnTo>
                  <a:lnTo>
                    <a:pt x="455980" y="0"/>
                  </a:lnTo>
                  <a:lnTo>
                    <a:pt x="455930" y="6096"/>
                  </a:lnTo>
                  <a:lnTo>
                    <a:pt x="455930" y="222504"/>
                  </a:lnTo>
                  <a:lnTo>
                    <a:pt x="6096" y="222504"/>
                  </a:lnTo>
                  <a:lnTo>
                    <a:pt x="6096" y="6096"/>
                  </a:lnTo>
                  <a:lnTo>
                    <a:pt x="455930" y="6096"/>
                  </a:lnTo>
                  <a:lnTo>
                    <a:pt x="45593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222504"/>
                  </a:lnTo>
                  <a:lnTo>
                    <a:pt x="0" y="228600"/>
                  </a:lnTo>
                  <a:lnTo>
                    <a:pt x="6096" y="228600"/>
                  </a:lnTo>
                  <a:lnTo>
                    <a:pt x="1373365" y="228600"/>
                  </a:lnTo>
                  <a:lnTo>
                    <a:pt x="1373365" y="222504"/>
                  </a:lnTo>
                  <a:lnTo>
                    <a:pt x="1373365" y="6096"/>
                  </a:lnTo>
                  <a:lnTo>
                    <a:pt x="1373365" y="0"/>
                  </a:lnTo>
                  <a:close/>
                </a:path>
                <a:path w="2286635" h="228600">
                  <a:moveTo>
                    <a:pt x="1824786" y="222504"/>
                  </a:moveTo>
                  <a:lnTo>
                    <a:pt x="1373378" y="222504"/>
                  </a:lnTo>
                  <a:lnTo>
                    <a:pt x="1373378" y="228600"/>
                  </a:lnTo>
                  <a:lnTo>
                    <a:pt x="1824786" y="228600"/>
                  </a:lnTo>
                  <a:lnTo>
                    <a:pt x="1824786" y="222504"/>
                  </a:lnTo>
                  <a:close/>
                </a:path>
                <a:path w="2286635" h="228600">
                  <a:moveTo>
                    <a:pt x="1824786" y="0"/>
                  </a:moveTo>
                  <a:lnTo>
                    <a:pt x="1373378" y="0"/>
                  </a:lnTo>
                  <a:lnTo>
                    <a:pt x="1373378" y="6096"/>
                  </a:lnTo>
                  <a:lnTo>
                    <a:pt x="1824786" y="6096"/>
                  </a:lnTo>
                  <a:lnTo>
                    <a:pt x="1824786" y="0"/>
                  </a:lnTo>
                  <a:close/>
                </a:path>
                <a:path w="2286635" h="228600">
                  <a:moveTo>
                    <a:pt x="2286635" y="0"/>
                  </a:moveTo>
                  <a:lnTo>
                    <a:pt x="2280539" y="0"/>
                  </a:lnTo>
                  <a:lnTo>
                    <a:pt x="2280539" y="6096"/>
                  </a:lnTo>
                  <a:lnTo>
                    <a:pt x="2280539" y="222504"/>
                  </a:lnTo>
                  <a:lnTo>
                    <a:pt x="1830959" y="222504"/>
                  </a:lnTo>
                  <a:lnTo>
                    <a:pt x="1830959" y="6096"/>
                  </a:lnTo>
                  <a:lnTo>
                    <a:pt x="2280539" y="6096"/>
                  </a:lnTo>
                  <a:lnTo>
                    <a:pt x="2280539" y="0"/>
                  </a:lnTo>
                  <a:lnTo>
                    <a:pt x="1830959" y="0"/>
                  </a:lnTo>
                  <a:lnTo>
                    <a:pt x="1824863" y="0"/>
                  </a:lnTo>
                  <a:lnTo>
                    <a:pt x="1824863" y="6096"/>
                  </a:lnTo>
                  <a:lnTo>
                    <a:pt x="1824863" y="222504"/>
                  </a:lnTo>
                  <a:lnTo>
                    <a:pt x="1824863" y="228600"/>
                  </a:lnTo>
                  <a:lnTo>
                    <a:pt x="1830959" y="228600"/>
                  </a:lnTo>
                  <a:lnTo>
                    <a:pt x="2280539" y="228600"/>
                  </a:lnTo>
                  <a:lnTo>
                    <a:pt x="2286635" y="228600"/>
                  </a:lnTo>
                  <a:lnTo>
                    <a:pt x="2286635" y="222504"/>
                  </a:lnTo>
                  <a:lnTo>
                    <a:pt x="2286635" y="6096"/>
                  </a:lnTo>
                  <a:lnTo>
                    <a:pt x="2286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17168" y="1018031"/>
          <a:ext cx="5751825" cy="1771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6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9875">
                <a:tc gridSpan="13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 gridSpan="2">
                  <a:txBody>
                    <a:bodyPr/>
                    <a:lstStyle/>
                    <a:p>
                      <a:pPr marL="139065" marR="140970" indent="-139065" algn="r">
                        <a:lnSpc>
                          <a:spcPts val="1275"/>
                        </a:lnSpc>
                        <a:buAutoNum type="arabicPeriod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8161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9065" marR="140970" indent="-139065" algn="r">
                        <a:lnSpc>
                          <a:spcPct val="100000"/>
                        </a:lnSpc>
                        <a:spcBef>
                          <a:spcPts val="185"/>
                        </a:spcBef>
                        <a:buAutoNum type="arabicPeriod" startAt="2"/>
                        <a:tabLst>
                          <a:tab pos="139065" algn="l"/>
                        </a:tabLst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15494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 gridSpan="13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4.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gridSpan="13"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25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86764" y="2899002"/>
            <a:ext cx="578802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885" algn="just">
              <a:lnSpc>
                <a:spcPct val="1098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Algoritmanın</a:t>
            </a:r>
            <a:r>
              <a:rPr sz="1100" spc="19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çalışma</a:t>
            </a:r>
            <a:r>
              <a:rPr sz="1100" spc="204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prensibi</a:t>
            </a:r>
            <a:r>
              <a:rPr sz="1100" spc="204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dikkatle</a:t>
            </a:r>
            <a:r>
              <a:rPr sz="1100" spc="204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incelendiğinde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ikinci</a:t>
            </a:r>
            <a:r>
              <a:rPr sz="1100" spc="204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geçişin</a:t>
            </a:r>
            <a:r>
              <a:rPr sz="1100" spc="20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sonunda</a:t>
            </a:r>
            <a:r>
              <a:rPr sz="1100" spc="204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sıralamanın </a:t>
            </a:r>
            <a:r>
              <a:rPr sz="1100" dirty="0">
                <a:latin typeface="Calibri"/>
                <a:cs typeface="Calibri"/>
              </a:rPr>
              <a:t>gerçekleştiği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görülmektedir.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Kodlama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yapılırken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sıralamanın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gerçekleşip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gerçekleşmediğini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kontrol </a:t>
            </a:r>
            <a:r>
              <a:rPr sz="1100" dirty="0">
                <a:latin typeface="Calibri"/>
                <a:cs typeface="Calibri"/>
              </a:rPr>
              <a:t>ederek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gereksiz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adımların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önüne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geçebiliriz.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bloğundaki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kabarcık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metodunda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sıralı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isimli </a:t>
            </a:r>
            <a:r>
              <a:rPr sz="1100" dirty="0">
                <a:latin typeface="Calibri"/>
                <a:cs typeface="Calibri"/>
              </a:rPr>
              <a:t>değişken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amaçla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kullanılmıştır.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küçükten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büyüğe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sıralanması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uygulanan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kabarcık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çizilerek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gösterilmiştir.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776" y="6879716"/>
            <a:ext cx="34347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diyagramının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kodlamasını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yazalım;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7191120"/>
            <a:ext cx="5755640" cy="255460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Main(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10" dirty="0">
                <a:latin typeface="Consolas"/>
                <a:cs typeface="Consolas"/>
              </a:rPr>
              <a:t>[]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args)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 marR="3165475">
              <a:lnSpc>
                <a:spcPct val="97400"/>
              </a:lnSpc>
              <a:spcBef>
                <a:spcPts val="1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[]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sayilar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10,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6,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3,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15,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8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}; </a:t>
            </a:r>
            <a:r>
              <a:rPr sz="900" spc="-10" dirty="0">
                <a:latin typeface="Consolas"/>
                <a:cs typeface="Consolas"/>
              </a:rPr>
              <a:t>diziYaz(sayilar); kabarcikSirala(sayilar); diziYaz(sayilar);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45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.ReadKey();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kabarcikSirala(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[]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255904" marR="4737100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gecici;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bool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sirali;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70"/>
              </a:lnSpc>
              <a:spcBef>
                <a:spcPts val="98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1;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&lt;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dizi.Length;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i++)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444500">
              <a:lnSpc>
                <a:spcPts val="1055"/>
              </a:lnSpc>
            </a:pPr>
            <a:r>
              <a:rPr sz="900" dirty="0">
                <a:latin typeface="Consolas"/>
                <a:cs typeface="Consolas"/>
              </a:rPr>
              <a:t>sirali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00" spc="-10" dirty="0">
                <a:latin typeface="Consolas"/>
                <a:cs typeface="Consolas"/>
              </a:rPr>
              <a:t>;</a:t>
            </a:r>
            <a:endParaRPr sz="900">
              <a:latin typeface="Consolas"/>
              <a:cs typeface="Consolas"/>
            </a:endParaRPr>
          </a:p>
          <a:p>
            <a:pPr marL="444500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j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0;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j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&lt;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dizi.Length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i;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j++)</a:t>
            </a:r>
            <a:endParaRPr sz="900">
              <a:latin typeface="Consolas"/>
              <a:cs typeface="Consolas"/>
            </a:endParaRPr>
          </a:p>
          <a:p>
            <a:pPr marL="444500">
              <a:lnSpc>
                <a:spcPts val="106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871" y="982937"/>
            <a:ext cx="4269642" cy="57659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884" y="902207"/>
            <a:ext cx="5755640" cy="255651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1825">
              <a:lnSpc>
                <a:spcPts val="101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(dizi[j]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&gt;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dizi[j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1])</a:t>
            </a:r>
            <a:endParaRPr sz="900">
              <a:latin typeface="Consolas"/>
              <a:cs typeface="Consolas"/>
            </a:endParaRPr>
          </a:p>
          <a:p>
            <a:pPr marL="63182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821055" marR="3543935">
              <a:lnSpc>
                <a:spcPts val="1060"/>
              </a:lnSpc>
              <a:spcBef>
                <a:spcPts val="40"/>
              </a:spcBef>
            </a:pPr>
            <a:r>
              <a:rPr sz="900" dirty="0">
                <a:latin typeface="Consolas"/>
                <a:cs typeface="Consolas"/>
              </a:rPr>
              <a:t>sirali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sz="900" spc="-10" dirty="0">
                <a:latin typeface="Consolas"/>
                <a:cs typeface="Consolas"/>
              </a:rPr>
              <a:t>;</a:t>
            </a:r>
            <a:r>
              <a:rPr sz="900" spc="50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gecici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dizi[j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1]; </a:t>
            </a:r>
            <a:r>
              <a:rPr sz="900" dirty="0">
                <a:latin typeface="Consolas"/>
                <a:cs typeface="Consolas"/>
              </a:rPr>
              <a:t>dizi[j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1]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dizi[j]; </a:t>
            </a:r>
            <a:r>
              <a:rPr sz="900" dirty="0">
                <a:latin typeface="Consolas"/>
                <a:cs typeface="Consolas"/>
              </a:rPr>
              <a:t>dizi[j]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gecici;</a:t>
            </a:r>
            <a:endParaRPr sz="900">
              <a:latin typeface="Consolas"/>
              <a:cs typeface="Consolas"/>
            </a:endParaRPr>
          </a:p>
          <a:p>
            <a:pPr marL="631825">
              <a:lnSpc>
                <a:spcPts val="99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444500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31825" marR="4612005" indent="-187960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(sirali)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900" spc="-10" dirty="0">
                <a:latin typeface="Consolas"/>
                <a:cs typeface="Consolas"/>
              </a:rPr>
              <a:t>;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1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  <a:spcBef>
                <a:spcPts val="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diziYaz(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[]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dizi)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444500" marR="2851150" indent="-189230">
              <a:lnSpc>
                <a:spcPts val="1040"/>
              </a:lnSpc>
              <a:spcBef>
                <a:spcPts val="5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0;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&lt;=</a:t>
            </a:r>
            <a:r>
              <a:rPr sz="900" spc="-10" dirty="0">
                <a:latin typeface="Consolas"/>
                <a:cs typeface="Consolas"/>
              </a:rPr>
              <a:t> dizi.Length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1;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i++)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.Write(dizi[i]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5" dirty="0">
                <a:latin typeface="Consolas"/>
                <a:cs typeface="Consolas"/>
              </a:rPr>
              <a:t>);</a:t>
            </a:r>
            <a:endParaRPr sz="900">
              <a:latin typeface="Consolas"/>
              <a:cs typeface="Consolas"/>
            </a:endParaRPr>
          </a:p>
          <a:p>
            <a:pPr marL="255904">
              <a:lnSpc>
                <a:spcPts val="1019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.WriteLine();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6764" y="3558666"/>
            <a:ext cx="578612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2)</a:t>
            </a:r>
            <a:r>
              <a:rPr sz="1200" spc="13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Seçmeli</a:t>
            </a:r>
            <a:r>
              <a:rPr sz="120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Sıralama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(Selection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Sort)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Algoritması</a:t>
            </a:r>
            <a:endParaRPr sz="12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Seçmeli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listeden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sırasıyla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 küçük elemanın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seçilerek yerine koyulması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esasına </a:t>
            </a:r>
            <a:r>
              <a:rPr sz="1100" dirty="0">
                <a:latin typeface="Calibri"/>
                <a:cs typeface="Calibri"/>
              </a:rPr>
              <a:t>dayanır.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başlangıçta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elemanını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kabul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eder.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{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8,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7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}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listesini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seçmeli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algoritmasını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kullanarak</a:t>
            </a:r>
            <a:r>
              <a:rPr sz="1100" spc="-10" dirty="0">
                <a:latin typeface="Calibri"/>
                <a:cs typeface="Calibri"/>
              </a:rPr>
              <a:t> çözünüz.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7168" y="4654930"/>
          <a:ext cx="5751825" cy="2056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6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9240">
                <a:tc gridSpan="13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gridSpan="13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 gridSpan="13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gridSpan="13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40">
                <a:tc gridSpan="13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gridSpan="13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284980" y="4971922"/>
            <a:ext cx="1003935" cy="125095"/>
          </a:xfrm>
          <a:custGeom>
            <a:avLst/>
            <a:gdLst/>
            <a:ahLst/>
            <a:cxnLst/>
            <a:rect l="l" t="t" r="r" b="b"/>
            <a:pathLst>
              <a:path w="1003935" h="125095">
                <a:moveTo>
                  <a:pt x="925068" y="85598"/>
                </a:moveTo>
                <a:lnTo>
                  <a:pt x="920965" y="65303"/>
                </a:lnTo>
                <a:lnTo>
                  <a:pt x="909777" y="48755"/>
                </a:lnTo>
                <a:lnTo>
                  <a:pt x="893178" y="37617"/>
                </a:lnTo>
                <a:lnTo>
                  <a:pt x="872871" y="33528"/>
                </a:lnTo>
                <a:lnTo>
                  <a:pt x="104775" y="33528"/>
                </a:lnTo>
                <a:lnTo>
                  <a:pt x="84518" y="37617"/>
                </a:lnTo>
                <a:lnTo>
                  <a:pt x="67970" y="48755"/>
                </a:lnTo>
                <a:lnTo>
                  <a:pt x="56794" y="65303"/>
                </a:lnTo>
                <a:lnTo>
                  <a:pt x="52705" y="85598"/>
                </a:lnTo>
                <a:lnTo>
                  <a:pt x="52705" y="102108"/>
                </a:lnTo>
                <a:lnTo>
                  <a:pt x="36449" y="102108"/>
                </a:lnTo>
                <a:lnTo>
                  <a:pt x="59309" y="124968"/>
                </a:lnTo>
                <a:lnTo>
                  <a:pt x="82169" y="102108"/>
                </a:lnTo>
                <a:lnTo>
                  <a:pt x="65913" y="102108"/>
                </a:lnTo>
                <a:lnTo>
                  <a:pt x="65913" y="85598"/>
                </a:lnTo>
                <a:lnTo>
                  <a:pt x="68961" y="70472"/>
                </a:lnTo>
                <a:lnTo>
                  <a:pt x="77292" y="58127"/>
                </a:lnTo>
                <a:lnTo>
                  <a:pt x="89636" y="49796"/>
                </a:lnTo>
                <a:lnTo>
                  <a:pt x="104775" y="46736"/>
                </a:lnTo>
                <a:lnTo>
                  <a:pt x="872871" y="46736"/>
                </a:lnTo>
                <a:lnTo>
                  <a:pt x="887996" y="49796"/>
                </a:lnTo>
                <a:lnTo>
                  <a:pt x="900341" y="58127"/>
                </a:lnTo>
                <a:lnTo>
                  <a:pt x="908672" y="70472"/>
                </a:lnTo>
                <a:lnTo>
                  <a:pt x="911733" y="85598"/>
                </a:lnTo>
                <a:lnTo>
                  <a:pt x="911733" y="124968"/>
                </a:lnTo>
                <a:lnTo>
                  <a:pt x="925068" y="124968"/>
                </a:lnTo>
                <a:lnTo>
                  <a:pt x="925068" y="85598"/>
                </a:lnTo>
                <a:close/>
              </a:path>
              <a:path w="1003935" h="125095">
                <a:moveTo>
                  <a:pt x="1003935" y="93726"/>
                </a:moveTo>
                <a:lnTo>
                  <a:pt x="979932" y="93726"/>
                </a:lnTo>
                <a:lnTo>
                  <a:pt x="979932" y="71247"/>
                </a:lnTo>
                <a:lnTo>
                  <a:pt x="974331" y="43510"/>
                </a:lnTo>
                <a:lnTo>
                  <a:pt x="959065" y="20866"/>
                </a:lnTo>
                <a:lnTo>
                  <a:pt x="936421" y="5600"/>
                </a:lnTo>
                <a:lnTo>
                  <a:pt x="908685" y="0"/>
                </a:lnTo>
                <a:lnTo>
                  <a:pt x="71247" y="0"/>
                </a:lnTo>
                <a:lnTo>
                  <a:pt x="43497" y="5600"/>
                </a:lnTo>
                <a:lnTo>
                  <a:pt x="20853" y="20866"/>
                </a:lnTo>
                <a:lnTo>
                  <a:pt x="5588" y="43510"/>
                </a:lnTo>
                <a:lnTo>
                  <a:pt x="0" y="71247"/>
                </a:lnTo>
                <a:lnTo>
                  <a:pt x="0" y="125095"/>
                </a:lnTo>
                <a:lnTo>
                  <a:pt x="14478" y="125095"/>
                </a:lnTo>
                <a:lnTo>
                  <a:pt x="14478" y="71247"/>
                </a:lnTo>
                <a:lnTo>
                  <a:pt x="18935" y="49149"/>
                </a:lnTo>
                <a:lnTo>
                  <a:pt x="31089" y="31102"/>
                </a:lnTo>
                <a:lnTo>
                  <a:pt x="49136" y="18948"/>
                </a:lnTo>
                <a:lnTo>
                  <a:pt x="71247" y="14478"/>
                </a:lnTo>
                <a:lnTo>
                  <a:pt x="908685" y="14478"/>
                </a:lnTo>
                <a:lnTo>
                  <a:pt x="930732" y="18948"/>
                </a:lnTo>
                <a:lnTo>
                  <a:pt x="948778" y="31102"/>
                </a:lnTo>
                <a:lnTo>
                  <a:pt x="960970" y="49149"/>
                </a:lnTo>
                <a:lnTo>
                  <a:pt x="965454" y="71247"/>
                </a:lnTo>
                <a:lnTo>
                  <a:pt x="965454" y="93726"/>
                </a:lnTo>
                <a:lnTo>
                  <a:pt x="941324" y="93726"/>
                </a:lnTo>
                <a:lnTo>
                  <a:pt x="972693" y="125095"/>
                </a:lnTo>
                <a:lnTo>
                  <a:pt x="1003935" y="93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43450" y="5659246"/>
            <a:ext cx="1003935" cy="125095"/>
          </a:xfrm>
          <a:custGeom>
            <a:avLst/>
            <a:gdLst/>
            <a:ahLst/>
            <a:cxnLst/>
            <a:rect l="l" t="t" r="r" b="b"/>
            <a:pathLst>
              <a:path w="1003935" h="125095">
                <a:moveTo>
                  <a:pt x="925068" y="85725"/>
                </a:moveTo>
                <a:lnTo>
                  <a:pt x="920965" y="65417"/>
                </a:lnTo>
                <a:lnTo>
                  <a:pt x="909777" y="48818"/>
                </a:lnTo>
                <a:lnTo>
                  <a:pt x="893178" y="37630"/>
                </a:lnTo>
                <a:lnTo>
                  <a:pt x="872871" y="33528"/>
                </a:lnTo>
                <a:lnTo>
                  <a:pt x="104775" y="33528"/>
                </a:lnTo>
                <a:lnTo>
                  <a:pt x="84518" y="37630"/>
                </a:lnTo>
                <a:lnTo>
                  <a:pt x="67970" y="48818"/>
                </a:lnTo>
                <a:lnTo>
                  <a:pt x="56794" y="65417"/>
                </a:lnTo>
                <a:lnTo>
                  <a:pt x="52705" y="85725"/>
                </a:lnTo>
                <a:lnTo>
                  <a:pt x="52705" y="102108"/>
                </a:lnTo>
                <a:lnTo>
                  <a:pt x="36449" y="102108"/>
                </a:lnTo>
                <a:lnTo>
                  <a:pt x="59309" y="124968"/>
                </a:lnTo>
                <a:lnTo>
                  <a:pt x="82169" y="102108"/>
                </a:lnTo>
                <a:lnTo>
                  <a:pt x="65913" y="102108"/>
                </a:lnTo>
                <a:lnTo>
                  <a:pt x="65913" y="85725"/>
                </a:lnTo>
                <a:lnTo>
                  <a:pt x="68961" y="70599"/>
                </a:lnTo>
                <a:lnTo>
                  <a:pt x="77292" y="58254"/>
                </a:lnTo>
                <a:lnTo>
                  <a:pt x="89636" y="49923"/>
                </a:lnTo>
                <a:lnTo>
                  <a:pt x="104775" y="46863"/>
                </a:lnTo>
                <a:lnTo>
                  <a:pt x="872871" y="46863"/>
                </a:lnTo>
                <a:lnTo>
                  <a:pt x="887996" y="49923"/>
                </a:lnTo>
                <a:lnTo>
                  <a:pt x="900341" y="58254"/>
                </a:lnTo>
                <a:lnTo>
                  <a:pt x="908672" y="70599"/>
                </a:lnTo>
                <a:lnTo>
                  <a:pt x="911733" y="85725"/>
                </a:lnTo>
                <a:lnTo>
                  <a:pt x="911733" y="124968"/>
                </a:lnTo>
                <a:lnTo>
                  <a:pt x="925068" y="124968"/>
                </a:lnTo>
                <a:lnTo>
                  <a:pt x="925068" y="85725"/>
                </a:lnTo>
                <a:close/>
              </a:path>
              <a:path w="1003935" h="125095">
                <a:moveTo>
                  <a:pt x="1003935" y="93853"/>
                </a:moveTo>
                <a:lnTo>
                  <a:pt x="979932" y="93853"/>
                </a:lnTo>
                <a:lnTo>
                  <a:pt x="979932" y="71374"/>
                </a:lnTo>
                <a:lnTo>
                  <a:pt x="974331" y="43624"/>
                </a:lnTo>
                <a:lnTo>
                  <a:pt x="959065" y="20929"/>
                </a:lnTo>
                <a:lnTo>
                  <a:pt x="936421" y="5626"/>
                </a:lnTo>
                <a:lnTo>
                  <a:pt x="908685" y="0"/>
                </a:lnTo>
                <a:lnTo>
                  <a:pt x="71247" y="0"/>
                </a:lnTo>
                <a:lnTo>
                  <a:pt x="43497" y="5626"/>
                </a:lnTo>
                <a:lnTo>
                  <a:pt x="20853" y="20929"/>
                </a:lnTo>
                <a:lnTo>
                  <a:pt x="5588" y="43624"/>
                </a:lnTo>
                <a:lnTo>
                  <a:pt x="0" y="71374"/>
                </a:lnTo>
                <a:lnTo>
                  <a:pt x="0" y="125095"/>
                </a:lnTo>
                <a:lnTo>
                  <a:pt x="14478" y="125095"/>
                </a:lnTo>
                <a:lnTo>
                  <a:pt x="14478" y="71374"/>
                </a:lnTo>
                <a:lnTo>
                  <a:pt x="18935" y="49276"/>
                </a:lnTo>
                <a:lnTo>
                  <a:pt x="31089" y="31229"/>
                </a:lnTo>
                <a:lnTo>
                  <a:pt x="49136" y="19075"/>
                </a:lnTo>
                <a:lnTo>
                  <a:pt x="71247" y="14605"/>
                </a:lnTo>
                <a:lnTo>
                  <a:pt x="908685" y="14605"/>
                </a:lnTo>
                <a:lnTo>
                  <a:pt x="930732" y="19075"/>
                </a:lnTo>
                <a:lnTo>
                  <a:pt x="948778" y="31229"/>
                </a:lnTo>
                <a:lnTo>
                  <a:pt x="960970" y="49276"/>
                </a:lnTo>
                <a:lnTo>
                  <a:pt x="965454" y="71374"/>
                </a:lnTo>
                <a:lnTo>
                  <a:pt x="965454" y="93853"/>
                </a:lnTo>
                <a:lnTo>
                  <a:pt x="941451" y="93853"/>
                </a:lnTo>
                <a:lnTo>
                  <a:pt x="972693" y="125095"/>
                </a:lnTo>
                <a:lnTo>
                  <a:pt x="1003935" y="93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98745" y="6346697"/>
            <a:ext cx="1003935" cy="125095"/>
          </a:xfrm>
          <a:custGeom>
            <a:avLst/>
            <a:gdLst/>
            <a:ahLst/>
            <a:cxnLst/>
            <a:rect l="l" t="t" r="r" b="b"/>
            <a:pathLst>
              <a:path w="1003935" h="125095">
                <a:moveTo>
                  <a:pt x="925068" y="85725"/>
                </a:moveTo>
                <a:lnTo>
                  <a:pt x="920965" y="65417"/>
                </a:lnTo>
                <a:lnTo>
                  <a:pt x="909777" y="48818"/>
                </a:lnTo>
                <a:lnTo>
                  <a:pt x="893178" y="37630"/>
                </a:lnTo>
                <a:lnTo>
                  <a:pt x="872871" y="33528"/>
                </a:lnTo>
                <a:lnTo>
                  <a:pt x="104775" y="33528"/>
                </a:lnTo>
                <a:lnTo>
                  <a:pt x="84518" y="37630"/>
                </a:lnTo>
                <a:lnTo>
                  <a:pt x="67970" y="48818"/>
                </a:lnTo>
                <a:lnTo>
                  <a:pt x="56794" y="65417"/>
                </a:lnTo>
                <a:lnTo>
                  <a:pt x="52705" y="85725"/>
                </a:lnTo>
                <a:lnTo>
                  <a:pt x="52705" y="102108"/>
                </a:lnTo>
                <a:lnTo>
                  <a:pt x="36449" y="102108"/>
                </a:lnTo>
                <a:lnTo>
                  <a:pt x="59309" y="124968"/>
                </a:lnTo>
                <a:lnTo>
                  <a:pt x="82169" y="102108"/>
                </a:lnTo>
                <a:lnTo>
                  <a:pt x="65913" y="102108"/>
                </a:lnTo>
                <a:lnTo>
                  <a:pt x="65913" y="85725"/>
                </a:lnTo>
                <a:lnTo>
                  <a:pt x="68961" y="70599"/>
                </a:lnTo>
                <a:lnTo>
                  <a:pt x="77292" y="58254"/>
                </a:lnTo>
                <a:lnTo>
                  <a:pt x="89636" y="49923"/>
                </a:lnTo>
                <a:lnTo>
                  <a:pt x="104775" y="46863"/>
                </a:lnTo>
                <a:lnTo>
                  <a:pt x="872871" y="46863"/>
                </a:lnTo>
                <a:lnTo>
                  <a:pt x="887996" y="49923"/>
                </a:lnTo>
                <a:lnTo>
                  <a:pt x="900341" y="58254"/>
                </a:lnTo>
                <a:lnTo>
                  <a:pt x="908672" y="70599"/>
                </a:lnTo>
                <a:lnTo>
                  <a:pt x="911733" y="85725"/>
                </a:lnTo>
                <a:lnTo>
                  <a:pt x="911733" y="124968"/>
                </a:lnTo>
                <a:lnTo>
                  <a:pt x="925068" y="124968"/>
                </a:lnTo>
                <a:lnTo>
                  <a:pt x="925068" y="85725"/>
                </a:lnTo>
                <a:close/>
              </a:path>
              <a:path w="1003935" h="125095">
                <a:moveTo>
                  <a:pt x="1003935" y="93853"/>
                </a:moveTo>
                <a:lnTo>
                  <a:pt x="979932" y="93853"/>
                </a:lnTo>
                <a:lnTo>
                  <a:pt x="979932" y="71374"/>
                </a:lnTo>
                <a:lnTo>
                  <a:pt x="974331" y="43624"/>
                </a:lnTo>
                <a:lnTo>
                  <a:pt x="959065" y="20929"/>
                </a:lnTo>
                <a:lnTo>
                  <a:pt x="936421" y="5626"/>
                </a:lnTo>
                <a:lnTo>
                  <a:pt x="908685" y="0"/>
                </a:lnTo>
                <a:lnTo>
                  <a:pt x="71247" y="0"/>
                </a:lnTo>
                <a:lnTo>
                  <a:pt x="43497" y="5626"/>
                </a:lnTo>
                <a:lnTo>
                  <a:pt x="20853" y="20929"/>
                </a:lnTo>
                <a:lnTo>
                  <a:pt x="5588" y="43624"/>
                </a:lnTo>
                <a:lnTo>
                  <a:pt x="0" y="71374"/>
                </a:lnTo>
                <a:lnTo>
                  <a:pt x="0" y="125095"/>
                </a:lnTo>
                <a:lnTo>
                  <a:pt x="14478" y="125095"/>
                </a:lnTo>
                <a:lnTo>
                  <a:pt x="14478" y="71374"/>
                </a:lnTo>
                <a:lnTo>
                  <a:pt x="18935" y="49276"/>
                </a:lnTo>
                <a:lnTo>
                  <a:pt x="31089" y="31229"/>
                </a:lnTo>
                <a:lnTo>
                  <a:pt x="49136" y="19075"/>
                </a:lnTo>
                <a:lnTo>
                  <a:pt x="71247" y="14605"/>
                </a:lnTo>
                <a:lnTo>
                  <a:pt x="908685" y="14605"/>
                </a:lnTo>
                <a:lnTo>
                  <a:pt x="930732" y="19075"/>
                </a:lnTo>
                <a:lnTo>
                  <a:pt x="948778" y="31229"/>
                </a:lnTo>
                <a:lnTo>
                  <a:pt x="960970" y="49276"/>
                </a:lnTo>
                <a:lnTo>
                  <a:pt x="965454" y="71374"/>
                </a:lnTo>
                <a:lnTo>
                  <a:pt x="965454" y="93853"/>
                </a:lnTo>
                <a:lnTo>
                  <a:pt x="941451" y="93853"/>
                </a:lnTo>
                <a:lnTo>
                  <a:pt x="972693" y="125095"/>
                </a:lnTo>
                <a:lnTo>
                  <a:pt x="1003935" y="93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17168" y="896111"/>
          <a:ext cx="5751825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6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52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1145">
                <a:tc gridSpan="13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4.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gridSpan="13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i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D258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86764" y="1711197"/>
            <a:ext cx="3794125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4.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geçişte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görüldüğü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değişikliğine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duyulmamıştır.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Yukarıda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bahsettiğimiz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dökelim.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776" y="6364604"/>
            <a:ext cx="362140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yaptığımız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</a:t>
            </a:r>
            <a:r>
              <a:rPr sz="1100" spc="-10" dirty="0">
                <a:latin typeface="Calibri"/>
                <a:cs typeface="Calibri"/>
              </a:rPr>
              <a:t> yazalım;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7836" y="6672960"/>
          <a:ext cx="5755640" cy="3144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6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4830">
                <a:tc>
                  <a:txBody>
                    <a:bodyPr/>
                    <a:lstStyle/>
                    <a:p>
                      <a:pPr marL="67945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public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static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secmeliSirala(</a:t>
                      </a:r>
                      <a:r>
                        <a:rPr sz="9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dizi)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5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96545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8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gecici,</a:t>
                      </a:r>
                      <a:r>
                        <a:rPr sz="900" spc="-8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kucukIndex,</a:t>
                      </a:r>
                      <a:r>
                        <a:rPr sz="9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i,</a:t>
                      </a:r>
                      <a:r>
                        <a:rPr sz="900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j;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96545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3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(i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0;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dizi.Length;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i++)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96545">
                        <a:lnSpc>
                          <a:spcPts val="1055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84505">
                        <a:lnSpc>
                          <a:spcPts val="1055"/>
                        </a:lnSpc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kucukIndex</a:t>
                      </a:r>
                      <a:r>
                        <a:rPr sz="9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7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i;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84505">
                        <a:lnSpc>
                          <a:spcPts val="1055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(j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j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dizi.Length;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j++)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84505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860425" marR="427355" indent="-187960">
                        <a:lnSpc>
                          <a:spcPts val="1060"/>
                        </a:lnSpc>
                        <a:spcBef>
                          <a:spcPts val="35"/>
                        </a:spcBef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900" spc="-5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(dizi[j]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9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dizi[kucukIndex])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kucukIndex</a:t>
                      </a:r>
                      <a:r>
                        <a:rPr sz="900" spc="-7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6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j;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84505">
                        <a:lnSpc>
                          <a:spcPts val="101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84505">
                        <a:lnSpc>
                          <a:spcPts val="1060"/>
                        </a:lnSpc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gecici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dizi[i];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84505" marR="867410">
                        <a:lnSpc>
                          <a:spcPts val="106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dizi[i]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dizi[kucukIndex]; dizi[kucukIndex]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gecici;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96545">
                        <a:lnSpc>
                          <a:spcPts val="994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7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70"/>
                        </a:lnSpc>
                        <a:spcBef>
                          <a:spcPts val="1030"/>
                        </a:spcBef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public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static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900" spc="-4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diziYaz(</a:t>
                      </a:r>
                      <a:r>
                        <a:rPr sz="9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44500" marR="466725" indent="-189230">
                        <a:lnSpc>
                          <a:spcPts val="1060"/>
                        </a:lnSpc>
                        <a:spcBef>
                          <a:spcPts val="35"/>
                        </a:spcBef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0;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dizi.Length;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i++)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.Write(dizi[i]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00" spc="-3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10"/>
                        </a:lnSpc>
                      </a:pP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.WriteLine();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static</a:t>
                      </a:r>
                      <a:r>
                        <a:rPr sz="900" spc="-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900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Main(</a:t>
                      </a:r>
                      <a:r>
                        <a:rPr sz="9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args)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160020">
                        <a:lnSpc>
                          <a:spcPts val="1055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347980" marR="77470">
                        <a:lnSpc>
                          <a:spcPct val="974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sayilar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{</a:t>
                      </a:r>
                      <a:r>
                        <a:rPr sz="9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10,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8,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3,</a:t>
                      </a:r>
                      <a:r>
                        <a:rPr sz="9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5,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7</a:t>
                      </a:r>
                      <a:r>
                        <a:rPr sz="9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};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diziYaz(sayilar); secmeliSirala(sayilar); diziYaz(sayilar);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347980">
                        <a:lnSpc>
                          <a:spcPts val="1045"/>
                        </a:lnSpc>
                      </a:pP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160020">
                        <a:lnSpc>
                          <a:spcPts val="107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882" y="2341283"/>
            <a:ext cx="4626726" cy="390094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55700" y="6718045"/>
            <a:ext cx="2844800" cy="2978785"/>
          </a:xfrm>
          <a:custGeom>
            <a:avLst/>
            <a:gdLst/>
            <a:ahLst/>
            <a:cxnLst/>
            <a:rect l="l" t="t" r="r" b="b"/>
            <a:pathLst>
              <a:path w="2844800" h="2978784">
                <a:moveTo>
                  <a:pt x="2701290" y="2965450"/>
                </a:moveTo>
                <a:lnTo>
                  <a:pt x="0" y="2965450"/>
                </a:lnTo>
                <a:lnTo>
                  <a:pt x="0" y="2978162"/>
                </a:lnTo>
                <a:lnTo>
                  <a:pt x="2713990" y="2978162"/>
                </a:lnTo>
                <a:lnTo>
                  <a:pt x="2713990" y="2971800"/>
                </a:lnTo>
                <a:lnTo>
                  <a:pt x="2701290" y="2971800"/>
                </a:lnTo>
                <a:lnTo>
                  <a:pt x="2701290" y="2965450"/>
                </a:lnTo>
                <a:close/>
              </a:path>
              <a:path w="2844800" h="2978784">
                <a:moveTo>
                  <a:pt x="2768600" y="31750"/>
                </a:moveTo>
                <a:lnTo>
                  <a:pt x="2701290" y="31750"/>
                </a:lnTo>
                <a:lnTo>
                  <a:pt x="2701290" y="2971800"/>
                </a:lnTo>
                <a:lnTo>
                  <a:pt x="2707640" y="2965450"/>
                </a:lnTo>
                <a:lnTo>
                  <a:pt x="2713990" y="2965450"/>
                </a:lnTo>
                <a:lnTo>
                  <a:pt x="2713990" y="44450"/>
                </a:lnTo>
                <a:lnTo>
                  <a:pt x="2707639" y="44450"/>
                </a:lnTo>
                <a:lnTo>
                  <a:pt x="2713990" y="38100"/>
                </a:lnTo>
                <a:lnTo>
                  <a:pt x="2768600" y="38100"/>
                </a:lnTo>
                <a:lnTo>
                  <a:pt x="2768600" y="31750"/>
                </a:lnTo>
                <a:close/>
              </a:path>
              <a:path w="2844800" h="2978784">
                <a:moveTo>
                  <a:pt x="2713990" y="2965450"/>
                </a:moveTo>
                <a:lnTo>
                  <a:pt x="2707640" y="2965450"/>
                </a:lnTo>
                <a:lnTo>
                  <a:pt x="2701290" y="2971800"/>
                </a:lnTo>
                <a:lnTo>
                  <a:pt x="2713990" y="2971800"/>
                </a:lnTo>
                <a:lnTo>
                  <a:pt x="2713990" y="2965450"/>
                </a:lnTo>
                <a:close/>
              </a:path>
              <a:path w="2844800" h="2978784">
                <a:moveTo>
                  <a:pt x="2768600" y="0"/>
                </a:moveTo>
                <a:lnTo>
                  <a:pt x="2768600" y="76200"/>
                </a:lnTo>
                <a:lnTo>
                  <a:pt x="2832099" y="44450"/>
                </a:lnTo>
                <a:lnTo>
                  <a:pt x="2781300" y="44450"/>
                </a:lnTo>
                <a:lnTo>
                  <a:pt x="2781300" y="31750"/>
                </a:lnTo>
                <a:lnTo>
                  <a:pt x="2832100" y="31750"/>
                </a:lnTo>
                <a:lnTo>
                  <a:pt x="2768600" y="0"/>
                </a:lnTo>
                <a:close/>
              </a:path>
              <a:path w="2844800" h="2978784">
                <a:moveTo>
                  <a:pt x="2713990" y="38100"/>
                </a:moveTo>
                <a:lnTo>
                  <a:pt x="2707639" y="44450"/>
                </a:lnTo>
                <a:lnTo>
                  <a:pt x="2713990" y="44450"/>
                </a:lnTo>
                <a:lnTo>
                  <a:pt x="2713990" y="38100"/>
                </a:lnTo>
                <a:close/>
              </a:path>
              <a:path w="2844800" h="2978784">
                <a:moveTo>
                  <a:pt x="2768600" y="38100"/>
                </a:moveTo>
                <a:lnTo>
                  <a:pt x="2713990" y="38100"/>
                </a:lnTo>
                <a:lnTo>
                  <a:pt x="2713990" y="44450"/>
                </a:lnTo>
                <a:lnTo>
                  <a:pt x="2768600" y="44450"/>
                </a:lnTo>
                <a:lnTo>
                  <a:pt x="2768600" y="38100"/>
                </a:lnTo>
                <a:close/>
              </a:path>
              <a:path w="2844800" h="2978784">
                <a:moveTo>
                  <a:pt x="2832100" y="31750"/>
                </a:moveTo>
                <a:lnTo>
                  <a:pt x="2781300" y="31750"/>
                </a:lnTo>
                <a:lnTo>
                  <a:pt x="2781300" y="44450"/>
                </a:lnTo>
                <a:lnTo>
                  <a:pt x="2832099" y="44450"/>
                </a:lnTo>
                <a:lnTo>
                  <a:pt x="2844800" y="38100"/>
                </a:lnTo>
                <a:lnTo>
                  <a:pt x="2832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75791"/>
            <a:ext cx="5788660" cy="197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600" dirty="0">
              <a:latin typeface="Calibri Light"/>
              <a:cs typeface="Calibri Light"/>
            </a:endParaRPr>
          </a:p>
          <a:p>
            <a:pPr marL="241300">
              <a:lnSpc>
                <a:spcPct val="100000"/>
              </a:lnSpc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3)</a:t>
            </a:r>
            <a:r>
              <a:rPr sz="1200" spc="145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Eklemeli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Sıralama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(Insertion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Sort)</a:t>
            </a:r>
            <a:r>
              <a:rPr sz="120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Algoritması</a:t>
            </a:r>
            <a:endParaRPr sz="1200" dirty="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8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Basit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mantığı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eklemeli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verimsiz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yöntemidir. </a:t>
            </a:r>
            <a:r>
              <a:rPr sz="1100" dirty="0">
                <a:latin typeface="Calibri"/>
                <a:cs typeface="Calibri"/>
              </a:rPr>
              <a:t>Çalışma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mantığı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ikinci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ilk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birinci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adımda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karşılaştırılır.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Gerekli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ise </a:t>
            </a:r>
            <a:r>
              <a:rPr sz="1100" dirty="0">
                <a:latin typeface="Calibri"/>
                <a:cs typeface="Calibri"/>
              </a:rPr>
              <a:t>yer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değişikliği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sonraki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adımda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üçüncü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kendinden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önceki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elemanlar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karşılaştırılır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gerekli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yer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değişikliği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yapılır.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elemana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kadar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aynen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tekrar </a:t>
            </a:r>
            <a:r>
              <a:rPr sz="1100" dirty="0">
                <a:latin typeface="Calibri"/>
                <a:cs typeface="Calibri"/>
              </a:rPr>
              <a:t>edilir.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Eklemeli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veritabanlarında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tercih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edilen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 yaklaşım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değildir.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{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8,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7,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12,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9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}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listesini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eklemeli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sıralama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algoritmasını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kullanarak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çözünüz.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7084" y="3138169"/>
            <a:ext cx="2088514" cy="182880"/>
            <a:chOff x="907084" y="3138169"/>
            <a:chExt cx="2088514" cy="182880"/>
          </a:xfrm>
        </p:grpSpPr>
        <p:sp>
          <p:nvSpPr>
            <p:cNvPr id="4" name="object 4"/>
            <p:cNvSpPr/>
            <p:nvPr/>
          </p:nvSpPr>
          <p:spPr>
            <a:xfrm>
              <a:off x="907084" y="3144265"/>
              <a:ext cx="208915" cy="170815"/>
            </a:xfrm>
            <a:custGeom>
              <a:avLst/>
              <a:gdLst/>
              <a:ahLst/>
              <a:cxnLst/>
              <a:rect l="l" t="t" r="r" b="b"/>
              <a:pathLst>
                <a:path w="208915" h="170814">
                  <a:moveTo>
                    <a:pt x="208787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08787" y="170688"/>
                  </a:lnTo>
                  <a:lnTo>
                    <a:pt x="208787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1968" y="3144265"/>
              <a:ext cx="210820" cy="170815"/>
            </a:xfrm>
            <a:custGeom>
              <a:avLst/>
              <a:gdLst/>
              <a:ahLst/>
              <a:cxnLst/>
              <a:rect l="l" t="t" r="r" b="b"/>
              <a:pathLst>
                <a:path w="210819" h="170814">
                  <a:moveTo>
                    <a:pt x="210312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10312" y="170688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6802" y="3138169"/>
              <a:ext cx="1658620" cy="182880"/>
            </a:xfrm>
            <a:custGeom>
              <a:avLst/>
              <a:gdLst/>
              <a:ahLst/>
              <a:cxnLst/>
              <a:rect l="l" t="t" r="r" b="b"/>
              <a:pathLst>
                <a:path w="1658620" h="182879">
                  <a:moveTo>
                    <a:pt x="434327" y="176796"/>
                  </a:moveTo>
                  <a:lnTo>
                    <a:pt x="428244" y="176796"/>
                  </a:lnTo>
                  <a:lnTo>
                    <a:pt x="217932" y="176796"/>
                  </a:lnTo>
                  <a:lnTo>
                    <a:pt x="211836" y="176796"/>
                  </a:lnTo>
                  <a:lnTo>
                    <a:pt x="0" y="176796"/>
                  </a:lnTo>
                  <a:lnTo>
                    <a:pt x="0" y="182880"/>
                  </a:lnTo>
                  <a:lnTo>
                    <a:pt x="211836" y="182880"/>
                  </a:lnTo>
                  <a:lnTo>
                    <a:pt x="217932" y="182880"/>
                  </a:lnTo>
                  <a:lnTo>
                    <a:pt x="428244" y="182880"/>
                  </a:lnTo>
                  <a:lnTo>
                    <a:pt x="434327" y="182880"/>
                  </a:lnTo>
                  <a:lnTo>
                    <a:pt x="434327" y="176796"/>
                  </a:lnTo>
                  <a:close/>
                </a:path>
                <a:path w="1658620" h="182879">
                  <a:moveTo>
                    <a:pt x="434327" y="0"/>
                  </a:moveTo>
                  <a:lnTo>
                    <a:pt x="428244" y="0"/>
                  </a:lnTo>
                  <a:lnTo>
                    <a:pt x="217932" y="0"/>
                  </a:lnTo>
                  <a:lnTo>
                    <a:pt x="21183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211836" y="6096"/>
                  </a:lnTo>
                  <a:lnTo>
                    <a:pt x="211836" y="176784"/>
                  </a:lnTo>
                  <a:lnTo>
                    <a:pt x="217932" y="176784"/>
                  </a:lnTo>
                  <a:lnTo>
                    <a:pt x="217932" y="6096"/>
                  </a:lnTo>
                  <a:lnTo>
                    <a:pt x="428244" y="6096"/>
                  </a:lnTo>
                  <a:lnTo>
                    <a:pt x="428244" y="176784"/>
                  </a:lnTo>
                  <a:lnTo>
                    <a:pt x="434327" y="176784"/>
                  </a:lnTo>
                  <a:lnTo>
                    <a:pt x="434327" y="6096"/>
                  </a:lnTo>
                  <a:lnTo>
                    <a:pt x="434327" y="0"/>
                  </a:lnTo>
                  <a:close/>
                </a:path>
                <a:path w="1658620" h="182879">
                  <a:moveTo>
                    <a:pt x="720839" y="176796"/>
                  </a:moveTo>
                  <a:lnTo>
                    <a:pt x="714756" y="176796"/>
                  </a:lnTo>
                  <a:lnTo>
                    <a:pt x="434340" y="176796"/>
                  </a:lnTo>
                  <a:lnTo>
                    <a:pt x="434340" y="182880"/>
                  </a:lnTo>
                  <a:lnTo>
                    <a:pt x="714756" y="182880"/>
                  </a:lnTo>
                  <a:lnTo>
                    <a:pt x="720839" y="182880"/>
                  </a:lnTo>
                  <a:lnTo>
                    <a:pt x="720839" y="176796"/>
                  </a:lnTo>
                  <a:close/>
                </a:path>
                <a:path w="1658620" h="182879">
                  <a:moveTo>
                    <a:pt x="720839" y="0"/>
                  </a:moveTo>
                  <a:lnTo>
                    <a:pt x="714756" y="0"/>
                  </a:lnTo>
                  <a:lnTo>
                    <a:pt x="434340" y="0"/>
                  </a:lnTo>
                  <a:lnTo>
                    <a:pt x="434340" y="6096"/>
                  </a:lnTo>
                  <a:lnTo>
                    <a:pt x="714756" y="6096"/>
                  </a:lnTo>
                  <a:lnTo>
                    <a:pt x="714756" y="176784"/>
                  </a:lnTo>
                  <a:lnTo>
                    <a:pt x="720839" y="176784"/>
                  </a:lnTo>
                  <a:lnTo>
                    <a:pt x="720839" y="6096"/>
                  </a:lnTo>
                  <a:lnTo>
                    <a:pt x="720839" y="0"/>
                  </a:lnTo>
                  <a:close/>
                </a:path>
                <a:path w="1658620" h="182879">
                  <a:moveTo>
                    <a:pt x="1149400" y="176796"/>
                  </a:moveTo>
                  <a:lnTo>
                    <a:pt x="937260" y="176796"/>
                  </a:lnTo>
                  <a:lnTo>
                    <a:pt x="931164" y="176796"/>
                  </a:lnTo>
                  <a:lnTo>
                    <a:pt x="720852" y="176796"/>
                  </a:lnTo>
                  <a:lnTo>
                    <a:pt x="720852" y="182880"/>
                  </a:lnTo>
                  <a:lnTo>
                    <a:pt x="931164" y="182880"/>
                  </a:lnTo>
                  <a:lnTo>
                    <a:pt x="937260" y="182880"/>
                  </a:lnTo>
                  <a:lnTo>
                    <a:pt x="1149400" y="182880"/>
                  </a:lnTo>
                  <a:lnTo>
                    <a:pt x="1149400" y="176796"/>
                  </a:lnTo>
                  <a:close/>
                </a:path>
                <a:path w="1658620" h="182879">
                  <a:moveTo>
                    <a:pt x="1149400" y="0"/>
                  </a:moveTo>
                  <a:lnTo>
                    <a:pt x="937260" y="0"/>
                  </a:lnTo>
                  <a:lnTo>
                    <a:pt x="931164" y="0"/>
                  </a:lnTo>
                  <a:lnTo>
                    <a:pt x="720852" y="0"/>
                  </a:lnTo>
                  <a:lnTo>
                    <a:pt x="720852" y="6096"/>
                  </a:lnTo>
                  <a:lnTo>
                    <a:pt x="931164" y="6096"/>
                  </a:lnTo>
                  <a:lnTo>
                    <a:pt x="931164" y="176784"/>
                  </a:lnTo>
                  <a:lnTo>
                    <a:pt x="937260" y="176784"/>
                  </a:lnTo>
                  <a:lnTo>
                    <a:pt x="937260" y="6096"/>
                  </a:lnTo>
                  <a:lnTo>
                    <a:pt x="1149400" y="6096"/>
                  </a:lnTo>
                  <a:lnTo>
                    <a:pt x="1149400" y="0"/>
                  </a:lnTo>
                  <a:close/>
                </a:path>
                <a:path w="1658620" h="182879">
                  <a:moveTo>
                    <a:pt x="1435976" y="176796"/>
                  </a:moveTo>
                  <a:lnTo>
                    <a:pt x="1155573" y="176796"/>
                  </a:lnTo>
                  <a:lnTo>
                    <a:pt x="1149477" y="176796"/>
                  </a:lnTo>
                  <a:lnTo>
                    <a:pt x="1149477" y="182880"/>
                  </a:lnTo>
                  <a:lnTo>
                    <a:pt x="1155573" y="182880"/>
                  </a:lnTo>
                  <a:lnTo>
                    <a:pt x="1435976" y="182880"/>
                  </a:lnTo>
                  <a:lnTo>
                    <a:pt x="1435976" y="176796"/>
                  </a:lnTo>
                  <a:close/>
                </a:path>
                <a:path w="1658620" h="182879">
                  <a:moveTo>
                    <a:pt x="1435976" y="0"/>
                  </a:moveTo>
                  <a:lnTo>
                    <a:pt x="1155573" y="0"/>
                  </a:lnTo>
                  <a:lnTo>
                    <a:pt x="1149477" y="0"/>
                  </a:lnTo>
                  <a:lnTo>
                    <a:pt x="1149477" y="6096"/>
                  </a:lnTo>
                  <a:lnTo>
                    <a:pt x="1149477" y="176784"/>
                  </a:lnTo>
                  <a:lnTo>
                    <a:pt x="1155573" y="176784"/>
                  </a:lnTo>
                  <a:lnTo>
                    <a:pt x="1155573" y="6096"/>
                  </a:lnTo>
                  <a:lnTo>
                    <a:pt x="1435976" y="6096"/>
                  </a:lnTo>
                  <a:lnTo>
                    <a:pt x="1435976" y="0"/>
                  </a:lnTo>
                  <a:close/>
                </a:path>
                <a:path w="1658620" h="182879">
                  <a:moveTo>
                    <a:pt x="1658493" y="176796"/>
                  </a:moveTo>
                  <a:lnTo>
                    <a:pt x="1652397" y="176796"/>
                  </a:lnTo>
                  <a:lnTo>
                    <a:pt x="1442085" y="176796"/>
                  </a:lnTo>
                  <a:lnTo>
                    <a:pt x="1435989" y="176796"/>
                  </a:lnTo>
                  <a:lnTo>
                    <a:pt x="1435989" y="182880"/>
                  </a:lnTo>
                  <a:lnTo>
                    <a:pt x="1442085" y="182880"/>
                  </a:lnTo>
                  <a:lnTo>
                    <a:pt x="1652397" y="182880"/>
                  </a:lnTo>
                  <a:lnTo>
                    <a:pt x="1658493" y="182880"/>
                  </a:lnTo>
                  <a:lnTo>
                    <a:pt x="1658493" y="176796"/>
                  </a:lnTo>
                  <a:close/>
                </a:path>
                <a:path w="1658620" h="182879">
                  <a:moveTo>
                    <a:pt x="1658493" y="0"/>
                  </a:moveTo>
                  <a:lnTo>
                    <a:pt x="1652397" y="0"/>
                  </a:lnTo>
                  <a:lnTo>
                    <a:pt x="1442085" y="0"/>
                  </a:lnTo>
                  <a:lnTo>
                    <a:pt x="1435989" y="0"/>
                  </a:lnTo>
                  <a:lnTo>
                    <a:pt x="1435989" y="6096"/>
                  </a:lnTo>
                  <a:lnTo>
                    <a:pt x="1435989" y="176784"/>
                  </a:lnTo>
                  <a:lnTo>
                    <a:pt x="1442085" y="176784"/>
                  </a:lnTo>
                  <a:lnTo>
                    <a:pt x="1442085" y="6096"/>
                  </a:lnTo>
                  <a:lnTo>
                    <a:pt x="1652397" y="6096"/>
                  </a:lnTo>
                  <a:lnTo>
                    <a:pt x="1652397" y="176784"/>
                  </a:lnTo>
                  <a:lnTo>
                    <a:pt x="1658493" y="176784"/>
                  </a:lnTo>
                  <a:lnTo>
                    <a:pt x="1658493" y="6096"/>
                  </a:lnTo>
                  <a:lnTo>
                    <a:pt x="16584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07084" y="3491737"/>
            <a:ext cx="2088514" cy="184785"/>
            <a:chOff x="907084" y="3491737"/>
            <a:chExt cx="2088514" cy="184785"/>
          </a:xfrm>
        </p:grpSpPr>
        <p:sp>
          <p:nvSpPr>
            <p:cNvPr id="8" name="object 8"/>
            <p:cNvSpPr/>
            <p:nvPr/>
          </p:nvSpPr>
          <p:spPr>
            <a:xfrm>
              <a:off x="907084" y="3497909"/>
              <a:ext cx="425450" cy="171450"/>
            </a:xfrm>
            <a:custGeom>
              <a:avLst/>
              <a:gdLst/>
              <a:ahLst/>
              <a:cxnLst/>
              <a:rect l="l" t="t" r="r" b="b"/>
              <a:pathLst>
                <a:path w="425450" h="171450">
                  <a:moveTo>
                    <a:pt x="208788" y="0"/>
                  </a:moveTo>
                  <a:lnTo>
                    <a:pt x="0" y="0"/>
                  </a:lnTo>
                  <a:lnTo>
                    <a:pt x="0" y="170992"/>
                  </a:lnTo>
                  <a:lnTo>
                    <a:pt x="208788" y="170992"/>
                  </a:lnTo>
                  <a:lnTo>
                    <a:pt x="208788" y="0"/>
                  </a:lnTo>
                  <a:close/>
                </a:path>
                <a:path w="425450" h="171450">
                  <a:moveTo>
                    <a:pt x="425196" y="0"/>
                  </a:moveTo>
                  <a:lnTo>
                    <a:pt x="214884" y="0"/>
                  </a:lnTo>
                  <a:lnTo>
                    <a:pt x="214884" y="170992"/>
                  </a:lnTo>
                  <a:lnTo>
                    <a:pt x="425196" y="170992"/>
                  </a:lnTo>
                  <a:lnTo>
                    <a:pt x="425196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8326" y="3497909"/>
              <a:ext cx="210820" cy="171450"/>
            </a:xfrm>
            <a:custGeom>
              <a:avLst/>
              <a:gdLst/>
              <a:ahLst/>
              <a:cxnLst/>
              <a:rect l="l" t="t" r="r" b="b"/>
              <a:pathLst>
                <a:path w="210819" h="171450">
                  <a:moveTo>
                    <a:pt x="210312" y="0"/>
                  </a:moveTo>
                  <a:lnTo>
                    <a:pt x="0" y="0"/>
                  </a:lnTo>
                  <a:lnTo>
                    <a:pt x="0" y="170992"/>
                  </a:lnTo>
                  <a:lnTo>
                    <a:pt x="210312" y="170992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54734" y="3491737"/>
              <a:ext cx="1440815" cy="184785"/>
            </a:xfrm>
            <a:custGeom>
              <a:avLst/>
              <a:gdLst/>
              <a:ahLst/>
              <a:cxnLst/>
              <a:rect l="l" t="t" r="r" b="b"/>
              <a:pathLst>
                <a:path w="1440814" h="184785">
                  <a:moveTo>
                    <a:pt x="216395" y="6184"/>
                  </a:moveTo>
                  <a:lnTo>
                    <a:pt x="210312" y="6184"/>
                  </a:lnTo>
                  <a:lnTo>
                    <a:pt x="210312" y="178689"/>
                  </a:lnTo>
                  <a:lnTo>
                    <a:pt x="0" y="178689"/>
                  </a:lnTo>
                  <a:lnTo>
                    <a:pt x="0" y="184785"/>
                  </a:lnTo>
                  <a:lnTo>
                    <a:pt x="210312" y="184785"/>
                  </a:lnTo>
                  <a:lnTo>
                    <a:pt x="216395" y="184785"/>
                  </a:lnTo>
                  <a:lnTo>
                    <a:pt x="216395" y="178689"/>
                  </a:lnTo>
                  <a:lnTo>
                    <a:pt x="216395" y="6184"/>
                  </a:lnTo>
                  <a:close/>
                </a:path>
                <a:path w="1440814" h="184785">
                  <a:moveTo>
                    <a:pt x="216395" y="0"/>
                  </a:moveTo>
                  <a:lnTo>
                    <a:pt x="2103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210312" y="6096"/>
                  </a:lnTo>
                  <a:lnTo>
                    <a:pt x="216395" y="6096"/>
                  </a:lnTo>
                  <a:lnTo>
                    <a:pt x="216395" y="0"/>
                  </a:lnTo>
                  <a:close/>
                </a:path>
                <a:path w="1440814" h="184785">
                  <a:moveTo>
                    <a:pt x="502907" y="6184"/>
                  </a:moveTo>
                  <a:lnTo>
                    <a:pt x="496824" y="6184"/>
                  </a:lnTo>
                  <a:lnTo>
                    <a:pt x="496824" y="178689"/>
                  </a:lnTo>
                  <a:lnTo>
                    <a:pt x="216408" y="178689"/>
                  </a:lnTo>
                  <a:lnTo>
                    <a:pt x="216408" y="184785"/>
                  </a:lnTo>
                  <a:lnTo>
                    <a:pt x="496824" y="184785"/>
                  </a:lnTo>
                  <a:lnTo>
                    <a:pt x="502907" y="184785"/>
                  </a:lnTo>
                  <a:lnTo>
                    <a:pt x="502907" y="178689"/>
                  </a:lnTo>
                  <a:lnTo>
                    <a:pt x="502907" y="6184"/>
                  </a:lnTo>
                  <a:close/>
                </a:path>
                <a:path w="1440814" h="184785">
                  <a:moveTo>
                    <a:pt x="502907" y="0"/>
                  </a:moveTo>
                  <a:lnTo>
                    <a:pt x="496824" y="0"/>
                  </a:lnTo>
                  <a:lnTo>
                    <a:pt x="216408" y="0"/>
                  </a:lnTo>
                  <a:lnTo>
                    <a:pt x="216408" y="6096"/>
                  </a:lnTo>
                  <a:lnTo>
                    <a:pt x="496824" y="6096"/>
                  </a:lnTo>
                  <a:lnTo>
                    <a:pt x="502907" y="6096"/>
                  </a:lnTo>
                  <a:lnTo>
                    <a:pt x="502907" y="0"/>
                  </a:lnTo>
                  <a:close/>
                </a:path>
                <a:path w="1440814" h="184785">
                  <a:moveTo>
                    <a:pt x="931468" y="178689"/>
                  </a:moveTo>
                  <a:lnTo>
                    <a:pt x="719328" y="178689"/>
                  </a:lnTo>
                  <a:lnTo>
                    <a:pt x="719328" y="6184"/>
                  </a:lnTo>
                  <a:lnTo>
                    <a:pt x="713232" y="6184"/>
                  </a:lnTo>
                  <a:lnTo>
                    <a:pt x="713232" y="178689"/>
                  </a:lnTo>
                  <a:lnTo>
                    <a:pt x="502920" y="178689"/>
                  </a:lnTo>
                  <a:lnTo>
                    <a:pt x="502920" y="184785"/>
                  </a:lnTo>
                  <a:lnTo>
                    <a:pt x="713232" y="184785"/>
                  </a:lnTo>
                  <a:lnTo>
                    <a:pt x="719328" y="184785"/>
                  </a:lnTo>
                  <a:lnTo>
                    <a:pt x="931468" y="184785"/>
                  </a:lnTo>
                  <a:lnTo>
                    <a:pt x="931468" y="178689"/>
                  </a:lnTo>
                  <a:close/>
                </a:path>
                <a:path w="1440814" h="184785">
                  <a:moveTo>
                    <a:pt x="931468" y="0"/>
                  </a:moveTo>
                  <a:lnTo>
                    <a:pt x="719328" y="0"/>
                  </a:lnTo>
                  <a:lnTo>
                    <a:pt x="713232" y="0"/>
                  </a:lnTo>
                  <a:lnTo>
                    <a:pt x="502920" y="0"/>
                  </a:lnTo>
                  <a:lnTo>
                    <a:pt x="502920" y="6096"/>
                  </a:lnTo>
                  <a:lnTo>
                    <a:pt x="713232" y="6096"/>
                  </a:lnTo>
                  <a:lnTo>
                    <a:pt x="719328" y="6096"/>
                  </a:lnTo>
                  <a:lnTo>
                    <a:pt x="931468" y="6096"/>
                  </a:lnTo>
                  <a:lnTo>
                    <a:pt x="931468" y="0"/>
                  </a:lnTo>
                  <a:close/>
                </a:path>
                <a:path w="1440814" h="184785">
                  <a:moveTo>
                    <a:pt x="1218044" y="178689"/>
                  </a:moveTo>
                  <a:lnTo>
                    <a:pt x="937641" y="178689"/>
                  </a:lnTo>
                  <a:lnTo>
                    <a:pt x="937641" y="6184"/>
                  </a:lnTo>
                  <a:lnTo>
                    <a:pt x="931545" y="6184"/>
                  </a:lnTo>
                  <a:lnTo>
                    <a:pt x="931545" y="178689"/>
                  </a:lnTo>
                  <a:lnTo>
                    <a:pt x="931545" y="184785"/>
                  </a:lnTo>
                  <a:lnTo>
                    <a:pt x="937641" y="184785"/>
                  </a:lnTo>
                  <a:lnTo>
                    <a:pt x="1218044" y="184785"/>
                  </a:lnTo>
                  <a:lnTo>
                    <a:pt x="1218044" y="178689"/>
                  </a:lnTo>
                  <a:close/>
                </a:path>
                <a:path w="1440814" h="184785">
                  <a:moveTo>
                    <a:pt x="1218044" y="0"/>
                  </a:moveTo>
                  <a:lnTo>
                    <a:pt x="937641" y="0"/>
                  </a:lnTo>
                  <a:lnTo>
                    <a:pt x="931545" y="0"/>
                  </a:lnTo>
                  <a:lnTo>
                    <a:pt x="931545" y="6096"/>
                  </a:lnTo>
                  <a:lnTo>
                    <a:pt x="937641" y="6096"/>
                  </a:lnTo>
                  <a:lnTo>
                    <a:pt x="1218044" y="6096"/>
                  </a:lnTo>
                  <a:lnTo>
                    <a:pt x="1218044" y="0"/>
                  </a:lnTo>
                  <a:close/>
                </a:path>
                <a:path w="1440814" h="184785">
                  <a:moveTo>
                    <a:pt x="1440561" y="6184"/>
                  </a:moveTo>
                  <a:lnTo>
                    <a:pt x="1434465" y="6184"/>
                  </a:lnTo>
                  <a:lnTo>
                    <a:pt x="1434465" y="178689"/>
                  </a:lnTo>
                  <a:lnTo>
                    <a:pt x="1224153" y="178689"/>
                  </a:lnTo>
                  <a:lnTo>
                    <a:pt x="1224153" y="6184"/>
                  </a:lnTo>
                  <a:lnTo>
                    <a:pt x="1218057" y="6184"/>
                  </a:lnTo>
                  <a:lnTo>
                    <a:pt x="1218057" y="178689"/>
                  </a:lnTo>
                  <a:lnTo>
                    <a:pt x="1218057" y="184785"/>
                  </a:lnTo>
                  <a:lnTo>
                    <a:pt x="1224153" y="184785"/>
                  </a:lnTo>
                  <a:lnTo>
                    <a:pt x="1434465" y="184785"/>
                  </a:lnTo>
                  <a:lnTo>
                    <a:pt x="1440561" y="184785"/>
                  </a:lnTo>
                  <a:lnTo>
                    <a:pt x="1440561" y="178689"/>
                  </a:lnTo>
                  <a:lnTo>
                    <a:pt x="1440561" y="6184"/>
                  </a:lnTo>
                  <a:close/>
                </a:path>
                <a:path w="1440814" h="184785">
                  <a:moveTo>
                    <a:pt x="1440561" y="0"/>
                  </a:moveTo>
                  <a:lnTo>
                    <a:pt x="1434465" y="0"/>
                  </a:lnTo>
                  <a:lnTo>
                    <a:pt x="1224153" y="0"/>
                  </a:lnTo>
                  <a:lnTo>
                    <a:pt x="1218057" y="0"/>
                  </a:lnTo>
                  <a:lnTo>
                    <a:pt x="1218057" y="6096"/>
                  </a:lnTo>
                  <a:lnTo>
                    <a:pt x="1224153" y="6096"/>
                  </a:lnTo>
                  <a:lnTo>
                    <a:pt x="1434465" y="6096"/>
                  </a:lnTo>
                  <a:lnTo>
                    <a:pt x="1440561" y="6096"/>
                  </a:lnTo>
                  <a:lnTo>
                    <a:pt x="14405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07084" y="3845686"/>
            <a:ext cx="2088514" cy="184785"/>
            <a:chOff x="907084" y="3845686"/>
            <a:chExt cx="2088514" cy="184785"/>
          </a:xfrm>
        </p:grpSpPr>
        <p:sp>
          <p:nvSpPr>
            <p:cNvPr id="12" name="object 12"/>
            <p:cNvSpPr/>
            <p:nvPr/>
          </p:nvSpPr>
          <p:spPr>
            <a:xfrm>
              <a:off x="907084" y="3853306"/>
              <a:ext cx="641985" cy="169545"/>
            </a:xfrm>
            <a:custGeom>
              <a:avLst/>
              <a:gdLst/>
              <a:ahLst/>
              <a:cxnLst/>
              <a:rect l="l" t="t" r="r" b="b"/>
              <a:pathLst>
                <a:path w="641985" h="169545">
                  <a:moveTo>
                    <a:pt x="208788" y="0"/>
                  </a:moveTo>
                  <a:lnTo>
                    <a:pt x="0" y="0"/>
                  </a:lnTo>
                  <a:lnTo>
                    <a:pt x="0" y="169164"/>
                  </a:lnTo>
                  <a:lnTo>
                    <a:pt x="208788" y="169164"/>
                  </a:lnTo>
                  <a:lnTo>
                    <a:pt x="208788" y="0"/>
                  </a:lnTo>
                  <a:close/>
                </a:path>
                <a:path w="641985" h="169545">
                  <a:moveTo>
                    <a:pt x="425196" y="0"/>
                  </a:moveTo>
                  <a:lnTo>
                    <a:pt x="214884" y="0"/>
                  </a:lnTo>
                  <a:lnTo>
                    <a:pt x="214884" y="169164"/>
                  </a:lnTo>
                  <a:lnTo>
                    <a:pt x="425196" y="169164"/>
                  </a:lnTo>
                  <a:lnTo>
                    <a:pt x="425196" y="0"/>
                  </a:lnTo>
                  <a:close/>
                </a:path>
                <a:path w="641985" h="169545">
                  <a:moveTo>
                    <a:pt x="641553" y="0"/>
                  </a:moveTo>
                  <a:lnTo>
                    <a:pt x="431241" y="0"/>
                  </a:lnTo>
                  <a:lnTo>
                    <a:pt x="431241" y="169164"/>
                  </a:lnTo>
                  <a:lnTo>
                    <a:pt x="641553" y="169164"/>
                  </a:lnTo>
                  <a:lnTo>
                    <a:pt x="641553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54734" y="3853306"/>
              <a:ext cx="210820" cy="169545"/>
            </a:xfrm>
            <a:custGeom>
              <a:avLst/>
              <a:gdLst/>
              <a:ahLst/>
              <a:cxnLst/>
              <a:rect l="l" t="t" r="r" b="b"/>
              <a:pathLst>
                <a:path w="210819" h="169545">
                  <a:moveTo>
                    <a:pt x="210311" y="0"/>
                  </a:moveTo>
                  <a:lnTo>
                    <a:pt x="0" y="0"/>
                  </a:lnTo>
                  <a:lnTo>
                    <a:pt x="0" y="169164"/>
                  </a:lnTo>
                  <a:lnTo>
                    <a:pt x="210311" y="169164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71142" y="3845699"/>
              <a:ext cx="1224280" cy="184785"/>
            </a:xfrm>
            <a:custGeom>
              <a:avLst/>
              <a:gdLst/>
              <a:ahLst/>
              <a:cxnLst/>
              <a:rect l="l" t="t" r="r" b="b"/>
              <a:pathLst>
                <a:path w="1224280" h="184785">
                  <a:moveTo>
                    <a:pt x="286499" y="0"/>
                  </a:moveTo>
                  <a:lnTo>
                    <a:pt x="28041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280416" y="6083"/>
                  </a:lnTo>
                  <a:lnTo>
                    <a:pt x="280416" y="178295"/>
                  </a:lnTo>
                  <a:lnTo>
                    <a:pt x="0" y="178295"/>
                  </a:lnTo>
                  <a:lnTo>
                    <a:pt x="0" y="184391"/>
                  </a:lnTo>
                  <a:lnTo>
                    <a:pt x="280416" y="184391"/>
                  </a:lnTo>
                  <a:lnTo>
                    <a:pt x="286499" y="184391"/>
                  </a:lnTo>
                  <a:lnTo>
                    <a:pt x="286499" y="178295"/>
                  </a:lnTo>
                  <a:lnTo>
                    <a:pt x="286499" y="6083"/>
                  </a:lnTo>
                  <a:lnTo>
                    <a:pt x="286499" y="0"/>
                  </a:lnTo>
                  <a:close/>
                </a:path>
                <a:path w="1224280" h="184785">
                  <a:moveTo>
                    <a:pt x="715060" y="0"/>
                  </a:moveTo>
                  <a:lnTo>
                    <a:pt x="502920" y="0"/>
                  </a:lnTo>
                  <a:lnTo>
                    <a:pt x="496824" y="0"/>
                  </a:lnTo>
                  <a:lnTo>
                    <a:pt x="286512" y="0"/>
                  </a:lnTo>
                  <a:lnTo>
                    <a:pt x="286512" y="6083"/>
                  </a:lnTo>
                  <a:lnTo>
                    <a:pt x="496824" y="6083"/>
                  </a:lnTo>
                  <a:lnTo>
                    <a:pt x="496824" y="178295"/>
                  </a:lnTo>
                  <a:lnTo>
                    <a:pt x="286512" y="178295"/>
                  </a:lnTo>
                  <a:lnTo>
                    <a:pt x="286512" y="184391"/>
                  </a:lnTo>
                  <a:lnTo>
                    <a:pt x="496824" y="184391"/>
                  </a:lnTo>
                  <a:lnTo>
                    <a:pt x="502920" y="184391"/>
                  </a:lnTo>
                  <a:lnTo>
                    <a:pt x="715060" y="184391"/>
                  </a:lnTo>
                  <a:lnTo>
                    <a:pt x="715060" y="178295"/>
                  </a:lnTo>
                  <a:lnTo>
                    <a:pt x="502920" y="178295"/>
                  </a:lnTo>
                  <a:lnTo>
                    <a:pt x="502920" y="6083"/>
                  </a:lnTo>
                  <a:lnTo>
                    <a:pt x="715060" y="6083"/>
                  </a:lnTo>
                  <a:lnTo>
                    <a:pt x="715060" y="0"/>
                  </a:lnTo>
                  <a:close/>
                </a:path>
                <a:path w="1224280" h="184785">
                  <a:moveTo>
                    <a:pt x="1001636" y="0"/>
                  </a:moveTo>
                  <a:lnTo>
                    <a:pt x="721233" y="0"/>
                  </a:lnTo>
                  <a:lnTo>
                    <a:pt x="715137" y="0"/>
                  </a:lnTo>
                  <a:lnTo>
                    <a:pt x="715137" y="6083"/>
                  </a:lnTo>
                  <a:lnTo>
                    <a:pt x="715137" y="178295"/>
                  </a:lnTo>
                  <a:lnTo>
                    <a:pt x="715137" y="184391"/>
                  </a:lnTo>
                  <a:lnTo>
                    <a:pt x="721233" y="184391"/>
                  </a:lnTo>
                  <a:lnTo>
                    <a:pt x="1001636" y="184391"/>
                  </a:lnTo>
                  <a:lnTo>
                    <a:pt x="1001636" y="178295"/>
                  </a:lnTo>
                  <a:lnTo>
                    <a:pt x="721233" y="178295"/>
                  </a:lnTo>
                  <a:lnTo>
                    <a:pt x="721233" y="6083"/>
                  </a:lnTo>
                  <a:lnTo>
                    <a:pt x="1001636" y="6083"/>
                  </a:lnTo>
                  <a:lnTo>
                    <a:pt x="1001636" y="0"/>
                  </a:lnTo>
                  <a:close/>
                </a:path>
                <a:path w="1224280" h="184785">
                  <a:moveTo>
                    <a:pt x="1224153" y="0"/>
                  </a:moveTo>
                  <a:lnTo>
                    <a:pt x="1218057" y="0"/>
                  </a:lnTo>
                  <a:lnTo>
                    <a:pt x="1218057" y="6083"/>
                  </a:lnTo>
                  <a:lnTo>
                    <a:pt x="1218057" y="178295"/>
                  </a:lnTo>
                  <a:lnTo>
                    <a:pt x="1007745" y="178295"/>
                  </a:lnTo>
                  <a:lnTo>
                    <a:pt x="1007745" y="6083"/>
                  </a:lnTo>
                  <a:lnTo>
                    <a:pt x="1218057" y="6083"/>
                  </a:lnTo>
                  <a:lnTo>
                    <a:pt x="1218057" y="0"/>
                  </a:lnTo>
                  <a:lnTo>
                    <a:pt x="1007745" y="0"/>
                  </a:lnTo>
                  <a:lnTo>
                    <a:pt x="1001649" y="0"/>
                  </a:lnTo>
                  <a:lnTo>
                    <a:pt x="1001649" y="6083"/>
                  </a:lnTo>
                  <a:lnTo>
                    <a:pt x="1001649" y="178295"/>
                  </a:lnTo>
                  <a:lnTo>
                    <a:pt x="1001649" y="184391"/>
                  </a:lnTo>
                  <a:lnTo>
                    <a:pt x="1007745" y="184391"/>
                  </a:lnTo>
                  <a:lnTo>
                    <a:pt x="1218057" y="184391"/>
                  </a:lnTo>
                  <a:lnTo>
                    <a:pt x="1224153" y="184391"/>
                  </a:lnTo>
                  <a:lnTo>
                    <a:pt x="1224153" y="178295"/>
                  </a:lnTo>
                  <a:lnTo>
                    <a:pt x="1224153" y="6083"/>
                  </a:lnTo>
                  <a:lnTo>
                    <a:pt x="1224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07084" y="4200778"/>
            <a:ext cx="2088514" cy="182880"/>
            <a:chOff x="907084" y="4200778"/>
            <a:chExt cx="2088514" cy="182880"/>
          </a:xfrm>
        </p:grpSpPr>
        <p:sp>
          <p:nvSpPr>
            <p:cNvPr id="16" name="object 16"/>
            <p:cNvSpPr/>
            <p:nvPr/>
          </p:nvSpPr>
          <p:spPr>
            <a:xfrm>
              <a:off x="907084" y="4206874"/>
              <a:ext cx="858519" cy="170815"/>
            </a:xfrm>
            <a:custGeom>
              <a:avLst/>
              <a:gdLst/>
              <a:ahLst/>
              <a:cxnLst/>
              <a:rect l="l" t="t" r="r" b="b"/>
              <a:pathLst>
                <a:path w="858519" h="170814">
                  <a:moveTo>
                    <a:pt x="208788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08788" y="170688"/>
                  </a:lnTo>
                  <a:lnTo>
                    <a:pt x="208788" y="0"/>
                  </a:lnTo>
                  <a:close/>
                </a:path>
                <a:path w="858519" h="170814">
                  <a:moveTo>
                    <a:pt x="425196" y="0"/>
                  </a:moveTo>
                  <a:lnTo>
                    <a:pt x="214884" y="0"/>
                  </a:lnTo>
                  <a:lnTo>
                    <a:pt x="214884" y="170688"/>
                  </a:lnTo>
                  <a:lnTo>
                    <a:pt x="425196" y="170688"/>
                  </a:lnTo>
                  <a:lnTo>
                    <a:pt x="425196" y="0"/>
                  </a:lnTo>
                  <a:close/>
                </a:path>
                <a:path w="858519" h="170814">
                  <a:moveTo>
                    <a:pt x="641553" y="0"/>
                  </a:moveTo>
                  <a:lnTo>
                    <a:pt x="431241" y="0"/>
                  </a:lnTo>
                  <a:lnTo>
                    <a:pt x="431241" y="170688"/>
                  </a:lnTo>
                  <a:lnTo>
                    <a:pt x="641553" y="170688"/>
                  </a:lnTo>
                  <a:lnTo>
                    <a:pt x="641553" y="0"/>
                  </a:lnTo>
                  <a:close/>
                </a:path>
                <a:path w="858519" h="170814">
                  <a:moveTo>
                    <a:pt x="857961" y="0"/>
                  </a:moveTo>
                  <a:lnTo>
                    <a:pt x="647649" y="0"/>
                  </a:lnTo>
                  <a:lnTo>
                    <a:pt x="647649" y="170688"/>
                  </a:lnTo>
                  <a:lnTo>
                    <a:pt x="857961" y="170688"/>
                  </a:lnTo>
                  <a:lnTo>
                    <a:pt x="857961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71142" y="4206874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7654" y="4200778"/>
              <a:ext cx="937894" cy="182880"/>
            </a:xfrm>
            <a:custGeom>
              <a:avLst/>
              <a:gdLst/>
              <a:ahLst/>
              <a:cxnLst/>
              <a:rect l="l" t="t" r="r" b="b"/>
              <a:pathLst>
                <a:path w="937894" h="182879">
                  <a:moveTo>
                    <a:pt x="428548" y="0"/>
                  </a:moveTo>
                  <a:lnTo>
                    <a:pt x="216408" y="0"/>
                  </a:lnTo>
                  <a:lnTo>
                    <a:pt x="210312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210312" y="6096"/>
                  </a:lnTo>
                  <a:lnTo>
                    <a:pt x="210312" y="176784"/>
                  </a:lnTo>
                  <a:lnTo>
                    <a:pt x="0" y="176784"/>
                  </a:lnTo>
                  <a:lnTo>
                    <a:pt x="0" y="182880"/>
                  </a:lnTo>
                  <a:lnTo>
                    <a:pt x="210312" y="182880"/>
                  </a:lnTo>
                  <a:lnTo>
                    <a:pt x="216408" y="182880"/>
                  </a:lnTo>
                  <a:lnTo>
                    <a:pt x="428548" y="182880"/>
                  </a:lnTo>
                  <a:lnTo>
                    <a:pt x="428548" y="176784"/>
                  </a:lnTo>
                  <a:lnTo>
                    <a:pt x="216408" y="176784"/>
                  </a:lnTo>
                  <a:lnTo>
                    <a:pt x="216408" y="6096"/>
                  </a:lnTo>
                  <a:lnTo>
                    <a:pt x="428548" y="6096"/>
                  </a:lnTo>
                  <a:lnTo>
                    <a:pt x="428548" y="0"/>
                  </a:lnTo>
                  <a:close/>
                </a:path>
                <a:path w="937894" h="182879">
                  <a:moveTo>
                    <a:pt x="715124" y="0"/>
                  </a:moveTo>
                  <a:lnTo>
                    <a:pt x="434721" y="0"/>
                  </a:lnTo>
                  <a:lnTo>
                    <a:pt x="428625" y="0"/>
                  </a:lnTo>
                  <a:lnTo>
                    <a:pt x="428625" y="6096"/>
                  </a:lnTo>
                  <a:lnTo>
                    <a:pt x="428625" y="176784"/>
                  </a:lnTo>
                  <a:lnTo>
                    <a:pt x="428625" y="182880"/>
                  </a:lnTo>
                  <a:lnTo>
                    <a:pt x="434721" y="182880"/>
                  </a:lnTo>
                  <a:lnTo>
                    <a:pt x="715124" y="182880"/>
                  </a:lnTo>
                  <a:lnTo>
                    <a:pt x="715124" y="176784"/>
                  </a:lnTo>
                  <a:lnTo>
                    <a:pt x="434721" y="176784"/>
                  </a:lnTo>
                  <a:lnTo>
                    <a:pt x="434721" y="6096"/>
                  </a:lnTo>
                  <a:lnTo>
                    <a:pt x="715124" y="6096"/>
                  </a:lnTo>
                  <a:lnTo>
                    <a:pt x="715124" y="0"/>
                  </a:lnTo>
                  <a:close/>
                </a:path>
                <a:path w="937894" h="182879">
                  <a:moveTo>
                    <a:pt x="937641" y="0"/>
                  </a:moveTo>
                  <a:lnTo>
                    <a:pt x="931545" y="0"/>
                  </a:lnTo>
                  <a:lnTo>
                    <a:pt x="931545" y="6096"/>
                  </a:lnTo>
                  <a:lnTo>
                    <a:pt x="931545" y="176784"/>
                  </a:lnTo>
                  <a:lnTo>
                    <a:pt x="721233" y="176784"/>
                  </a:lnTo>
                  <a:lnTo>
                    <a:pt x="721233" y="6096"/>
                  </a:lnTo>
                  <a:lnTo>
                    <a:pt x="931545" y="6096"/>
                  </a:lnTo>
                  <a:lnTo>
                    <a:pt x="931545" y="0"/>
                  </a:lnTo>
                  <a:lnTo>
                    <a:pt x="721233" y="0"/>
                  </a:lnTo>
                  <a:lnTo>
                    <a:pt x="715137" y="0"/>
                  </a:lnTo>
                  <a:lnTo>
                    <a:pt x="715137" y="6096"/>
                  </a:lnTo>
                  <a:lnTo>
                    <a:pt x="715137" y="176784"/>
                  </a:lnTo>
                  <a:lnTo>
                    <a:pt x="715137" y="182880"/>
                  </a:lnTo>
                  <a:lnTo>
                    <a:pt x="721233" y="182880"/>
                  </a:lnTo>
                  <a:lnTo>
                    <a:pt x="931545" y="182880"/>
                  </a:lnTo>
                  <a:lnTo>
                    <a:pt x="937641" y="182880"/>
                  </a:lnTo>
                  <a:lnTo>
                    <a:pt x="937641" y="176784"/>
                  </a:lnTo>
                  <a:lnTo>
                    <a:pt x="937641" y="6096"/>
                  </a:lnTo>
                  <a:lnTo>
                    <a:pt x="937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99464" y="4554346"/>
            <a:ext cx="2096135" cy="360045"/>
            <a:chOff x="899464" y="4554346"/>
            <a:chExt cx="2096135" cy="360045"/>
          </a:xfrm>
        </p:grpSpPr>
        <p:sp>
          <p:nvSpPr>
            <p:cNvPr id="20" name="object 20"/>
            <p:cNvSpPr/>
            <p:nvPr/>
          </p:nvSpPr>
          <p:spPr>
            <a:xfrm>
              <a:off x="907084" y="4560442"/>
              <a:ext cx="620395" cy="170815"/>
            </a:xfrm>
            <a:custGeom>
              <a:avLst/>
              <a:gdLst/>
              <a:ahLst/>
              <a:cxnLst/>
              <a:rect l="l" t="t" r="r" b="b"/>
              <a:pathLst>
                <a:path w="620394" h="170814">
                  <a:moveTo>
                    <a:pt x="202692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02692" y="170688"/>
                  </a:lnTo>
                  <a:lnTo>
                    <a:pt x="202692" y="0"/>
                  </a:lnTo>
                  <a:close/>
                </a:path>
                <a:path w="620394" h="170814">
                  <a:moveTo>
                    <a:pt x="411480" y="0"/>
                  </a:moveTo>
                  <a:lnTo>
                    <a:pt x="208788" y="0"/>
                  </a:lnTo>
                  <a:lnTo>
                    <a:pt x="208788" y="170688"/>
                  </a:lnTo>
                  <a:lnTo>
                    <a:pt x="411480" y="170688"/>
                  </a:lnTo>
                  <a:lnTo>
                    <a:pt x="411480" y="0"/>
                  </a:lnTo>
                  <a:close/>
                </a:path>
                <a:path w="620394" h="170814">
                  <a:moveTo>
                    <a:pt x="620204" y="0"/>
                  </a:moveTo>
                  <a:lnTo>
                    <a:pt x="417525" y="0"/>
                  </a:lnTo>
                  <a:lnTo>
                    <a:pt x="417525" y="170688"/>
                  </a:lnTo>
                  <a:lnTo>
                    <a:pt x="620204" y="170688"/>
                  </a:lnTo>
                  <a:lnTo>
                    <a:pt x="620204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3397" y="4560442"/>
              <a:ext cx="201295" cy="170815"/>
            </a:xfrm>
            <a:custGeom>
              <a:avLst/>
              <a:gdLst/>
              <a:ahLst/>
              <a:cxnLst/>
              <a:rect l="l" t="t" r="r" b="b"/>
              <a:pathLst>
                <a:path w="201294" h="170814">
                  <a:moveTo>
                    <a:pt x="201167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01167" y="170687"/>
                  </a:lnTo>
                  <a:lnTo>
                    <a:pt x="2011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42186" y="4560442"/>
              <a:ext cx="273050" cy="170815"/>
            </a:xfrm>
            <a:custGeom>
              <a:avLst/>
              <a:gdLst/>
              <a:ahLst/>
              <a:cxnLst/>
              <a:rect l="l" t="t" r="r" b="b"/>
              <a:pathLst>
                <a:path w="273050" h="170814">
                  <a:moveTo>
                    <a:pt x="272795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72795" y="170687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21077" y="4560442"/>
              <a:ext cx="273050" cy="170815"/>
            </a:xfrm>
            <a:custGeom>
              <a:avLst/>
              <a:gdLst/>
              <a:ahLst/>
              <a:cxnLst/>
              <a:rect l="l" t="t" r="r" b="b"/>
              <a:pathLst>
                <a:path w="273050" h="170814">
                  <a:moveTo>
                    <a:pt x="272795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72795" y="170687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99464" y="4554346"/>
              <a:ext cx="2096135" cy="360045"/>
            </a:xfrm>
            <a:custGeom>
              <a:avLst/>
              <a:gdLst/>
              <a:ahLst/>
              <a:cxnLst/>
              <a:rect l="l" t="t" r="r" b="b"/>
              <a:pathLst>
                <a:path w="2096135" h="360045">
                  <a:moveTo>
                    <a:pt x="1120076" y="176796"/>
                  </a:moveTo>
                  <a:lnTo>
                    <a:pt x="1113993" y="176796"/>
                  </a:lnTo>
                  <a:lnTo>
                    <a:pt x="1113993" y="182880"/>
                  </a:lnTo>
                  <a:lnTo>
                    <a:pt x="1113993" y="353568"/>
                  </a:lnTo>
                  <a:lnTo>
                    <a:pt x="841197" y="353568"/>
                  </a:lnTo>
                  <a:lnTo>
                    <a:pt x="841197" y="182880"/>
                  </a:lnTo>
                  <a:lnTo>
                    <a:pt x="1113993" y="182880"/>
                  </a:lnTo>
                  <a:lnTo>
                    <a:pt x="1113993" y="176796"/>
                  </a:lnTo>
                  <a:lnTo>
                    <a:pt x="841197" y="176796"/>
                  </a:lnTo>
                  <a:lnTo>
                    <a:pt x="835101" y="176796"/>
                  </a:lnTo>
                  <a:lnTo>
                    <a:pt x="835101" y="182880"/>
                  </a:lnTo>
                  <a:lnTo>
                    <a:pt x="835101" y="353568"/>
                  </a:lnTo>
                  <a:lnTo>
                    <a:pt x="632409" y="353568"/>
                  </a:lnTo>
                  <a:lnTo>
                    <a:pt x="632409" y="182880"/>
                  </a:lnTo>
                  <a:lnTo>
                    <a:pt x="835101" y="182880"/>
                  </a:lnTo>
                  <a:lnTo>
                    <a:pt x="835101" y="176796"/>
                  </a:lnTo>
                  <a:lnTo>
                    <a:pt x="632409" y="176796"/>
                  </a:lnTo>
                  <a:lnTo>
                    <a:pt x="626313" y="176796"/>
                  </a:lnTo>
                  <a:lnTo>
                    <a:pt x="626313" y="182880"/>
                  </a:lnTo>
                  <a:lnTo>
                    <a:pt x="626313" y="353568"/>
                  </a:lnTo>
                  <a:lnTo>
                    <a:pt x="423621" y="353568"/>
                  </a:lnTo>
                  <a:lnTo>
                    <a:pt x="423621" y="182880"/>
                  </a:lnTo>
                  <a:lnTo>
                    <a:pt x="626313" y="182880"/>
                  </a:lnTo>
                  <a:lnTo>
                    <a:pt x="626313" y="176796"/>
                  </a:lnTo>
                  <a:lnTo>
                    <a:pt x="423621" y="176796"/>
                  </a:lnTo>
                  <a:lnTo>
                    <a:pt x="417576" y="176796"/>
                  </a:lnTo>
                  <a:lnTo>
                    <a:pt x="417525" y="182880"/>
                  </a:lnTo>
                  <a:lnTo>
                    <a:pt x="417525" y="353568"/>
                  </a:lnTo>
                  <a:lnTo>
                    <a:pt x="214884" y="353568"/>
                  </a:lnTo>
                  <a:lnTo>
                    <a:pt x="214884" y="182880"/>
                  </a:lnTo>
                  <a:lnTo>
                    <a:pt x="417525" y="182880"/>
                  </a:lnTo>
                  <a:lnTo>
                    <a:pt x="417525" y="176796"/>
                  </a:lnTo>
                  <a:lnTo>
                    <a:pt x="214884" y="176796"/>
                  </a:lnTo>
                  <a:lnTo>
                    <a:pt x="208788" y="176796"/>
                  </a:lnTo>
                  <a:lnTo>
                    <a:pt x="208788" y="182880"/>
                  </a:lnTo>
                  <a:lnTo>
                    <a:pt x="208788" y="353568"/>
                  </a:lnTo>
                  <a:lnTo>
                    <a:pt x="6096" y="353568"/>
                  </a:lnTo>
                  <a:lnTo>
                    <a:pt x="6096" y="182880"/>
                  </a:lnTo>
                  <a:lnTo>
                    <a:pt x="208788" y="182880"/>
                  </a:lnTo>
                  <a:lnTo>
                    <a:pt x="208788" y="176796"/>
                  </a:lnTo>
                  <a:lnTo>
                    <a:pt x="6096" y="176796"/>
                  </a:lnTo>
                  <a:lnTo>
                    <a:pt x="0" y="176796"/>
                  </a:lnTo>
                  <a:lnTo>
                    <a:pt x="0" y="182880"/>
                  </a:lnTo>
                  <a:lnTo>
                    <a:pt x="0" y="353568"/>
                  </a:lnTo>
                  <a:lnTo>
                    <a:pt x="0" y="359664"/>
                  </a:lnTo>
                  <a:lnTo>
                    <a:pt x="6096" y="359664"/>
                  </a:lnTo>
                  <a:lnTo>
                    <a:pt x="1120076" y="359664"/>
                  </a:lnTo>
                  <a:lnTo>
                    <a:pt x="1120076" y="353568"/>
                  </a:lnTo>
                  <a:lnTo>
                    <a:pt x="1120076" y="182880"/>
                  </a:lnTo>
                  <a:lnTo>
                    <a:pt x="1120076" y="176796"/>
                  </a:lnTo>
                  <a:close/>
                </a:path>
                <a:path w="2096135" h="360045">
                  <a:moveTo>
                    <a:pt x="1120076" y="0"/>
                  </a:moveTo>
                  <a:lnTo>
                    <a:pt x="112007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96" y="176784"/>
                  </a:lnTo>
                  <a:lnTo>
                    <a:pt x="6096" y="6096"/>
                  </a:lnTo>
                  <a:lnTo>
                    <a:pt x="208788" y="6096"/>
                  </a:lnTo>
                  <a:lnTo>
                    <a:pt x="208788" y="176784"/>
                  </a:lnTo>
                  <a:lnTo>
                    <a:pt x="214884" y="176784"/>
                  </a:lnTo>
                  <a:lnTo>
                    <a:pt x="214884" y="6096"/>
                  </a:lnTo>
                  <a:lnTo>
                    <a:pt x="417525" y="6096"/>
                  </a:lnTo>
                  <a:lnTo>
                    <a:pt x="417525" y="176784"/>
                  </a:lnTo>
                  <a:lnTo>
                    <a:pt x="423621" y="176784"/>
                  </a:lnTo>
                  <a:lnTo>
                    <a:pt x="423621" y="6096"/>
                  </a:lnTo>
                  <a:lnTo>
                    <a:pt x="626313" y="6096"/>
                  </a:lnTo>
                  <a:lnTo>
                    <a:pt x="626313" y="176784"/>
                  </a:lnTo>
                  <a:lnTo>
                    <a:pt x="632409" y="176784"/>
                  </a:lnTo>
                  <a:lnTo>
                    <a:pt x="632409" y="6096"/>
                  </a:lnTo>
                  <a:lnTo>
                    <a:pt x="835101" y="6096"/>
                  </a:lnTo>
                  <a:lnTo>
                    <a:pt x="835101" y="176784"/>
                  </a:lnTo>
                  <a:lnTo>
                    <a:pt x="841197" y="176784"/>
                  </a:lnTo>
                  <a:lnTo>
                    <a:pt x="841197" y="6096"/>
                  </a:lnTo>
                  <a:lnTo>
                    <a:pt x="1113993" y="6096"/>
                  </a:lnTo>
                  <a:lnTo>
                    <a:pt x="1113993" y="176784"/>
                  </a:lnTo>
                  <a:lnTo>
                    <a:pt x="1120076" y="176784"/>
                  </a:lnTo>
                  <a:lnTo>
                    <a:pt x="1120076" y="6096"/>
                  </a:lnTo>
                  <a:lnTo>
                    <a:pt x="1120076" y="0"/>
                  </a:lnTo>
                  <a:close/>
                </a:path>
                <a:path w="2096135" h="360045">
                  <a:moveTo>
                    <a:pt x="1601978" y="176796"/>
                  </a:moveTo>
                  <a:lnTo>
                    <a:pt x="1400505" y="176796"/>
                  </a:lnTo>
                  <a:lnTo>
                    <a:pt x="1394409" y="176796"/>
                  </a:lnTo>
                  <a:lnTo>
                    <a:pt x="1120089" y="176796"/>
                  </a:lnTo>
                  <a:lnTo>
                    <a:pt x="1120089" y="182880"/>
                  </a:lnTo>
                  <a:lnTo>
                    <a:pt x="1394409" y="182880"/>
                  </a:lnTo>
                  <a:lnTo>
                    <a:pt x="1394409" y="353568"/>
                  </a:lnTo>
                  <a:lnTo>
                    <a:pt x="1120089" y="353568"/>
                  </a:lnTo>
                  <a:lnTo>
                    <a:pt x="1120089" y="359664"/>
                  </a:lnTo>
                  <a:lnTo>
                    <a:pt x="1394409" y="359664"/>
                  </a:lnTo>
                  <a:lnTo>
                    <a:pt x="1400505" y="359664"/>
                  </a:lnTo>
                  <a:lnTo>
                    <a:pt x="1400505" y="353568"/>
                  </a:lnTo>
                  <a:lnTo>
                    <a:pt x="1400505" y="182880"/>
                  </a:lnTo>
                  <a:lnTo>
                    <a:pt x="1601978" y="182880"/>
                  </a:lnTo>
                  <a:lnTo>
                    <a:pt x="1601978" y="176796"/>
                  </a:lnTo>
                  <a:close/>
                </a:path>
                <a:path w="2096135" h="360045">
                  <a:moveTo>
                    <a:pt x="1601978" y="0"/>
                  </a:moveTo>
                  <a:lnTo>
                    <a:pt x="1400505" y="0"/>
                  </a:lnTo>
                  <a:lnTo>
                    <a:pt x="1394409" y="0"/>
                  </a:lnTo>
                  <a:lnTo>
                    <a:pt x="1120089" y="0"/>
                  </a:lnTo>
                  <a:lnTo>
                    <a:pt x="1120089" y="6096"/>
                  </a:lnTo>
                  <a:lnTo>
                    <a:pt x="1394409" y="6096"/>
                  </a:lnTo>
                  <a:lnTo>
                    <a:pt x="1394409" y="176784"/>
                  </a:lnTo>
                  <a:lnTo>
                    <a:pt x="1400505" y="176784"/>
                  </a:lnTo>
                  <a:lnTo>
                    <a:pt x="1400505" y="6096"/>
                  </a:lnTo>
                  <a:lnTo>
                    <a:pt x="1601978" y="6096"/>
                  </a:lnTo>
                  <a:lnTo>
                    <a:pt x="1601978" y="0"/>
                  </a:lnTo>
                  <a:close/>
                </a:path>
                <a:path w="2096135" h="360045">
                  <a:moveTo>
                    <a:pt x="1882457" y="176796"/>
                  </a:moveTo>
                  <a:lnTo>
                    <a:pt x="1608150" y="176796"/>
                  </a:lnTo>
                  <a:lnTo>
                    <a:pt x="1602054" y="176796"/>
                  </a:lnTo>
                  <a:lnTo>
                    <a:pt x="1602054" y="182880"/>
                  </a:lnTo>
                  <a:lnTo>
                    <a:pt x="1608150" y="182880"/>
                  </a:lnTo>
                  <a:lnTo>
                    <a:pt x="1882457" y="182880"/>
                  </a:lnTo>
                  <a:lnTo>
                    <a:pt x="1882457" y="176796"/>
                  </a:lnTo>
                  <a:close/>
                </a:path>
                <a:path w="2096135" h="360045">
                  <a:moveTo>
                    <a:pt x="1882457" y="0"/>
                  </a:moveTo>
                  <a:lnTo>
                    <a:pt x="1608150" y="0"/>
                  </a:lnTo>
                  <a:lnTo>
                    <a:pt x="1602054" y="0"/>
                  </a:lnTo>
                  <a:lnTo>
                    <a:pt x="1602054" y="6096"/>
                  </a:lnTo>
                  <a:lnTo>
                    <a:pt x="1602054" y="176784"/>
                  </a:lnTo>
                  <a:lnTo>
                    <a:pt x="1608150" y="176784"/>
                  </a:lnTo>
                  <a:lnTo>
                    <a:pt x="1608150" y="6096"/>
                  </a:lnTo>
                  <a:lnTo>
                    <a:pt x="1882457" y="6096"/>
                  </a:lnTo>
                  <a:lnTo>
                    <a:pt x="1882457" y="0"/>
                  </a:lnTo>
                  <a:close/>
                </a:path>
                <a:path w="2096135" h="360045">
                  <a:moveTo>
                    <a:pt x="2095830" y="176796"/>
                  </a:moveTo>
                  <a:lnTo>
                    <a:pt x="2089734" y="176796"/>
                  </a:lnTo>
                  <a:lnTo>
                    <a:pt x="1888566" y="176796"/>
                  </a:lnTo>
                  <a:lnTo>
                    <a:pt x="1882470" y="176796"/>
                  </a:lnTo>
                  <a:lnTo>
                    <a:pt x="1882470" y="182880"/>
                  </a:lnTo>
                  <a:lnTo>
                    <a:pt x="1888566" y="182880"/>
                  </a:lnTo>
                  <a:lnTo>
                    <a:pt x="2089734" y="182880"/>
                  </a:lnTo>
                  <a:lnTo>
                    <a:pt x="2095830" y="182880"/>
                  </a:lnTo>
                  <a:lnTo>
                    <a:pt x="2095830" y="176796"/>
                  </a:lnTo>
                  <a:close/>
                </a:path>
                <a:path w="2096135" h="360045">
                  <a:moveTo>
                    <a:pt x="2095830" y="0"/>
                  </a:moveTo>
                  <a:lnTo>
                    <a:pt x="2089734" y="0"/>
                  </a:lnTo>
                  <a:lnTo>
                    <a:pt x="1888566" y="0"/>
                  </a:lnTo>
                  <a:lnTo>
                    <a:pt x="1882470" y="0"/>
                  </a:lnTo>
                  <a:lnTo>
                    <a:pt x="1882470" y="6096"/>
                  </a:lnTo>
                  <a:lnTo>
                    <a:pt x="1882470" y="176784"/>
                  </a:lnTo>
                  <a:lnTo>
                    <a:pt x="1888566" y="176784"/>
                  </a:lnTo>
                  <a:lnTo>
                    <a:pt x="1888566" y="6096"/>
                  </a:lnTo>
                  <a:lnTo>
                    <a:pt x="2089734" y="6096"/>
                  </a:lnTo>
                  <a:lnTo>
                    <a:pt x="2089734" y="176784"/>
                  </a:lnTo>
                  <a:lnTo>
                    <a:pt x="2095830" y="176784"/>
                  </a:lnTo>
                  <a:lnTo>
                    <a:pt x="2095830" y="6096"/>
                  </a:lnTo>
                  <a:lnTo>
                    <a:pt x="2095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93874" y="4737226"/>
              <a:ext cx="701675" cy="177165"/>
            </a:xfrm>
            <a:custGeom>
              <a:avLst/>
              <a:gdLst/>
              <a:ahLst/>
              <a:cxnLst/>
              <a:rect l="l" t="t" r="r" b="b"/>
              <a:pathLst>
                <a:path w="701675" h="177164">
                  <a:moveTo>
                    <a:pt x="207568" y="170688"/>
                  </a:moveTo>
                  <a:lnTo>
                    <a:pt x="6096" y="170688"/>
                  </a:lnTo>
                  <a:lnTo>
                    <a:pt x="0" y="170688"/>
                  </a:lnTo>
                  <a:lnTo>
                    <a:pt x="0" y="176784"/>
                  </a:lnTo>
                  <a:lnTo>
                    <a:pt x="6096" y="176784"/>
                  </a:lnTo>
                  <a:lnTo>
                    <a:pt x="207568" y="176784"/>
                  </a:lnTo>
                  <a:lnTo>
                    <a:pt x="207568" y="170688"/>
                  </a:lnTo>
                  <a:close/>
                </a:path>
                <a:path w="701675" h="177164">
                  <a:moveTo>
                    <a:pt x="488048" y="170688"/>
                  </a:moveTo>
                  <a:lnTo>
                    <a:pt x="213741" y="170688"/>
                  </a:lnTo>
                  <a:lnTo>
                    <a:pt x="213741" y="0"/>
                  </a:lnTo>
                  <a:lnTo>
                    <a:pt x="207645" y="0"/>
                  </a:lnTo>
                  <a:lnTo>
                    <a:pt x="207645" y="170688"/>
                  </a:lnTo>
                  <a:lnTo>
                    <a:pt x="207645" y="176784"/>
                  </a:lnTo>
                  <a:lnTo>
                    <a:pt x="213741" y="176784"/>
                  </a:lnTo>
                  <a:lnTo>
                    <a:pt x="488048" y="176784"/>
                  </a:lnTo>
                  <a:lnTo>
                    <a:pt x="488048" y="170688"/>
                  </a:lnTo>
                  <a:close/>
                </a:path>
                <a:path w="701675" h="177164">
                  <a:moveTo>
                    <a:pt x="701421" y="0"/>
                  </a:moveTo>
                  <a:lnTo>
                    <a:pt x="695325" y="0"/>
                  </a:lnTo>
                  <a:lnTo>
                    <a:pt x="695325" y="170688"/>
                  </a:lnTo>
                  <a:lnTo>
                    <a:pt x="494157" y="170688"/>
                  </a:lnTo>
                  <a:lnTo>
                    <a:pt x="494157" y="0"/>
                  </a:lnTo>
                  <a:lnTo>
                    <a:pt x="488061" y="0"/>
                  </a:lnTo>
                  <a:lnTo>
                    <a:pt x="488061" y="170688"/>
                  </a:lnTo>
                  <a:lnTo>
                    <a:pt x="488061" y="176784"/>
                  </a:lnTo>
                  <a:lnTo>
                    <a:pt x="494157" y="176784"/>
                  </a:lnTo>
                  <a:lnTo>
                    <a:pt x="695325" y="176784"/>
                  </a:lnTo>
                  <a:lnTo>
                    <a:pt x="701421" y="176784"/>
                  </a:lnTo>
                  <a:lnTo>
                    <a:pt x="701421" y="170688"/>
                  </a:lnTo>
                  <a:lnTo>
                    <a:pt x="701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99464" y="5084698"/>
            <a:ext cx="2111375" cy="360045"/>
            <a:chOff x="899464" y="5084698"/>
            <a:chExt cx="2111375" cy="360045"/>
          </a:xfrm>
        </p:grpSpPr>
        <p:sp>
          <p:nvSpPr>
            <p:cNvPr id="27" name="object 27"/>
            <p:cNvSpPr/>
            <p:nvPr/>
          </p:nvSpPr>
          <p:spPr>
            <a:xfrm>
              <a:off x="907084" y="5090794"/>
              <a:ext cx="204470" cy="170815"/>
            </a:xfrm>
            <a:custGeom>
              <a:avLst/>
              <a:gdLst/>
              <a:ahLst/>
              <a:cxnLst/>
              <a:rect l="l" t="t" r="r" b="b"/>
              <a:pathLst>
                <a:path w="204469" h="170814">
                  <a:moveTo>
                    <a:pt x="204215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04215" y="170687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17396" y="5090794"/>
              <a:ext cx="204470" cy="170815"/>
            </a:xfrm>
            <a:custGeom>
              <a:avLst/>
              <a:gdLst/>
              <a:ahLst/>
              <a:cxnLst/>
              <a:rect l="l" t="t" r="r" b="b"/>
              <a:pathLst>
                <a:path w="204469" h="170814">
                  <a:moveTo>
                    <a:pt x="204215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04215" y="170687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27658" y="5090794"/>
              <a:ext cx="905510" cy="170815"/>
            </a:xfrm>
            <a:custGeom>
              <a:avLst/>
              <a:gdLst/>
              <a:ahLst/>
              <a:cxnLst/>
              <a:rect l="l" t="t" r="r" b="b"/>
              <a:pathLst>
                <a:path w="905510" h="170814">
                  <a:moveTo>
                    <a:pt x="204216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04216" y="170688"/>
                  </a:lnTo>
                  <a:lnTo>
                    <a:pt x="204216" y="0"/>
                  </a:lnTo>
                  <a:close/>
                </a:path>
                <a:path w="905510" h="170814">
                  <a:moveTo>
                    <a:pt x="414528" y="0"/>
                  </a:moveTo>
                  <a:lnTo>
                    <a:pt x="210312" y="0"/>
                  </a:lnTo>
                  <a:lnTo>
                    <a:pt x="210312" y="170688"/>
                  </a:lnTo>
                  <a:lnTo>
                    <a:pt x="414528" y="170688"/>
                  </a:lnTo>
                  <a:lnTo>
                    <a:pt x="414528" y="0"/>
                  </a:lnTo>
                  <a:close/>
                </a:path>
                <a:path w="905510" h="170814">
                  <a:moveTo>
                    <a:pt x="626351" y="0"/>
                  </a:moveTo>
                  <a:lnTo>
                    <a:pt x="420624" y="0"/>
                  </a:lnTo>
                  <a:lnTo>
                    <a:pt x="420624" y="170688"/>
                  </a:lnTo>
                  <a:lnTo>
                    <a:pt x="626351" y="170688"/>
                  </a:lnTo>
                  <a:lnTo>
                    <a:pt x="626351" y="0"/>
                  </a:lnTo>
                  <a:close/>
                </a:path>
                <a:path w="905510" h="170814">
                  <a:moveTo>
                    <a:pt x="905256" y="0"/>
                  </a:moveTo>
                  <a:lnTo>
                    <a:pt x="632460" y="0"/>
                  </a:lnTo>
                  <a:lnTo>
                    <a:pt x="632460" y="170688"/>
                  </a:lnTo>
                  <a:lnTo>
                    <a:pt x="905256" y="170688"/>
                  </a:lnTo>
                  <a:lnTo>
                    <a:pt x="905256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39009" y="5090794"/>
              <a:ext cx="273685" cy="170815"/>
            </a:xfrm>
            <a:custGeom>
              <a:avLst/>
              <a:gdLst/>
              <a:ahLst/>
              <a:cxnLst/>
              <a:rect l="l" t="t" r="r" b="b"/>
              <a:pathLst>
                <a:path w="273685" h="170814">
                  <a:moveTo>
                    <a:pt x="273100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73100" y="170687"/>
                  </a:lnTo>
                  <a:lnTo>
                    <a:pt x="2731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99464" y="5084711"/>
              <a:ext cx="2111375" cy="360045"/>
            </a:xfrm>
            <a:custGeom>
              <a:avLst/>
              <a:gdLst/>
              <a:ahLst/>
              <a:cxnLst/>
              <a:rect l="l" t="t" r="r" b="b"/>
              <a:pathLst>
                <a:path w="2111375" h="360045">
                  <a:moveTo>
                    <a:pt x="1053020" y="0"/>
                  </a:moveTo>
                  <a:lnTo>
                    <a:pt x="847293" y="0"/>
                  </a:lnTo>
                  <a:lnTo>
                    <a:pt x="841197" y="0"/>
                  </a:lnTo>
                  <a:lnTo>
                    <a:pt x="841197" y="6083"/>
                  </a:lnTo>
                  <a:lnTo>
                    <a:pt x="841197" y="176771"/>
                  </a:lnTo>
                  <a:lnTo>
                    <a:pt x="636981" y="176771"/>
                  </a:lnTo>
                  <a:lnTo>
                    <a:pt x="636981" y="6083"/>
                  </a:lnTo>
                  <a:lnTo>
                    <a:pt x="841197" y="6083"/>
                  </a:lnTo>
                  <a:lnTo>
                    <a:pt x="841197" y="0"/>
                  </a:lnTo>
                  <a:lnTo>
                    <a:pt x="636981" y="0"/>
                  </a:lnTo>
                  <a:lnTo>
                    <a:pt x="630885" y="0"/>
                  </a:lnTo>
                  <a:lnTo>
                    <a:pt x="630885" y="6083"/>
                  </a:lnTo>
                  <a:lnTo>
                    <a:pt x="630885" y="176771"/>
                  </a:lnTo>
                  <a:lnTo>
                    <a:pt x="426669" y="176771"/>
                  </a:lnTo>
                  <a:lnTo>
                    <a:pt x="426669" y="6083"/>
                  </a:lnTo>
                  <a:lnTo>
                    <a:pt x="630885" y="6083"/>
                  </a:lnTo>
                  <a:lnTo>
                    <a:pt x="630885" y="0"/>
                  </a:lnTo>
                  <a:lnTo>
                    <a:pt x="426669" y="0"/>
                  </a:lnTo>
                  <a:lnTo>
                    <a:pt x="420624" y="0"/>
                  </a:lnTo>
                  <a:lnTo>
                    <a:pt x="420573" y="6083"/>
                  </a:lnTo>
                  <a:lnTo>
                    <a:pt x="420573" y="176771"/>
                  </a:lnTo>
                  <a:lnTo>
                    <a:pt x="216408" y="176771"/>
                  </a:lnTo>
                  <a:lnTo>
                    <a:pt x="216408" y="6083"/>
                  </a:lnTo>
                  <a:lnTo>
                    <a:pt x="420573" y="6083"/>
                  </a:lnTo>
                  <a:lnTo>
                    <a:pt x="420573" y="0"/>
                  </a:lnTo>
                  <a:lnTo>
                    <a:pt x="216408" y="0"/>
                  </a:lnTo>
                  <a:lnTo>
                    <a:pt x="210312" y="0"/>
                  </a:lnTo>
                  <a:lnTo>
                    <a:pt x="210312" y="6083"/>
                  </a:lnTo>
                  <a:lnTo>
                    <a:pt x="210312" y="176771"/>
                  </a:lnTo>
                  <a:lnTo>
                    <a:pt x="6096" y="176771"/>
                  </a:lnTo>
                  <a:lnTo>
                    <a:pt x="6096" y="6083"/>
                  </a:lnTo>
                  <a:lnTo>
                    <a:pt x="210312" y="6083"/>
                  </a:lnTo>
                  <a:lnTo>
                    <a:pt x="210312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0" y="176771"/>
                  </a:lnTo>
                  <a:lnTo>
                    <a:pt x="0" y="182867"/>
                  </a:lnTo>
                  <a:lnTo>
                    <a:pt x="0" y="353555"/>
                  </a:lnTo>
                  <a:lnTo>
                    <a:pt x="6096" y="353555"/>
                  </a:lnTo>
                  <a:lnTo>
                    <a:pt x="6096" y="182867"/>
                  </a:lnTo>
                  <a:lnTo>
                    <a:pt x="210312" y="182867"/>
                  </a:lnTo>
                  <a:lnTo>
                    <a:pt x="210312" y="353555"/>
                  </a:lnTo>
                  <a:lnTo>
                    <a:pt x="216408" y="353555"/>
                  </a:lnTo>
                  <a:lnTo>
                    <a:pt x="216408" y="182867"/>
                  </a:lnTo>
                  <a:lnTo>
                    <a:pt x="420573" y="182867"/>
                  </a:lnTo>
                  <a:lnTo>
                    <a:pt x="420573" y="353555"/>
                  </a:lnTo>
                  <a:lnTo>
                    <a:pt x="426669" y="353555"/>
                  </a:lnTo>
                  <a:lnTo>
                    <a:pt x="426669" y="182867"/>
                  </a:lnTo>
                  <a:lnTo>
                    <a:pt x="630885" y="182867"/>
                  </a:lnTo>
                  <a:lnTo>
                    <a:pt x="630885" y="353555"/>
                  </a:lnTo>
                  <a:lnTo>
                    <a:pt x="636981" y="353555"/>
                  </a:lnTo>
                  <a:lnTo>
                    <a:pt x="636981" y="182867"/>
                  </a:lnTo>
                  <a:lnTo>
                    <a:pt x="841197" y="182867"/>
                  </a:lnTo>
                  <a:lnTo>
                    <a:pt x="841197" y="353555"/>
                  </a:lnTo>
                  <a:lnTo>
                    <a:pt x="847293" y="353555"/>
                  </a:lnTo>
                  <a:lnTo>
                    <a:pt x="847293" y="182867"/>
                  </a:lnTo>
                  <a:lnTo>
                    <a:pt x="1053020" y="182867"/>
                  </a:lnTo>
                  <a:lnTo>
                    <a:pt x="1053020" y="176771"/>
                  </a:lnTo>
                  <a:lnTo>
                    <a:pt x="847293" y="176771"/>
                  </a:lnTo>
                  <a:lnTo>
                    <a:pt x="847293" y="6083"/>
                  </a:lnTo>
                  <a:lnTo>
                    <a:pt x="1053020" y="6083"/>
                  </a:lnTo>
                  <a:lnTo>
                    <a:pt x="1053020" y="0"/>
                  </a:lnTo>
                  <a:close/>
                </a:path>
                <a:path w="2111375" h="360045">
                  <a:moveTo>
                    <a:pt x="1339532" y="0"/>
                  </a:moveTo>
                  <a:lnTo>
                    <a:pt x="1333449" y="0"/>
                  </a:lnTo>
                  <a:lnTo>
                    <a:pt x="1333449" y="6083"/>
                  </a:lnTo>
                  <a:lnTo>
                    <a:pt x="1333449" y="176771"/>
                  </a:lnTo>
                  <a:lnTo>
                    <a:pt x="1059129" y="176771"/>
                  </a:lnTo>
                  <a:lnTo>
                    <a:pt x="1059129" y="6083"/>
                  </a:lnTo>
                  <a:lnTo>
                    <a:pt x="1333449" y="6083"/>
                  </a:lnTo>
                  <a:lnTo>
                    <a:pt x="1333449" y="0"/>
                  </a:lnTo>
                  <a:lnTo>
                    <a:pt x="1059129" y="0"/>
                  </a:lnTo>
                  <a:lnTo>
                    <a:pt x="1053033" y="0"/>
                  </a:lnTo>
                  <a:lnTo>
                    <a:pt x="1053033" y="6083"/>
                  </a:lnTo>
                  <a:lnTo>
                    <a:pt x="1053033" y="176771"/>
                  </a:lnTo>
                  <a:lnTo>
                    <a:pt x="1053033" y="182867"/>
                  </a:lnTo>
                  <a:lnTo>
                    <a:pt x="1053033" y="353555"/>
                  </a:lnTo>
                  <a:lnTo>
                    <a:pt x="1059129" y="353555"/>
                  </a:lnTo>
                  <a:lnTo>
                    <a:pt x="1059129" y="182867"/>
                  </a:lnTo>
                  <a:lnTo>
                    <a:pt x="1333449" y="182867"/>
                  </a:lnTo>
                  <a:lnTo>
                    <a:pt x="1333449" y="353555"/>
                  </a:lnTo>
                  <a:lnTo>
                    <a:pt x="1339532" y="353555"/>
                  </a:lnTo>
                  <a:lnTo>
                    <a:pt x="1339532" y="182867"/>
                  </a:lnTo>
                  <a:lnTo>
                    <a:pt x="1339532" y="176771"/>
                  </a:lnTo>
                  <a:lnTo>
                    <a:pt x="1339532" y="6083"/>
                  </a:lnTo>
                  <a:lnTo>
                    <a:pt x="1339532" y="0"/>
                  </a:lnTo>
                  <a:close/>
                </a:path>
                <a:path w="2111375" h="360045">
                  <a:moveTo>
                    <a:pt x="1612646" y="176771"/>
                  </a:moveTo>
                  <a:lnTo>
                    <a:pt x="1339545" y="176771"/>
                  </a:lnTo>
                  <a:lnTo>
                    <a:pt x="1339545" y="182867"/>
                  </a:lnTo>
                  <a:lnTo>
                    <a:pt x="1612646" y="182867"/>
                  </a:lnTo>
                  <a:lnTo>
                    <a:pt x="1612646" y="176771"/>
                  </a:lnTo>
                  <a:close/>
                </a:path>
                <a:path w="2111375" h="360045">
                  <a:moveTo>
                    <a:pt x="1612646" y="0"/>
                  </a:moveTo>
                  <a:lnTo>
                    <a:pt x="1339545" y="0"/>
                  </a:lnTo>
                  <a:lnTo>
                    <a:pt x="1339545" y="6083"/>
                  </a:lnTo>
                  <a:lnTo>
                    <a:pt x="1612646" y="6083"/>
                  </a:lnTo>
                  <a:lnTo>
                    <a:pt x="1612646" y="0"/>
                  </a:lnTo>
                  <a:close/>
                </a:path>
                <a:path w="2111375" h="360045">
                  <a:moveTo>
                    <a:pt x="2111057" y="0"/>
                  </a:moveTo>
                  <a:lnTo>
                    <a:pt x="2104974" y="0"/>
                  </a:lnTo>
                  <a:lnTo>
                    <a:pt x="2104974" y="6083"/>
                  </a:lnTo>
                  <a:lnTo>
                    <a:pt x="2104974" y="176771"/>
                  </a:lnTo>
                  <a:lnTo>
                    <a:pt x="1900758" y="176771"/>
                  </a:lnTo>
                  <a:lnTo>
                    <a:pt x="1900758" y="6083"/>
                  </a:lnTo>
                  <a:lnTo>
                    <a:pt x="2104974" y="6083"/>
                  </a:lnTo>
                  <a:lnTo>
                    <a:pt x="2104974" y="0"/>
                  </a:lnTo>
                  <a:lnTo>
                    <a:pt x="1900758" y="0"/>
                  </a:lnTo>
                  <a:lnTo>
                    <a:pt x="1894662" y="0"/>
                  </a:lnTo>
                  <a:lnTo>
                    <a:pt x="1894662" y="6083"/>
                  </a:lnTo>
                  <a:lnTo>
                    <a:pt x="1894662" y="176771"/>
                  </a:lnTo>
                  <a:lnTo>
                    <a:pt x="1618818" y="176771"/>
                  </a:lnTo>
                  <a:lnTo>
                    <a:pt x="1618818" y="6083"/>
                  </a:lnTo>
                  <a:lnTo>
                    <a:pt x="1894662" y="6083"/>
                  </a:lnTo>
                  <a:lnTo>
                    <a:pt x="1894662" y="0"/>
                  </a:lnTo>
                  <a:lnTo>
                    <a:pt x="1618818" y="0"/>
                  </a:lnTo>
                  <a:lnTo>
                    <a:pt x="1612722" y="0"/>
                  </a:lnTo>
                  <a:lnTo>
                    <a:pt x="1612722" y="6083"/>
                  </a:lnTo>
                  <a:lnTo>
                    <a:pt x="1612722" y="176771"/>
                  </a:lnTo>
                  <a:lnTo>
                    <a:pt x="1612722" y="182867"/>
                  </a:lnTo>
                  <a:lnTo>
                    <a:pt x="1612722" y="353555"/>
                  </a:lnTo>
                  <a:lnTo>
                    <a:pt x="1618818" y="353555"/>
                  </a:lnTo>
                  <a:lnTo>
                    <a:pt x="1618818" y="182867"/>
                  </a:lnTo>
                  <a:lnTo>
                    <a:pt x="1894662" y="182867"/>
                  </a:lnTo>
                  <a:lnTo>
                    <a:pt x="1894662" y="353555"/>
                  </a:lnTo>
                  <a:lnTo>
                    <a:pt x="1900758" y="353555"/>
                  </a:lnTo>
                  <a:lnTo>
                    <a:pt x="1900758" y="182867"/>
                  </a:lnTo>
                  <a:lnTo>
                    <a:pt x="2104974" y="182867"/>
                  </a:lnTo>
                  <a:lnTo>
                    <a:pt x="2104974" y="353555"/>
                  </a:lnTo>
                  <a:lnTo>
                    <a:pt x="2104974" y="359651"/>
                  </a:lnTo>
                  <a:lnTo>
                    <a:pt x="2111057" y="359651"/>
                  </a:lnTo>
                  <a:lnTo>
                    <a:pt x="2111057" y="353555"/>
                  </a:lnTo>
                  <a:lnTo>
                    <a:pt x="2111057" y="182867"/>
                  </a:lnTo>
                  <a:lnTo>
                    <a:pt x="2111057" y="176771"/>
                  </a:lnTo>
                  <a:lnTo>
                    <a:pt x="2111057" y="6083"/>
                  </a:lnTo>
                  <a:lnTo>
                    <a:pt x="21110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902512" y="5438266"/>
          <a:ext cx="2096133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84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3" name="object 33"/>
          <p:cNvGrpSpPr/>
          <p:nvPr/>
        </p:nvGrpSpPr>
        <p:grpSpPr>
          <a:xfrm>
            <a:off x="899464" y="5615050"/>
            <a:ext cx="2096135" cy="182880"/>
            <a:chOff x="899464" y="5615050"/>
            <a:chExt cx="2096135" cy="182880"/>
          </a:xfrm>
        </p:grpSpPr>
        <p:sp>
          <p:nvSpPr>
            <p:cNvPr id="34" name="object 34"/>
            <p:cNvSpPr/>
            <p:nvPr/>
          </p:nvSpPr>
          <p:spPr>
            <a:xfrm>
              <a:off x="907084" y="5621146"/>
              <a:ext cx="1579245" cy="170815"/>
            </a:xfrm>
            <a:custGeom>
              <a:avLst/>
              <a:gdLst/>
              <a:ahLst/>
              <a:cxnLst/>
              <a:rect l="l" t="t" r="r" b="b"/>
              <a:pathLst>
                <a:path w="1579245" h="170814">
                  <a:moveTo>
                    <a:pt x="208788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08788" y="170688"/>
                  </a:lnTo>
                  <a:lnTo>
                    <a:pt x="208788" y="0"/>
                  </a:lnTo>
                  <a:close/>
                </a:path>
                <a:path w="1579245" h="170814">
                  <a:moveTo>
                    <a:pt x="425196" y="0"/>
                  </a:moveTo>
                  <a:lnTo>
                    <a:pt x="214884" y="0"/>
                  </a:lnTo>
                  <a:lnTo>
                    <a:pt x="214884" y="170688"/>
                  </a:lnTo>
                  <a:lnTo>
                    <a:pt x="425196" y="170688"/>
                  </a:lnTo>
                  <a:lnTo>
                    <a:pt x="425196" y="0"/>
                  </a:lnTo>
                  <a:close/>
                </a:path>
                <a:path w="1579245" h="170814">
                  <a:moveTo>
                    <a:pt x="641553" y="0"/>
                  </a:moveTo>
                  <a:lnTo>
                    <a:pt x="431241" y="0"/>
                  </a:lnTo>
                  <a:lnTo>
                    <a:pt x="431241" y="170688"/>
                  </a:lnTo>
                  <a:lnTo>
                    <a:pt x="641553" y="170688"/>
                  </a:lnTo>
                  <a:lnTo>
                    <a:pt x="641553" y="0"/>
                  </a:lnTo>
                  <a:close/>
                </a:path>
                <a:path w="1579245" h="170814">
                  <a:moveTo>
                    <a:pt x="857961" y="0"/>
                  </a:moveTo>
                  <a:lnTo>
                    <a:pt x="647649" y="0"/>
                  </a:lnTo>
                  <a:lnTo>
                    <a:pt x="647649" y="170688"/>
                  </a:lnTo>
                  <a:lnTo>
                    <a:pt x="857961" y="170688"/>
                  </a:lnTo>
                  <a:lnTo>
                    <a:pt x="857961" y="0"/>
                  </a:lnTo>
                  <a:close/>
                </a:path>
                <a:path w="1579245" h="170814">
                  <a:moveTo>
                    <a:pt x="1081989" y="0"/>
                  </a:moveTo>
                  <a:lnTo>
                    <a:pt x="864057" y="0"/>
                  </a:lnTo>
                  <a:lnTo>
                    <a:pt x="864057" y="170688"/>
                  </a:lnTo>
                  <a:lnTo>
                    <a:pt x="1081989" y="170688"/>
                  </a:lnTo>
                  <a:lnTo>
                    <a:pt x="1081989" y="0"/>
                  </a:lnTo>
                  <a:close/>
                </a:path>
                <a:path w="1579245" h="170814">
                  <a:moveTo>
                    <a:pt x="1299921" y="0"/>
                  </a:moveTo>
                  <a:lnTo>
                    <a:pt x="1089609" y="0"/>
                  </a:lnTo>
                  <a:lnTo>
                    <a:pt x="1089609" y="170688"/>
                  </a:lnTo>
                  <a:lnTo>
                    <a:pt x="1299921" y="170688"/>
                  </a:lnTo>
                  <a:lnTo>
                    <a:pt x="1299921" y="0"/>
                  </a:lnTo>
                  <a:close/>
                </a:path>
                <a:path w="1579245" h="170814">
                  <a:moveTo>
                    <a:pt x="1579105" y="0"/>
                  </a:moveTo>
                  <a:lnTo>
                    <a:pt x="1306017" y="0"/>
                  </a:lnTo>
                  <a:lnTo>
                    <a:pt x="1306017" y="170688"/>
                  </a:lnTo>
                  <a:lnTo>
                    <a:pt x="1579105" y="170688"/>
                  </a:lnTo>
                  <a:lnTo>
                    <a:pt x="1579105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92375" y="5621146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99464" y="5615050"/>
              <a:ext cx="2096135" cy="182880"/>
            </a:xfrm>
            <a:custGeom>
              <a:avLst/>
              <a:gdLst/>
              <a:ahLst/>
              <a:cxnLst/>
              <a:rect l="l" t="t" r="r" b="b"/>
              <a:pathLst>
                <a:path w="2096135" h="182879">
                  <a:moveTo>
                    <a:pt x="871664" y="0"/>
                  </a:moveTo>
                  <a:lnTo>
                    <a:pt x="871664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871664" y="6096"/>
                  </a:lnTo>
                  <a:lnTo>
                    <a:pt x="871664" y="0"/>
                  </a:lnTo>
                  <a:close/>
                </a:path>
                <a:path w="2096135" h="182879">
                  <a:moveTo>
                    <a:pt x="1586725" y="0"/>
                  </a:moveTo>
                  <a:lnTo>
                    <a:pt x="1586725" y="0"/>
                  </a:lnTo>
                  <a:lnTo>
                    <a:pt x="871677" y="0"/>
                  </a:lnTo>
                  <a:lnTo>
                    <a:pt x="871677" y="6096"/>
                  </a:lnTo>
                  <a:lnTo>
                    <a:pt x="1586725" y="6096"/>
                  </a:lnTo>
                  <a:lnTo>
                    <a:pt x="1586725" y="0"/>
                  </a:lnTo>
                  <a:close/>
                </a:path>
                <a:path w="2096135" h="182879">
                  <a:moveTo>
                    <a:pt x="1873313" y="0"/>
                  </a:moveTo>
                  <a:lnTo>
                    <a:pt x="1592910" y="0"/>
                  </a:lnTo>
                  <a:lnTo>
                    <a:pt x="1586814" y="0"/>
                  </a:lnTo>
                  <a:lnTo>
                    <a:pt x="1586814" y="6096"/>
                  </a:lnTo>
                  <a:lnTo>
                    <a:pt x="1592910" y="6096"/>
                  </a:lnTo>
                  <a:lnTo>
                    <a:pt x="1873313" y="6096"/>
                  </a:lnTo>
                  <a:lnTo>
                    <a:pt x="1873313" y="0"/>
                  </a:lnTo>
                  <a:close/>
                </a:path>
                <a:path w="2096135" h="182879">
                  <a:moveTo>
                    <a:pt x="2095830" y="0"/>
                  </a:moveTo>
                  <a:lnTo>
                    <a:pt x="2089734" y="0"/>
                  </a:lnTo>
                  <a:lnTo>
                    <a:pt x="1879422" y="0"/>
                  </a:lnTo>
                  <a:lnTo>
                    <a:pt x="1873326" y="0"/>
                  </a:lnTo>
                  <a:lnTo>
                    <a:pt x="1873326" y="6096"/>
                  </a:lnTo>
                  <a:lnTo>
                    <a:pt x="1879422" y="6096"/>
                  </a:lnTo>
                  <a:lnTo>
                    <a:pt x="2089734" y="6096"/>
                  </a:lnTo>
                  <a:lnTo>
                    <a:pt x="2089734" y="176784"/>
                  </a:lnTo>
                  <a:lnTo>
                    <a:pt x="1879422" y="176784"/>
                  </a:lnTo>
                  <a:lnTo>
                    <a:pt x="1879422" y="182880"/>
                  </a:lnTo>
                  <a:lnTo>
                    <a:pt x="2089734" y="182880"/>
                  </a:lnTo>
                  <a:lnTo>
                    <a:pt x="2095830" y="182880"/>
                  </a:lnTo>
                  <a:lnTo>
                    <a:pt x="2095830" y="176784"/>
                  </a:lnTo>
                  <a:lnTo>
                    <a:pt x="2095830" y="6096"/>
                  </a:lnTo>
                  <a:lnTo>
                    <a:pt x="2095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827836" y="2961385"/>
          <a:ext cx="5759445" cy="336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3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03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1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9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0901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7325">
                <a:tc gridSpan="4"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1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6050">
                        <a:lnSpc>
                          <a:spcPts val="1190"/>
                        </a:lnSpc>
                        <a:tabLst>
                          <a:tab pos="360680" algn="l"/>
                          <a:tab pos="57721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350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4460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65">
                <a:tc gridSpan="4">
                  <a:txBody>
                    <a:bodyPr/>
                    <a:lstStyle/>
                    <a:p>
                      <a:pPr marL="146050">
                        <a:lnSpc>
                          <a:spcPts val="1195"/>
                        </a:lnSpc>
                        <a:tabLst>
                          <a:tab pos="360680" algn="l"/>
                          <a:tab pos="57721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3505">
                        <a:lnSpc>
                          <a:spcPts val="119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4460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119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65">
                <a:tc gridSpan="4">
                  <a:txBody>
                    <a:bodyPr/>
                    <a:lstStyle/>
                    <a:p>
                      <a:pPr marL="67945">
                        <a:lnSpc>
                          <a:spcPts val="120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6050">
                        <a:lnSpc>
                          <a:spcPts val="1190"/>
                        </a:lnSpc>
                        <a:tabLst>
                          <a:tab pos="360680" algn="l"/>
                          <a:tab pos="57721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350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4460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4.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6050">
                        <a:lnSpc>
                          <a:spcPts val="1190"/>
                        </a:lnSpc>
                        <a:tabLst>
                          <a:tab pos="360680" algn="l"/>
                          <a:tab pos="57721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350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4460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5.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1605">
                        <a:lnSpc>
                          <a:spcPts val="1190"/>
                        </a:lnSpc>
                        <a:tabLst>
                          <a:tab pos="349885" algn="l"/>
                          <a:tab pos="558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6839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1125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1605">
                        <a:lnSpc>
                          <a:spcPts val="1190"/>
                        </a:lnSpc>
                        <a:tabLst>
                          <a:tab pos="349885" algn="l"/>
                          <a:tab pos="558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128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1125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6.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2875">
                        <a:lnSpc>
                          <a:spcPts val="1190"/>
                        </a:lnSpc>
                        <a:tabLst>
                          <a:tab pos="353060" algn="l"/>
                          <a:tab pos="56324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032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63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001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2875">
                        <a:lnSpc>
                          <a:spcPts val="1190"/>
                        </a:lnSpc>
                        <a:tabLst>
                          <a:tab pos="353060" algn="l"/>
                          <a:tab pos="56324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5880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01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001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7.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6530">
                <a:tc gridSpan="4">
                  <a:txBody>
                    <a:bodyPr/>
                    <a:lstStyle/>
                    <a:p>
                      <a:pPr marL="146050">
                        <a:lnSpc>
                          <a:spcPts val="1190"/>
                        </a:lnSpc>
                        <a:tabLst>
                          <a:tab pos="360680" algn="l"/>
                          <a:tab pos="57721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7145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1594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413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5735">
                <a:tc gridSpan="4">
                  <a:txBody>
                    <a:bodyPr/>
                    <a:lstStyle/>
                    <a:p>
                      <a:pPr marL="67945">
                        <a:lnSpc>
                          <a:spcPts val="119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8.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886764" y="6431660"/>
            <a:ext cx="36957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diyagramının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yazımı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0" dirty="0">
                <a:latin typeface="Calibri"/>
                <a:cs typeface="Calibri"/>
              </a:rPr>
              <a:t> gibidir;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827836" y="6740016"/>
          <a:ext cx="5755005" cy="2991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0210">
                <a:tc>
                  <a:txBody>
                    <a:bodyPr/>
                    <a:lstStyle/>
                    <a:p>
                      <a:pPr marL="67945">
                        <a:lnSpc>
                          <a:spcPts val="101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public</a:t>
                      </a:r>
                      <a:r>
                        <a:rPr sz="900" spc="-7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static</a:t>
                      </a:r>
                      <a:r>
                        <a:rPr sz="900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900" spc="-6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eklemeliSiralama(</a:t>
                      </a:r>
                      <a:r>
                        <a:rPr sz="9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5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3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i,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j,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ilkDeger;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(i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1;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dizi.Length;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i++)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55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44500" marR="1471295">
                        <a:lnSpc>
                          <a:spcPts val="106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ilkDeger</a:t>
                      </a:r>
                      <a:r>
                        <a:rPr sz="9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dizi[i];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j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i;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44500">
                        <a:lnSpc>
                          <a:spcPts val="100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while</a:t>
                      </a:r>
                      <a:r>
                        <a:rPr sz="900" spc="-4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(j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&gt;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&amp;&amp;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dizi[j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-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1]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&gt;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ilkDeger)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31825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821055" marR="907415">
                        <a:lnSpc>
                          <a:spcPts val="106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dizi[j]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dizi[j</a:t>
                      </a:r>
                      <a:r>
                        <a:rPr sz="9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-</a:t>
                      </a:r>
                      <a:r>
                        <a:rPr sz="9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1];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j-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-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31825">
                        <a:lnSpc>
                          <a:spcPts val="101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31825">
                        <a:lnSpc>
                          <a:spcPts val="1055"/>
                        </a:lnSpc>
                      </a:pPr>
                      <a:r>
                        <a:rPr sz="900" dirty="0">
                          <a:latin typeface="Consolas"/>
                          <a:cs typeface="Consolas"/>
                        </a:rPr>
                        <a:t>dizi[j]</a:t>
                      </a:r>
                      <a:r>
                        <a:rPr sz="9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ilkDeger;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70"/>
                        </a:lnSpc>
                        <a:spcBef>
                          <a:spcPts val="1030"/>
                        </a:spcBef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public</a:t>
                      </a:r>
                      <a:r>
                        <a:rPr sz="900" spc="-7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static</a:t>
                      </a:r>
                      <a:r>
                        <a:rPr sz="900" spc="-5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900" spc="-5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diziYaz(</a:t>
                      </a:r>
                      <a:r>
                        <a:rPr sz="900" spc="-1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9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5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{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444500" marR="529590" indent="-189230">
                        <a:lnSpc>
                          <a:spcPts val="104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sz="900" spc="-2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900" spc="-2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0;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&lt;</a:t>
                      </a:r>
                      <a:r>
                        <a:rPr sz="9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dizi.Length;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i++) </a:t>
                      </a: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.Write(dizi[i]</a:t>
                      </a:r>
                      <a:r>
                        <a:rPr sz="9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latin typeface="Consolas"/>
                          <a:cs typeface="Consolas"/>
                        </a:rPr>
                        <a:t>+</a:t>
                      </a:r>
                      <a:r>
                        <a:rPr sz="9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00" spc="-30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00" spc="-25" dirty="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900" spc="-25" dirty="0">
                          <a:latin typeface="Consolas"/>
                          <a:cs typeface="Consolas"/>
                        </a:rPr>
                        <a:t>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255904">
                        <a:lnSpc>
                          <a:spcPts val="1019"/>
                        </a:lnSpc>
                      </a:pPr>
                      <a:r>
                        <a:rPr sz="90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900" spc="-10" dirty="0">
                          <a:latin typeface="Consolas"/>
                          <a:cs typeface="Consolas"/>
                        </a:rPr>
                        <a:t>.WriteLine();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7945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Consolas"/>
                          <a:cs typeface="Consolas"/>
                        </a:rPr>
                        <a:t>}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950"/>
                        </a:lnSpc>
                      </a:pPr>
                      <a:r>
                        <a:rPr sz="8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static void</a:t>
                      </a:r>
                      <a:r>
                        <a:rPr sz="850" spc="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850" dirty="0">
                          <a:latin typeface="Consolas"/>
                          <a:cs typeface="Consolas"/>
                        </a:rPr>
                        <a:t>Main(</a:t>
                      </a:r>
                      <a:r>
                        <a:rPr sz="8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r>
                        <a:rPr sz="850" dirty="0">
                          <a:latin typeface="Consolas"/>
                          <a:cs typeface="Consolas"/>
                        </a:rPr>
                        <a:t>[]</a:t>
                      </a:r>
                      <a:r>
                        <a:rPr sz="850" spc="-10" dirty="0">
                          <a:latin typeface="Consolas"/>
                          <a:cs typeface="Consolas"/>
                        </a:rPr>
                        <a:t> args)</a:t>
                      </a:r>
                      <a:endParaRPr sz="850">
                        <a:latin typeface="Consolas"/>
                        <a:cs typeface="Consolas"/>
                      </a:endParaRPr>
                    </a:p>
                    <a:p>
                      <a:pPr marL="97790">
                        <a:lnSpc>
                          <a:spcPts val="994"/>
                        </a:lnSpc>
                      </a:pPr>
                      <a:r>
                        <a:rPr sz="850" spc="-50" dirty="0">
                          <a:latin typeface="Consolas"/>
                          <a:cs typeface="Consolas"/>
                        </a:rPr>
                        <a:t>{</a:t>
                      </a:r>
                      <a:endParaRPr sz="850">
                        <a:latin typeface="Consolas"/>
                        <a:cs typeface="Consolas"/>
                      </a:endParaRPr>
                    </a:p>
                    <a:p>
                      <a:pPr marL="276225">
                        <a:lnSpc>
                          <a:spcPts val="994"/>
                        </a:lnSpc>
                      </a:pPr>
                      <a:r>
                        <a:rPr sz="850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850" dirty="0">
                          <a:latin typeface="Consolas"/>
                          <a:cs typeface="Consolas"/>
                        </a:rPr>
                        <a:t>[] sayilar</a:t>
                      </a:r>
                      <a:r>
                        <a:rPr sz="85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85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85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850" spc="-10" dirty="0">
                          <a:latin typeface="Consolas"/>
                          <a:cs typeface="Consolas"/>
                        </a:rPr>
                        <a:t>{2,5,5,8,10,7,4,12,9};</a:t>
                      </a:r>
                      <a:endParaRPr sz="850">
                        <a:latin typeface="Consolas"/>
                        <a:cs typeface="Consolas"/>
                      </a:endParaRPr>
                    </a:p>
                    <a:p>
                      <a:pPr marL="276225" marR="807720">
                        <a:lnSpc>
                          <a:spcPts val="1000"/>
                        </a:lnSpc>
                        <a:spcBef>
                          <a:spcPts val="35"/>
                        </a:spcBef>
                      </a:pPr>
                      <a:r>
                        <a:rPr sz="850" spc="-10" dirty="0">
                          <a:latin typeface="Consolas"/>
                          <a:cs typeface="Consolas"/>
                        </a:rPr>
                        <a:t>diziYaz(sayilar); eklemeliSiralama(sayilar); diziYaz(sayilar); </a:t>
                      </a:r>
                      <a:r>
                        <a:rPr sz="850" spc="-10" dirty="0">
                          <a:solidFill>
                            <a:srgbClr val="2B91AE"/>
                          </a:solidFill>
                          <a:latin typeface="Consolas"/>
                          <a:cs typeface="Consolas"/>
                        </a:rPr>
                        <a:t>Console</a:t>
                      </a:r>
                      <a:r>
                        <a:rPr sz="850" spc="-10" dirty="0">
                          <a:latin typeface="Consolas"/>
                          <a:cs typeface="Consolas"/>
                        </a:rPr>
                        <a:t>.ReadKey();</a:t>
                      </a:r>
                      <a:endParaRPr sz="850">
                        <a:latin typeface="Consolas"/>
                        <a:cs typeface="Consolas"/>
                      </a:endParaRPr>
                    </a:p>
                    <a:p>
                      <a:pPr marL="97790">
                        <a:lnSpc>
                          <a:spcPts val="940"/>
                        </a:lnSpc>
                      </a:pPr>
                      <a:r>
                        <a:rPr sz="850" spc="-50" dirty="0">
                          <a:latin typeface="Consolas"/>
                          <a:cs typeface="Consolas"/>
                        </a:rPr>
                        <a:t>}</a:t>
                      </a:r>
                      <a:endParaRPr sz="8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1114425" y="6776211"/>
            <a:ext cx="2914650" cy="2874010"/>
          </a:xfrm>
          <a:custGeom>
            <a:avLst/>
            <a:gdLst/>
            <a:ahLst/>
            <a:cxnLst/>
            <a:rect l="l" t="t" r="r" b="b"/>
            <a:pathLst>
              <a:path w="2914650" h="2874009">
                <a:moveTo>
                  <a:pt x="2776728" y="2861259"/>
                </a:moveTo>
                <a:lnTo>
                  <a:pt x="0" y="2861259"/>
                </a:lnTo>
                <a:lnTo>
                  <a:pt x="0" y="2873959"/>
                </a:lnTo>
                <a:lnTo>
                  <a:pt x="2789428" y="2873959"/>
                </a:lnTo>
                <a:lnTo>
                  <a:pt x="2789428" y="2867609"/>
                </a:lnTo>
                <a:lnTo>
                  <a:pt x="2776728" y="2867609"/>
                </a:lnTo>
                <a:lnTo>
                  <a:pt x="2776728" y="2861259"/>
                </a:lnTo>
                <a:close/>
              </a:path>
              <a:path w="2914650" h="2874009">
                <a:moveTo>
                  <a:pt x="2838450" y="31750"/>
                </a:moveTo>
                <a:lnTo>
                  <a:pt x="2776728" y="31750"/>
                </a:lnTo>
                <a:lnTo>
                  <a:pt x="2776728" y="2867609"/>
                </a:lnTo>
                <a:lnTo>
                  <a:pt x="2783078" y="2861259"/>
                </a:lnTo>
                <a:lnTo>
                  <a:pt x="2789428" y="2861259"/>
                </a:lnTo>
                <a:lnTo>
                  <a:pt x="2789428" y="44450"/>
                </a:lnTo>
                <a:lnTo>
                  <a:pt x="2783078" y="44450"/>
                </a:lnTo>
                <a:lnTo>
                  <a:pt x="2789428" y="38100"/>
                </a:lnTo>
                <a:lnTo>
                  <a:pt x="2838450" y="38100"/>
                </a:lnTo>
                <a:lnTo>
                  <a:pt x="2838450" y="31750"/>
                </a:lnTo>
                <a:close/>
              </a:path>
              <a:path w="2914650" h="2874009">
                <a:moveTo>
                  <a:pt x="2789428" y="2861259"/>
                </a:moveTo>
                <a:lnTo>
                  <a:pt x="2783078" y="2861259"/>
                </a:lnTo>
                <a:lnTo>
                  <a:pt x="2776728" y="2867609"/>
                </a:lnTo>
                <a:lnTo>
                  <a:pt x="2789428" y="2867609"/>
                </a:lnTo>
                <a:lnTo>
                  <a:pt x="2789428" y="2861259"/>
                </a:lnTo>
                <a:close/>
              </a:path>
              <a:path w="2914650" h="2874009">
                <a:moveTo>
                  <a:pt x="2838450" y="0"/>
                </a:moveTo>
                <a:lnTo>
                  <a:pt x="2838450" y="76200"/>
                </a:lnTo>
                <a:lnTo>
                  <a:pt x="2901950" y="44450"/>
                </a:lnTo>
                <a:lnTo>
                  <a:pt x="2851150" y="44450"/>
                </a:lnTo>
                <a:lnTo>
                  <a:pt x="2851150" y="31750"/>
                </a:lnTo>
                <a:lnTo>
                  <a:pt x="2901950" y="31750"/>
                </a:lnTo>
                <a:lnTo>
                  <a:pt x="2838450" y="0"/>
                </a:lnTo>
                <a:close/>
              </a:path>
              <a:path w="2914650" h="2874009">
                <a:moveTo>
                  <a:pt x="2789428" y="38100"/>
                </a:moveTo>
                <a:lnTo>
                  <a:pt x="2783078" y="44450"/>
                </a:lnTo>
                <a:lnTo>
                  <a:pt x="2789428" y="44450"/>
                </a:lnTo>
                <a:lnTo>
                  <a:pt x="2789428" y="38100"/>
                </a:lnTo>
                <a:close/>
              </a:path>
              <a:path w="2914650" h="2874009">
                <a:moveTo>
                  <a:pt x="2838450" y="38100"/>
                </a:moveTo>
                <a:lnTo>
                  <a:pt x="2789428" y="38100"/>
                </a:lnTo>
                <a:lnTo>
                  <a:pt x="2789428" y="44450"/>
                </a:lnTo>
                <a:lnTo>
                  <a:pt x="2838450" y="44450"/>
                </a:lnTo>
                <a:lnTo>
                  <a:pt x="2838450" y="38100"/>
                </a:lnTo>
                <a:close/>
              </a:path>
              <a:path w="2914650" h="2874009">
                <a:moveTo>
                  <a:pt x="2901950" y="31750"/>
                </a:moveTo>
                <a:lnTo>
                  <a:pt x="2851150" y="31750"/>
                </a:lnTo>
                <a:lnTo>
                  <a:pt x="2851150" y="44450"/>
                </a:lnTo>
                <a:lnTo>
                  <a:pt x="2901950" y="44450"/>
                </a:lnTo>
                <a:lnTo>
                  <a:pt x="2914650" y="38100"/>
                </a:lnTo>
                <a:lnTo>
                  <a:pt x="290195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902512" y="3141217"/>
          <a:ext cx="2094861" cy="18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902512" y="3494785"/>
          <a:ext cx="2094861" cy="184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4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902512" y="3848734"/>
          <a:ext cx="2094861" cy="184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902512" y="4203826"/>
          <a:ext cx="2094861" cy="18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899464" y="3138169"/>
            <a:ext cx="437515" cy="182880"/>
          </a:xfrm>
          <a:custGeom>
            <a:avLst/>
            <a:gdLst/>
            <a:ahLst/>
            <a:cxnLst/>
            <a:rect l="l" t="t" r="r" b="b"/>
            <a:pathLst>
              <a:path w="437515" h="182879">
                <a:moveTo>
                  <a:pt x="437337" y="176796"/>
                </a:moveTo>
                <a:lnTo>
                  <a:pt x="437337" y="176796"/>
                </a:lnTo>
                <a:lnTo>
                  <a:pt x="0" y="176796"/>
                </a:lnTo>
                <a:lnTo>
                  <a:pt x="0" y="182880"/>
                </a:lnTo>
                <a:lnTo>
                  <a:pt x="437337" y="182880"/>
                </a:lnTo>
                <a:lnTo>
                  <a:pt x="437337" y="176796"/>
                </a:lnTo>
                <a:close/>
              </a:path>
              <a:path w="437515" h="182879">
                <a:moveTo>
                  <a:pt x="437337" y="0"/>
                </a:moveTo>
                <a:lnTo>
                  <a:pt x="437337" y="0"/>
                </a:lnTo>
                <a:lnTo>
                  <a:pt x="0" y="0"/>
                </a:lnTo>
                <a:lnTo>
                  <a:pt x="0" y="6096"/>
                </a:lnTo>
                <a:lnTo>
                  <a:pt x="0" y="176784"/>
                </a:lnTo>
                <a:lnTo>
                  <a:pt x="6096" y="176784"/>
                </a:lnTo>
                <a:lnTo>
                  <a:pt x="6096" y="6096"/>
                </a:lnTo>
                <a:lnTo>
                  <a:pt x="216408" y="6096"/>
                </a:lnTo>
                <a:lnTo>
                  <a:pt x="216408" y="176784"/>
                </a:lnTo>
                <a:lnTo>
                  <a:pt x="222504" y="176784"/>
                </a:lnTo>
                <a:lnTo>
                  <a:pt x="222504" y="6096"/>
                </a:lnTo>
                <a:lnTo>
                  <a:pt x="431241" y="6096"/>
                </a:lnTo>
                <a:lnTo>
                  <a:pt x="431241" y="176784"/>
                </a:lnTo>
                <a:lnTo>
                  <a:pt x="437337" y="176784"/>
                </a:lnTo>
                <a:lnTo>
                  <a:pt x="437337" y="6096"/>
                </a:lnTo>
                <a:lnTo>
                  <a:pt x="4373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9464" y="3491737"/>
            <a:ext cx="655320" cy="184785"/>
          </a:xfrm>
          <a:custGeom>
            <a:avLst/>
            <a:gdLst/>
            <a:ahLst/>
            <a:cxnLst/>
            <a:rect l="l" t="t" r="r" b="b"/>
            <a:pathLst>
              <a:path w="655319" h="184785">
                <a:moveTo>
                  <a:pt x="655269" y="6184"/>
                </a:moveTo>
                <a:lnTo>
                  <a:pt x="649173" y="6184"/>
                </a:lnTo>
                <a:lnTo>
                  <a:pt x="649173" y="178689"/>
                </a:lnTo>
                <a:lnTo>
                  <a:pt x="437337" y="178689"/>
                </a:lnTo>
                <a:lnTo>
                  <a:pt x="437337" y="6184"/>
                </a:lnTo>
                <a:lnTo>
                  <a:pt x="431241" y="6184"/>
                </a:lnTo>
                <a:lnTo>
                  <a:pt x="431241" y="178689"/>
                </a:lnTo>
                <a:lnTo>
                  <a:pt x="222504" y="178689"/>
                </a:lnTo>
                <a:lnTo>
                  <a:pt x="222504" y="6184"/>
                </a:lnTo>
                <a:lnTo>
                  <a:pt x="216408" y="6184"/>
                </a:lnTo>
                <a:lnTo>
                  <a:pt x="216408" y="178689"/>
                </a:lnTo>
                <a:lnTo>
                  <a:pt x="6096" y="178689"/>
                </a:lnTo>
                <a:lnTo>
                  <a:pt x="6096" y="6184"/>
                </a:lnTo>
                <a:lnTo>
                  <a:pt x="0" y="6184"/>
                </a:lnTo>
                <a:lnTo>
                  <a:pt x="0" y="178689"/>
                </a:lnTo>
                <a:lnTo>
                  <a:pt x="0" y="184785"/>
                </a:lnTo>
                <a:lnTo>
                  <a:pt x="655269" y="184785"/>
                </a:lnTo>
                <a:lnTo>
                  <a:pt x="655269" y="178689"/>
                </a:lnTo>
                <a:lnTo>
                  <a:pt x="655269" y="6184"/>
                </a:lnTo>
                <a:close/>
              </a:path>
              <a:path w="655319" h="184785">
                <a:moveTo>
                  <a:pt x="655269" y="0"/>
                </a:moveTo>
                <a:lnTo>
                  <a:pt x="655269" y="0"/>
                </a:lnTo>
                <a:lnTo>
                  <a:pt x="0" y="0"/>
                </a:lnTo>
                <a:lnTo>
                  <a:pt x="0" y="6096"/>
                </a:lnTo>
                <a:lnTo>
                  <a:pt x="655269" y="6096"/>
                </a:lnTo>
                <a:lnTo>
                  <a:pt x="6552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9464" y="3845698"/>
            <a:ext cx="871855" cy="184785"/>
          </a:xfrm>
          <a:custGeom>
            <a:avLst/>
            <a:gdLst/>
            <a:ahLst/>
            <a:cxnLst/>
            <a:rect l="l" t="t" r="r" b="b"/>
            <a:pathLst>
              <a:path w="871855" h="184785">
                <a:moveTo>
                  <a:pt x="871664" y="0"/>
                </a:moveTo>
                <a:lnTo>
                  <a:pt x="865581" y="0"/>
                </a:lnTo>
                <a:lnTo>
                  <a:pt x="865581" y="6083"/>
                </a:lnTo>
                <a:lnTo>
                  <a:pt x="865581" y="178295"/>
                </a:lnTo>
                <a:lnTo>
                  <a:pt x="655269" y="178295"/>
                </a:lnTo>
                <a:lnTo>
                  <a:pt x="655269" y="6083"/>
                </a:lnTo>
                <a:lnTo>
                  <a:pt x="865581" y="6083"/>
                </a:lnTo>
                <a:lnTo>
                  <a:pt x="865581" y="0"/>
                </a:lnTo>
                <a:lnTo>
                  <a:pt x="655269" y="0"/>
                </a:lnTo>
                <a:lnTo>
                  <a:pt x="649173" y="0"/>
                </a:lnTo>
                <a:lnTo>
                  <a:pt x="649173" y="6083"/>
                </a:lnTo>
                <a:lnTo>
                  <a:pt x="649173" y="178295"/>
                </a:lnTo>
                <a:lnTo>
                  <a:pt x="437337" y="178295"/>
                </a:lnTo>
                <a:lnTo>
                  <a:pt x="437337" y="6083"/>
                </a:lnTo>
                <a:lnTo>
                  <a:pt x="649173" y="6083"/>
                </a:lnTo>
                <a:lnTo>
                  <a:pt x="649173" y="0"/>
                </a:lnTo>
                <a:lnTo>
                  <a:pt x="437337" y="0"/>
                </a:lnTo>
                <a:lnTo>
                  <a:pt x="431279" y="0"/>
                </a:lnTo>
                <a:lnTo>
                  <a:pt x="431241" y="6083"/>
                </a:lnTo>
                <a:lnTo>
                  <a:pt x="431241" y="178295"/>
                </a:lnTo>
                <a:lnTo>
                  <a:pt x="222504" y="178295"/>
                </a:lnTo>
                <a:lnTo>
                  <a:pt x="222504" y="6083"/>
                </a:lnTo>
                <a:lnTo>
                  <a:pt x="431241" y="6083"/>
                </a:lnTo>
                <a:lnTo>
                  <a:pt x="431241" y="0"/>
                </a:lnTo>
                <a:lnTo>
                  <a:pt x="222504" y="0"/>
                </a:lnTo>
                <a:lnTo>
                  <a:pt x="216408" y="0"/>
                </a:lnTo>
                <a:lnTo>
                  <a:pt x="216408" y="6083"/>
                </a:lnTo>
                <a:lnTo>
                  <a:pt x="216408" y="178295"/>
                </a:lnTo>
                <a:lnTo>
                  <a:pt x="6096" y="178295"/>
                </a:lnTo>
                <a:lnTo>
                  <a:pt x="6096" y="6083"/>
                </a:lnTo>
                <a:lnTo>
                  <a:pt x="216408" y="6083"/>
                </a:lnTo>
                <a:lnTo>
                  <a:pt x="216408" y="0"/>
                </a:ln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0" y="178295"/>
                </a:lnTo>
                <a:lnTo>
                  <a:pt x="0" y="184391"/>
                </a:lnTo>
                <a:lnTo>
                  <a:pt x="6096" y="184391"/>
                </a:lnTo>
                <a:lnTo>
                  <a:pt x="871664" y="184391"/>
                </a:lnTo>
                <a:lnTo>
                  <a:pt x="871664" y="178295"/>
                </a:lnTo>
                <a:lnTo>
                  <a:pt x="871664" y="6083"/>
                </a:lnTo>
                <a:lnTo>
                  <a:pt x="871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99464" y="4200778"/>
            <a:ext cx="1158240" cy="182880"/>
          </a:xfrm>
          <a:custGeom>
            <a:avLst/>
            <a:gdLst/>
            <a:ahLst/>
            <a:cxnLst/>
            <a:rect l="l" t="t" r="r" b="b"/>
            <a:pathLst>
              <a:path w="1158239" h="182879">
                <a:moveTo>
                  <a:pt x="871664" y="0"/>
                </a:moveTo>
                <a:lnTo>
                  <a:pt x="865581" y="0"/>
                </a:lnTo>
                <a:lnTo>
                  <a:pt x="865581" y="6096"/>
                </a:lnTo>
                <a:lnTo>
                  <a:pt x="865581" y="176784"/>
                </a:lnTo>
                <a:lnTo>
                  <a:pt x="655269" y="176784"/>
                </a:lnTo>
                <a:lnTo>
                  <a:pt x="655269" y="6096"/>
                </a:lnTo>
                <a:lnTo>
                  <a:pt x="865581" y="6096"/>
                </a:lnTo>
                <a:lnTo>
                  <a:pt x="865581" y="0"/>
                </a:lnTo>
                <a:lnTo>
                  <a:pt x="655269" y="0"/>
                </a:lnTo>
                <a:lnTo>
                  <a:pt x="649173" y="0"/>
                </a:lnTo>
                <a:lnTo>
                  <a:pt x="649173" y="6096"/>
                </a:lnTo>
                <a:lnTo>
                  <a:pt x="649173" y="176784"/>
                </a:lnTo>
                <a:lnTo>
                  <a:pt x="437337" y="176784"/>
                </a:lnTo>
                <a:lnTo>
                  <a:pt x="437337" y="6096"/>
                </a:lnTo>
                <a:lnTo>
                  <a:pt x="649173" y="6096"/>
                </a:lnTo>
                <a:lnTo>
                  <a:pt x="649173" y="0"/>
                </a:lnTo>
                <a:lnTo>
                  <a:pt x="437337" y="0"/>
                </a:lnTo>
                <a:lnTo>
                  <a:pt x="431279" y="0"/>
                </a:lnTo>
                <a:lnTo>
                  <a:pt x="431241" y="6096"/>
                </a:lnTo>
                <a:lnTo>
                  <a:pt x="431241" y="176784"/>
                </a:lnTo>
                <a:lnTo>
                  <a:pt x="222504" y="176784"/>
                </a:lnTo>
                <a:lnTo>
                  <a:pt x="222504" y="6096"/>
                </a:lnTo>
                <a:lnTo>
                  <a:pt x="431241" y="6096"/>
                </a:lnTo>
                <a:lnTo>
                  <a:pt x="431241" y="0"/>
                </a:lnTo>
                <a:lnTo>
                  <a:pt x="222504" y="0"/>
                </a:lnTo>
                <a:lnTo>
                  <a:pt x="216408" y="0"/>
                </a:lnTo>
                <a:lnTo>
                  <a:pt x="216408" y="6096"/>
                </a:lnTo>
                <a:lnTo>
                  <a:pt x="216408" y="176784"/>
                </a:lnTo>
                <a:lnTo>
                  <a:pt x="6096" y="176784"/>
                </a:lnTo>
                <a:lnTo>
                  <a:pt x="6096" y="6096"/>
                </a:lnTo>
                <a:lnTo>
                  <a:pt x="216408" y="6096"/>
                </a:lnTo>
                <a:lnTo>
                  <a:pt x="21640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76784"/>
                </a:lnTo>
                <a:lnTo>
                  <a:pt x="0" y="182880"/>
                </a:lnTo>
                <a:lnTo>
                  <a:pt x="6096" y="182880"/>
                </a:lnTo>
                <a:lnTo>
                  <a:pt x="871664" y="182880"/>
                </a:lnTo>
                <a:lnTo>
                  <a:pt x="871664" y="176784"/>
                </a:lnTo>
                <a:lnTo>
                  <a:pt x="871664" y="6096"/>
                </a:lnTo>
                <a:lnTo>
                  <a:pt x="871664" y="0"/>
                </a:lnTo>
                <a:close/>
              </a:path>
              <a:path w="1158239" h="182879">
                <a:moveTo>
                  <a:pt x="1158176" y="0"/>
                </a:moveTo>
                <a:lnTo>
                  <a:pt x="1152093" y="0"/>
                </a:lnTo>
                <a:lnTo>
                  <a:pt x="871677" y="0"/>
                </a:lnTo>
                <a:lnTo>
                  <a:pt x="871677" y="6096"/>
                </a:lnTo>
                <a:lnTo>
                  <a:pt x="1152093" y="6096"/>
                </a:lnTo>
                <a:lnTo>
                  <a:pt x="1152093" y="176784"/>
                </a:lnTo>
                <a:lnTo>
                  <a:pt x="871677" y="176784"/>
                </a:lnTo>
                <a:lnTo>
                  <a:pt x="871677" y="182880"/>
                </a:lnTo>
                <a:lnTo>
                  <a:pt x="1152093" y="182880"/>
                </a:lnTo>
                <a:lnTo>
                  <a:pt x="1158176" y="182880"/>
                </a:lnTo>
                <a:lnTo>
                  <a:pt x="1158176" y="176784"/>
                </a:lnTo>
                <a:lnTo>
                  <a:pt x="1158176" y="6096"/>
                </a:lnTo>
                <a:lnTo>
                  <a:pt x="1158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99464" y="5621146"/>
            <a:ext cx="1879600" cy="177165"/>
          </a:xfrm>
          <a:custGeom>
            <a:avLst/>
            <a:gdLst/>
            <a:ahLst/>
            <a:cxnLst/>
            <a:rect l="l" t="t" r="r" b="b"/>
            <a:pathLst>
              <a:path w="1879600" h="177164">
                <a:moveTo>
                  <a:pt x="871664" y="0"/>
                </a:moveTo>
                <a:lnTo>
                  <a:pt x="865581" y="0"/>
                </a:lnTo>
                <a:lnTo>
                  <a:pt x="865581" y="170688"/>
                </a:lnTo>
                <a:lnTo>
                  <a:pt x="655269" y="170688"/>
                </a:lnTo>
                <a:lnTo>
                  <a:pt x="655269" y="0"/>
                </a:lnTo>
                <a:lnTo>
                  <a:pt x="649173" y="0"/>
                </a:lnTo>
                <a:lnTo>
                  <a:pt x="649173" y="170688"/>
                </a:lnTo>
                <a:lnTo>
                  <a:pt x="437337" y="170688"/>
                </a:lnTo>
                <a:lnTo>
                  <a:pt x="437337" y="0"/>
                </a:lnTo>
                <a:lnTo>
                  <a:pt x="431241" y="0"/>
                </a:lnTo>
                <a:lnTo>
                  <a:pt x="431241" y="170688"/>
                </a:lnTo>
                <a:lnTo>
                  <a:pt x="222504" y="170688"/>
                </a:lnTo>
                <a:lnTo>
                  <a:pt x="222504" y="0"/>
                </a:lnTo>
                <a:lnTo>
                  <a:pt x="216408" y="0"/>
                </a:lnTo>
                <a:lnTo>
                  <a:pt x="216408" y="170688"/>
                </a:lnTo>
                <a:lnTo>
                  <a:pt x="6096" y="170688"/>
                </a:lnTo>
                <a:lnTo>
                  <a:pt x="6096" y="0"/>
                </a:lnTo>
                <a:lnTo>
                  <a:pt x="0" y="0"/>
                </a:lnTo>
                <a:lnTo>
                  <a:pt x="0" y="170688"/>
                </a:lnTo>
                <a:lnTo>
                  <a:pt x="0" y="176784"/>
                </a:lnTo>
                <a:lnTo>
                  <a:pt x="871664" y="176784"/>
                </a:lnTo>
                <a:lnTo>
                  <a:pt x="871664" y="170688"/>
                </a:lnTo>
                <a:lnTo>
                  <a:pt x="871664" y="0"/>
                </a:lnTo>
                <a:close/>
              </a:path>
              <a:path w="1879600" h="177164">
                <a:moveTo>
                  <a:pt x="1586725" y="170688"/>
                </a:moveTo>
                <a:lnTo>
                  <a:pt x="1312113" y="170688"/>
                </a:lnTo>
                <a:lnTo>
                  <a:pt x="1312113" y="0"/>
                </a:lnTo>
                <a:lnTo>
                  <a:pt x="1306017" y="0"/>
                </a:lnTo>
                <a:lnTo>
                  <a:pt x="1306017" y="170688"/>
                </a:lnTo>
                <a:lnTo>
                  <a:pt x="1095705" y="170688"/>
                </a:lnTo>
                <a:lnTo>
                  <a:pt x="1095705" y="0"/>
                </a:lnTo>
                <a:lnTo>
                  <a:pt x="1089609" y="0"/>
                </a:lnTo>
                <a:lnTo>
                  <a:pt x="1089609" y="170688"/>
                </a:lnTo>
                <a:lnTo>
                  <a:pt x="871677" y="170688"/>
                </a:lnTo>
                <a:lnTo>
                  <a:pt x="871677" y="176784"/>
                </a:lnTo>
                <a:lnTo>
                  <a:pt x="1586725" y="176784"/>
                </a:lnTo>
                <a:lnTo>
                  <a:pt x="1586725" y="170688"/>
                </a:lnTo>
                <a:close/>
              </a:path>
              <a:path w="1879600" h="177164">
                <a:moveTo>
                  <a:pt x="1873313" y="170688"/>
                </a:moveTo>
                <a:lnTo>
                  <a:pt x="1592910" y="170688"/>
                </a:lnTo>
                <a:lnTo>
                  <a:pt x="1592910" y="0"/>
                </a:lnTo>
                <a:lnTo>
                  <a:pt x="1586814" y="0"/>
                </a:lnTo>
                <a:lnTo>
                  <a:pt x="1586814" y="170688"/>
                </a:lnTo>
                <a:lnTo>
                  <a:pt x="1586814" y="176784"/>
                </a:lnTo>
                <a:lnTo>
                  <a:pt x="1592910" y="176784"/>
                </a:lnTo>
                <a:lnTo>
                  <a:pt x="1873313" y="176784"/>
                </a:lnTo>
                <a:lnTo>
                  <a:pt x="1873313" y="170688"/>
                </a:lnTo>
                <a:close/>
              </a:path>
              <a:path w="1879600" h="177164">
                <a:moveTo>
                  <a:pt x="1879422" y="0"/>
                </a:moveTo>
                <a:lnTo>
                  <a:pt x="1873326" y="0"/>
                </a:lnTo>
                <a:lnTo>
                  <a:pt x="1873326" y="170688"/>
                </a:lnTo>
                <a:lnTo>
                  <a:pt x="1873326" y="176784"/>
                </a:lnTo>
                <a:lnTo>
                  <a:pt x="1879422" y="176784"/>
                </a:lnTo>
                <a:lnTo>
                  <a:pt x="1879422" y="170688"/>
                </a:lnTo>
                <a:lnTo>
                  <a:pt x="18794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251" y="3325051"/>
            <a:ext cx="3271170" cy="26472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60342"/>
            <a:ext cx="5789295" cy="96393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45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4)</a:t>
            </a:r>
            <a:r>
              <a:rPr sz="1200" spc="13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Kabuk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Sıralama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(Shell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Sort)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Algoritması</a:t>
            </a:r>
            <a:endParaRPr sz="120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700"/>
              </a:lnSpc>
              <a:spcBef>
                <a:spcPts val="10"/>
              </a:spcBef>
            </a:pPr>
            <a:r>
              <a:rPr sz="1100" dirty="0">
                <a:latin typeface="Calibri"/>
                <a:cs typeface="Calibri"/>
              </a:rPr>
              <a:t>Bu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algoritmada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karşılaştırma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belirlenmiş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atlama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sırasına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daha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uzaktaki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elemanların </a:t>
            </a:r>
            <a:r>
              <a:rPr sz="1100" dirty="0">
                <a:latin typeface="Calibri"/>
                <a:cs typeface="Calibri"/>
              </a:rPr>
              <a:t>karşılaştırılması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esasına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dayanır.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Başlangıçta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atlama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sayısının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yarısı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alınarak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hesaplanır. </a:t>
            </a:r>
            <a:r>
              <a:rPr sz="1100" dirty="0">
                <a:latin typeface="Calibri"/>
                <a:cs typeface="Calibri"/>
              </a:rPr>
              <a:t>Atlama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çevrimde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(her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geçişte)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önceki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atlama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sayısının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yarısı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olacak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şekilde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hesaplanır. </a:t>
            </a:r>
            <a:r>
              <a:rPr sz="1100" dirty="0">
                <a:latin typeface="Calibri"/>
                <a:cs typeface="Calibri"/>
              </a:rPr>
              <a:t>Son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geçişte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atlama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sayısı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daima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1’dir.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Çok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algoritmadır.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17168" y="1938781"/>
          <a:ext cx="5761980" cy="1919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8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9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7048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269240">
                <a:tc gridSpan="21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gridSpan="21"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Atlama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sayısı: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 gridSpan="21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 gridSpan="21"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Atlama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sayısı: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40">
                <a:tc gridSpan="21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gridSpan="21">
                  <a:txBody>
                    <a:bodyPr/>
                    <a:lstStyle/>
                    <a:p>
                      <a:pPr marL="68580">
                        <a:lnSpc>
                          <a:spcPts val="128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Atlama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sayısı: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endParaRPr sz="16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82776" y="3986910"/>
            <a:ext cx="332612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Yukarıda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bahsettiğimiz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diyagramına</a:t>
            </a:r>
            <a:r>
              <a:rPr sz="1100" spc="-10" dirty="0">
                <a:latin typeface="Calibri"/>
                <a:cs typeface="Calibri"/>
              </a:rPr>
              <a:t> dökelim.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758" y="4368012"/>
            <a:ext cx="5641941" cy="45282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776" y="877315"/>
            <a:ext cx="36937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diyagramının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gibidir: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188973"/>
            <a:ext cx="5755640" cy="622363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Main(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args)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598805" marR="2034539">
              <a:lnSpc>
                <a:spcPts val="1100"/>
              </a:lnSpc>
              <a:spcBef>
                <a:spcPts val="5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sayilar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6,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9,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7,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4,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2,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8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}; </a:t>
            </a:r>
            <a:r>
              <a:rPr sz="950" spc="-10" dirty="0">
                <a:latin typeface="Consolas"/>
                <a:cs typeface="Consolas"/>
              </a:rPr>
              <a:t>diziYaz(sayilar);</a:t>
            </a:r>
            <a:endParaRPr sz="950">
              <a:latin typeface="Consolas"/>
              <a:cs typeface="Consolas"/>
            </a:endParaRPr>
          </a:p>
          <a:p>
            <a:pPr marL="598805" marR="3625850">
              <a:lnSpc>
                <a:spcPts val="1120"/>
              </a:lnSpc>
              <a:spcBef>
                <a:spcPts val="5"/>
              </a:spcBef>
            </a:pPr>
            <a:r>
              <a:rPr sz="950" spc="-10" dirty="0">
                <a:latin typeface="Consolas"/>
                <a:cs typeface="Consolas"/>
              </a:rPr>
              <a:t>kabukSiralama(sayilar); diziYaz(sayilar);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06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20"/>
              </a:lnSpc>
              <a:spcBef>
                <a:spcPts val="109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95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5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kabukSiralama(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dizi)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598805" marR="3493135" algn="just">
              <a:lnSpc>
                <a:spcPct val="97400"/>
              </a:lnSpc>
              <a:spcBef>
                <a:spcPts val="1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j,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atlama,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gecici; </a:t>
            </a:r>
            <a:r>
              <a:rPr sz="950" dirty="0">
                <a:latin typeface="Consolas"/>
                <a:cs typeface="Consolas"/>
              </a:rPr>
              <a:t>atlama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dizi.Length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/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spc="-35" dirty="0">
                <a:latin typeface="Consolas"/>
                <a:cs typeface="Consolas"/>
              </a:rPr>
              <a:t>2;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(atlama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0)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0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(i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dizi.Length;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i++)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110"/>
              </a:lnSpc>
            </a:pPr>
            <a:r>
              <a:rPr sz="950" dirty="0">
                <a:latin typeface="Consolas"/>
                <a:cs typeface="Consolas"/>
              </a:rPr>
              <a:t>j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i;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115"/>
              </a:lnSpc>
            </a:pPr>
            <a:r>
              <a:rPr sz="950" dirty="0">
                <a:latin typeface="Consolas"/>
                <a:cs typeface="Consolas"/>
              </a:rPr>
              <a:t>gecici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dizi[i];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(j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atlama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&amp;&amp;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dizi[j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atlama]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&gt;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gecici)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1393825" marR="2562225">
              <a:lnSpc>
                <a:spcPts val="1120"/>
              </a:lnSpc>
              <a:spcBef>
                <a:spcPts val="40"/>
              </a:spcBef>
            </a:pPr>
            <a:r>
              <a:rPr sz="950" dirty="0">
                <a:latin typeface="Consolas"/>
                <a:cs typeface="Consolas"/>
              </a:rPr>
              <a:t>dizi[j]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dizi[j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-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atlama]; </a:t>
            </a:r>
            <a:r>
              <a:rPr sz="950" dirty="0">
                <a:latin typeface="Consolas"/>
                <a:cs typeface="Consolas"/>
              </a:rPr>
              <a:t>j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j -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atlama;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055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115"/>
              </a:lnSpc>
            </a:pPr>
            <a:r>
              <a:rPr sz="950" dirty="0">
                <a:latin typeface="Consolas"/>
                <a:cs typeface="Consolas"/>
              </a:rPr>
              <a:t>dizi[j]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gecici;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(atlama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/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!=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0)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115"/>
              </a:lnSpc>
            </a:pPr>
            <a:r>
              <a:rPr sz="950" dirty="0">
                <a:latin typeface="Consolas"/>
                <a:cs typeface="Consolas"/>
              </a:rPr>
              <a:t>atlama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/=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2;</a:t>
            </a:r>
            <a:endParaRPr sz="950">
              <a:latin typeface="Consolas"/>
              <a:cs typeface="Consolas"/>
            </a:endParaRPr>
          </a:p>
          <a:p>
            <a:pPr marL="1129030" marR="3492500" indent="-265430">
              <a:lnSpc>
                <a:spcPts val="1120"/>
              </a:lnSpc>
              <a:spcBef>
                <a:spcPts val="4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(atlama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1) </a:t>
            </a:r>
            <a:r>
              <a:rPr sz="950" dirty="0">
                <a:latin typeface="Consolas"/>
                <a:cs typeface="Consolas"/>
              </a:rPr>
              <a:t>atlama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0;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055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1129030">
              <a:lnSpc>
                <a:spcPts val="1115"/>
              </a:lnSpc>
            </a:pPr>
            <a:r>
              <a:rPr sz="950" dirty="0">
                <a:latin typeface="Consolas"/>
                <a:cs typeface="Consolas"/>
              </a:rPr>
              <a:t>atlama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1;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2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20"/>
              </a:lnSpc>
              <a:spcBef>
                <a:spcPts val="109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diziYaz(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dizi)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863600" marR="2696845" indent="-265430">
              <a:lnSpc>
                <a:spcPts val="1120"/>
              </a:lnSpc>
              <a:spcBef>
                <a:spcPts val="4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dizi.Length;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i++)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.Write(dizi[i]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</a:t>
            </a:r>
            <a:r>
              <a:rPr sz="950" spc="2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50" spc="-25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06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.WriteLine();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7512177"/>
            <a:ext cx="5789295" cy="1567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Arama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Algoritmaları</a:t>
            </a:r>
            <a:endParaRPr sz="1300">
              <a:latin typeface="Calibri Light"/>
              <a:cs typeface="Calibri Light"/>
            </a:endParaRPr>
          </a:p>
          <a:p>
            <a:pPr marL="12700" marR="6350" indent="95885" algn="just">
              <a:lnSpc>
                <a:spcPct val="110000"/>
              </a:lnSpc>
              <a:spcBef>
                <a:spcPts val="955"/>
              </a:spcBef>
            </a:pPr>
            <a:r>
              <a:rPr sz="1100" dirty="0">
                <a:latin typeface="Calibri"/>
                <a:cs typeface="Calibri"/>
              </a:rPr>
              <a:t>Listelerden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herhangi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elemanın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aranması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algoritmalardır.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üzerinde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arama </a:t>
            </a:r>
            <a:r>
              <a:rPr sz="1100" dirty="0">
                <a:latin typeface="Calibri"/>
                <a:cs typeface="Calibri"/>
              </a:rPr>
              <a:t>yapabilmek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arama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bulunur.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Arama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numarasına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yapılır.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925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spc="17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Doğrusal Arama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(Lineer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Search)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Algoritması</a:t>
            </a:r>
            <a:endParaRPr sz="120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5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Listedeki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tüm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elemanlar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sırasıyla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taranır.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Aranan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bulunduğunda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sonlanır.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Eleman </a:t>
            </a:r>
            <a:r>
              <a:rPr sz="1100" dirty="0">
                <a:latin typeface="Calibri"/>
                <a:cs typeface="Calibri"/>
              </a:rPr>
              <a:t>sayısı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fazla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listelerde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algoritmayı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kullanmak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performans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açısından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verimsizdir.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Listedeki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tüm </a:t>
            </a:r>
            <a:r>
              <a:rPr sz="1100" dirty="0">
                <a:latin typeface="Calibri"/>
                <a:cs typeface="Calibri"/>
              </a:rPr>
              <a:t>elemanlara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sırasıyla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bakıldığından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sıralı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olması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gerekli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değildir.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17168" y="899159"/>
          <a:ext cx="5759446" cy="1922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3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261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1145">
                <a:tc gridSpan="8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gridSpan="8">
                  <a:txBody>
                    <a:bodyPr/>
                    <a:lstStyle/>
                    <a:p>
                      <a:pPr marL="950594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ts val="1410"/>
                        </a:lnSpc>
                        <a:tabLst>
                          <a:tab pos="703580" algn="l"/>
                        </a:tabLst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≠</a:t>
                      </a:r>
                      <a:r>
                        <a:rPr sz="12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sonraki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elemana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geçilir.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 gridSpan="8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gridSpan="8">
                  <a:txBody>
                    <a:bodyPr/>
                    <a:lstStyle/>
                    <a:p>
                      <a:pPr marL="950594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i="1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ts val="1410"/>
                        </a:lnSpc>
                        <a:tabLst>
                          <a:tab pos="703580" algn="l"/>
                        </a:tabLst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≠</a:t>
                      </a:r>
                      <a:r>
                        <a:rPr sz="12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sonraki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elemana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geçilir.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145">
                <a:tc gridSpan="8"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Adım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gridSpan="8">
                  <a:txBody>
                    <a:bodyPr/>
                    <a:lstStyle/>
                    <a:p>
                      <a:pPr marL="950594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i="1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i="1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5"/>
                        </a:lnSpc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ts val="1410"/>
                        </a:lnSpc>
                        <a:tabLst>
                          <a:tab pos="852805" algn="l"/>
                        </a:tabLst>
                      </a:pP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=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algoritma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sonlanır.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776" y="2947161"/>
            <a:ext cx="332612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Yukarıda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bahsettiğimiz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diyagramına</a:t>
            </a:r>
            <a:r>
              <a:rPr sz="1100" spc="-10" dirty="0">
                <a:latin typeface="Calibri"/>
                <a:cs typeface="Calibri"/>
              </a:rPr>
              <a:t> dökelim.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776" y="5196966"/>
            <a:ext cx="369125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diyagramının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gibidir.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84" y="5506846"/>
            <a:ext cx="5755640" cy="368109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5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Main(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args)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598805" marR="2764155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liste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{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5,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3,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7,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6,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2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};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aranan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3;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065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indis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10" dirty="0">
                <a:latin typeface="Consolas"/>
                <a:cs typeface="Consolas"/>
              </a:rPr>
              <a:t> dogrusalArama(liste,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aranan);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30"/>
              </a:lnSpc>
              <a:spcBef>
                <a:spcPts val="109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(indis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15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-1)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1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"Eleman</a:t>
            </a:r>
            <a:r>
              <a:rPr sz="950" spc="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bulunamadı!"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50">
              <a:latin typeface="Consolas"/>
              <a:cs typeface="Consolas"/>
            </a:endParaRPr>
          </a:p>
          <a:p>
            <a:pPr marL="863600">
              <a:lnSpc>
                <a:spcPts val="1130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.Write(</a:t>
            </a:r>
            <a:r>
              <a:rPr sz="950" spc="-10" dirty="0">
                <a:solidFill>
                  <a:srgbClr val="A21515"/>
                </a:solidFill>
                <a:latin typeface="Consolas"/>
                <a:cs typeface="Consolas"/>
              </a:rPr>
              <a:t>"Elemanın</a:t>
            </a:r>
            <a:r>
              <a:rPr sz="950" dirty="0">
                <a:solidFill>
                  <a:srgbClr val="A21515"/>
                </a:solidFill>
                <a:latin typeface="Consolas"/>
                <a:cs typeface="Consolas"/>
              </a:rPr>
              <a:t> indisi: "</a:t>
            </a:r>
            <a:r>
              <a:rPr sz="9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+ </a:t>
            </a:r>
            <a:r>
              <a:rPr sz="950" spc="-10" dirty="0">
                <a:latin typeface="Consolas"/>
                <a:cs typeface="Consolas"/>
              </a:rPr>
              <a:t>indis);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30"/>
              </a:lnSpc>
              <a:spcBef>
                <a:spcPts val="108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.ReadKey();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30"/>
              </a:lnSpc>
              <a:spcBef>
                <a:spcPts val="108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dogrusalArama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dizi,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aranan)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5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i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&lt;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dizi.Length;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i++)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1129030" marR="3425825" indent="-265430">
              <a:lnSpc>
                <a:spcPts val="1120"/>
              </a:lnSpc>
              <a:spcBef>
                <a:spcPts val="40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5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(dizi[i]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==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aranan)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i;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06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598805">
              <a:lnSpc>
                <a:spcPts val="1110"/>
              </a:lnSpc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1;</a:t>
            </a:r>
            <a:endParaRPr sz="950">
              <a:latin typeface="Consolas"/>
              <a:cs typeface="Consolas"/>
            </a:endParaRPr>
          </a:p>
          <a:p>
            <a:pPr marL="333375">
              <a:lnSpc>
                <a:spcPts val="1115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251" y="3299330"/>
            <a:ext cx="5537364" cy="17762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875791"/>
            <a:ext cx="5836285" cy="18516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Nesne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Tabanlı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Programlama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–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endParaRPr sz="1600" dirty="0">
              <a:latin typeface="Calibri Light"/>
              <a:cs typeface="Calibri Light"/>
            </a:endParaRPr>
          </a:p>
          <a:p>
            <a:pPr marL="508634" indent="-229235">
              <a:lnSpc>
                <a:spcPct val="100000"/>
              </a:lnSpc>
              <a:buAutoNum type="arabicPeriod" startAt="2"/>
              <a:tabLst>
                <a:tab pos="508634" algn="l"/>
              </a:tabLst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İkili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Arama</a:t>
            </a:r>
            <a:r>
              <a:rPr sz="120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(Binary</a:t>
            </a:r>
            <a:r>
              <a:rPr sz="120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Search)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Algoritması</a:t>
            </a:r>
            <a:endParaRPr sz="1200" dirty="0">
              <a:latin typeface="Calibri Light"/>
              <a:cs typeface="Calibri Light"/>
            </a:endParaRPr>
          </a:p>
          <a:p>
            <a:pPr marL="50800" marR="17780" indent="95885">
              <a:lnSpc>
                <a:spcPct val="110000"/>
              </a:lnSpc>
              <a:spcBef>
                <a:spcPts val="15"/>
              </a:spcBef>
            </a:pPr>
            <a:r>
              <a:rPr sz="1100" dirty="0">
                <a:latin typeface="Calibri"/>
                <a:cs typeface="Calibri"/>
              </a:rPr>
              <a:t>İkili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arama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sıralı</a:t>
            </a:r>
            <a:r>
              <a:rPr sz="1100" spc="2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üzerinde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çalışmaktadır.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Aranan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dizinin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ortasındaki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karşılaştırılır.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Ortadaki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aranan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eşitse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</a:t>
            </a:r>
            <a:r>
              <a:rPr sz="1100" spc="-10" dirty="0">
                <a:latin typeface="Calibri"/>
                <a:cs typeface="Calibri"/>
              </a:rPr>
              <a:t> sonlandırılır.</a:t>
            </a:r>
            <a:endParaRPr sz="1100" dirty="0">
              <a:latin typeface="Calibri"/>
              <a:cs typeface="Calibri"/>
            </a:endParaRPr>
          </a:p>
          <a:p>
            <a:pPr marL="507365" lvl="1" indent="-227965">
              <a:lnSpc>
                <a:spcPct val="100000"/>
              </a:lnSpc>
              <a:spcBef>
                <a:spcPts val="925"/>
              </a:spcBef>
              <a:buFont typeface="Calibri"/>
              <a:buAutoNum type="alphaLcPeriod"/>
              <a:tabLst>
                <a:tab pos="507365" algn="l"/>
              </a:tabLst>
            </a:pPr>
            <a:r>
              <a:rPr sz="1100" dirty="0">
                <a:latin typeface="Calibri"/>
                <a:cs typeface="Calibri"/>
              </a:rPr>
              <a:t>Aranan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ortadaki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elemandan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küçükse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tarafı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dikkate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alınır.</a:t>
            </a:r>
            <a:endParaRPr sz="1100" dirty="0">
              <a:latin typeface="Calibri"/>
              <a:cs typeface="Calibri"/>
            </a:endParaRPr>
          </a:p>
          <a:p>
            <a:pPr marL="508000" lvl="1" indent="-228600">
              <a:lnSpc>
                <a:spcPct val="100000"/>
              </a:lnSpc>
              <a:spcBef>
                <a:spcPts val="130"/>
              </a:spcBef>
              <a:buFont typeface="Calibri"/>
              <a:buAutoNum type="alphaLcPeriod"/>
              <a:tabLst>
                <a:tab pos="508000" algn="l"/>
              </a:tabLst>
            </a:pPr>
            <a:r>
              <a:rPr sz="1100" dirty="0">
                <a:latin typeface="Calibri"/>
                <a:cs typeface="Calibri"/>
              </a:rPr>
              <a:t>Aranan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ortadaki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elemandan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büyükse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listenin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sağ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tarafı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dikkate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alınır.</a:t>
            </a:r>
            <a:endParaRPr sz="1100" dirty="0">
              <a:latin typeface="Calibri"/>
              <a:cs typeface="Calibri"/>
            </a:endParaRPr>
          </a:p>
          <a:p>
            <a:pPr marL="146685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Bu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bulunana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kadar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devam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eder.</a:t>
            </a:r>
            <a:endParaRPr sz="11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919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{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8,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15,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17,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18,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25,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}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listesi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aranan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sayımız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25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olsun.</a:t>
            </a:r>
            <a:r>
              <a:rPr sz="1050" spc="-15" baseline="39682" dirty="0">
                <a:latin typeface="Calibri"/>
                <a:cs typeface="Calibri"/>
              </a:rPr>
              <a:t>2</a:t>
            </a:r>
            <a:endParaRPr sz="1050" baseline="39682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66570" y="3729862"/>
            <a:ext cx="3885565" cy="360045"/>
            <a:chOff x="1766570" y="3729862"/>
            <a:chExt cx="3885565" cy="360045"/>
          </a:xfrm>
        </p:grpSpPr>
        <p:sp>
          <p:nvSpPr>
            <p:cNvPr id="4" name="object 4"/>
            <p:cNvSpPr/>
            <p:nvPr/>
          </p:nvSpPr>
          <p:spPr>
            <a:xfrm>
              <a:off x="3921887" y="3735958"/>
              <a:ext cx="282575" cy="170815"/>
            </a:xfrm>
            <a:custGeom>
              <a:avLst/>
              <a:gdLst/>
              <a:ahLst/>
              <a:cxnLst/>
              <a:rect l="l" t="t" r="r" b="b"/>
              <a:pathLst>
                <a:path w="282575" h="170814">
                  <a:moveTo>
                    <a:pt x="282244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2244" y="170688"/>
                  </a:lnTo>
                  <a:lnTo>
                    <a:pt x="2822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66570" y="3729862"/>
              <a:ext cx="3885565" cy="177165"/>
            </a:xfrm>
            <a:custGeom>
              <a:avLst/>
              <a:gdLst/>
              <a:ahLst/>
              <a:cxnLst/>
              <a:rect l="l" t="t" r="r" b="b"/>
              <a:pathLst>
                <a:path w="3885565" h="177164">
                  <a:moveTo>
                    <a:pt x="6083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83" y="176784"/>
                  </a:lnTo>
                  <a:lnTo>
                    <a:pt x="6083" y="6096"/>
                  </a:lnTo>
                  <a:lnTo>
                    <a:pt x="6083" y="0"/>
                  </a:lnTo>
                  <a:close/>
                </a:path>
                <a:path w="3885565" h="177164">
                  <a:moveTo>
                    <a:pt x="707440" y="0"/>
                  </a:moveTo>
                  <a:lnTo>
                    <a:pt x="6096" y="0"/>
                  </a:lnTo>
                  <a:lnTo>
                    <a:pt x="6096" y="6096"/>
                  </a:lnTo>
                  <a:lnTo>
                    <a:pt x="707440" y="6096"/>
                  </a:lnTo>
                  <a:lnTo>
                    <a:pt x="707440" y="0"/>
                  </a:lnTo>
                  <a:close/>
                </a:path>
                <a:path w="3885565" h="177164">
                  <a:moveTo>
                    <a:pt x="995540" y="0"/>
                  </a:moveTo>
                  <a:lnTo>
                    <a:pt x="713613" y="0"/>
                  </a:lnTo>
                  <a:lnTo>
                    <a:pt x="707517" y="0"/>
                  </a:lnTo>
                  <a:lnTo>
                    <a:pt x="707517" y="6096"/>
                  </a:lnTo>
                  <a:lnTo>
                    <a:pt x="707517" y="176784"/>
                  </a:lnTo>
                  <a:lnTo>
                    <a:pt x="713613" y="176784"/>
                  </a:lnTo>
                  <a:lnTo>
                    <a:pt x="713613" y="6096"/>
                  </a:lnTo>
                  <a:lnTo>
                    <a:pt x="995540" y="6096"/>
                  </a:lnTo>
                  <a:lnTo>
                    <a:pt x="995540" y="0"/>
                  </a:lnTo>
                  <a:close/>
                </a:path>
                <a:path w="3885565" h="177164">
                  <a:moveTo>
                    <a:pt x="1289672" y="0"/>
                  </a:moveTo>
                  <a:lnTo>
                    <a:pt x="1283589" y="0"/>
                  </a:lnTo>
                  <a:lnTo>
                    <a:pt x="1001649" y="0"/>
                  </a:lnTo>
                  <a:lnTo>
                    <a:pt x="995553" y="0"/>
                  </a:lnTo>
                  <a:lnTo>
                    <a:pt x="995553" y="6096"/>
                  </a:lnTo>
                  <a:lnTo>
                    <a:pt x="995553" y="176784"/>
                  </a:lnTo>
                  <a:lnTo>
                    <a:pt x="1001649" y="176784"/>
                  </a:lnTo>
                  <a:lnTo>
                    <a:pt x="1001649" y="6096"/>
                  </a:lnTo>
                  <a:lnTo>
                    <a:pt x="1283589" y="6096"/>
                  </a:lnTo>
                  <a:lnTo>
                    <a:pt x="1283589" y="176784"/>
                  </a:lnTo>
                  <a:lnTo>
                    <a:pt x="1289672" y="176784"/>
                  </a:lnTo>
                  <a:lnTo>
                    <a:pt x="1289672" y="6096"/>
                  </a:lnTo>
                  <a:lnTo>
                    <a:pt x="1289672" y="0"/>
                  </a:lnTo>
                  <a:close/>
                </a:path>
                <a:path w="3885565" h="177164">
                  <a:moveTo>
                    <a:pt x="1867268" y="0"/>
                  </a:moveTo>
                  <a:lnTo>
                    <a:pt x="1861185" y="0"/>
                  </a:lnTo>
                  <a:lnTo>
                    <a:pt x="1579245" y="0"/>
                  </a:lnTo>
                  <a:lnTo>
                    <a:pt x="1573149" y="0"/>
                  </a:lnTo>
                  <a:lnTo>
                    <a:pt x="1289685" y="0"/>
                  </a:lnTo>
                  <a:lnTo>
                    <a:pt x="1289685" y="6096"/>
                  </a:lnTo>
                  <a:lnTo>
                    <a:pt x="1573149" y="6096"/>
                  </a:lnTo>
                  <a:lnTo>
                    <a:pt x="1573149" y="176784"/>
                  </a:lnTo>
                  <a:lnTo>
                    <a:pt x="1579245" y="176784"/>
                  </a:lnTo>
                  <a:lnTo>
                    <a:pt x="1579245" y="6096"/>
                  </a:lnTo>
                  <a:lnTo>
                    <a:pt x="1861185" y="6096"/>
                  </a:lnTo>
                  <a:lnTo>
                    <a:pt x="1861185" y="176784"/>
                  </a:lnTo>
                  <a:lnTo>
                    <a:pt x="1867268" y="176784"/>
                  </a:lnTo>
                  <a:lnTo>
                    <a:pt x="1867268" y="6096"/>
                  </a:lnTo>
                  <a:lnTo>
                    <a:pt x="1867268" y="0"/>
                  </a:lnTo>
                  <a:close/>
                </a:path>
                <a:path w="3885565" h="177164">
                  <a:moveTo>
                    <a:pt x="2155317" y="0"/>
                  </a:moveTo>
                  <a:lnTo>
                    <a:pt x="2149221" y="0"/>
                  </a:lnTo>
                  <a:lnTo>
                    <a:pt x="1867281" y="0"/>
                  </a:lnTo>
                  <a:lnTo>
                    <a:pt x="1867281" y="6096"/>
                  </a:lnTo>
                  <a:lnTo>
                    <a:pt x="2149221" y="6096"/>
                  </a:lnTo>
                  <a:lnTo>
                    <a:pt x="2149221" y="176784"/>
                  </a:lnTo>
                  <a:lnTo>
                    <a:pt x="2155317" y="176784"/>
                  </a:lnTo>
                  <a:lnTo>
                    <a:pt x="2155317" y="6096"/>
                  </a:lnTo>
                  <a:lnTo>
                    <a:pt x="2155317" y="0"/>
                  </a:lnTo>
                  <a:close/>
                </a:path>
                <a:path w="3885565" h="177164">
                  <a:moveTo>
                    <a:pt x="3309226" y="0"/>
                  </a:moveTo>
                  <a:lnTo>
                    <a:pt x="3309226" y="0"/>
                  </a:lnTo>
                  <a:lnTo>
                    <a:pt x="2443607" y="0"/>
                  </a:lnTo>
                  <a:lnTo>
                    <a:pt x="2443607" y="6096"/>
                  </a:lnTo>
                  <a:lnTo>
                    <a:pt x="2725547" y="6096"/>
                  </a:lnTo>
                  <a:lnTo>
                    <a:pt x="2725547" y="176784"/>
                  </a:lnTo>
                  <a:lnTo>
                    <a:pt x="2731643" y="176784"/>
                  </a:lnTo>
                  <a:lnTo>
                    <a:pt x="2731643" y="6096"/>
                  </a:lnTo>
                  <a:lnTo>
                    <a:pt x="3013583" y="6096"/>
                  </a:lnTo>
                  <a:lnTo>
                    <a:pt x="3013583" y="176784"/>
                  </a:lnTo>
                  <a:lnTo>
                    <a:pt x="3019679" y="176784"/>
                  </a:lnTo>
                  <a:lnTo>
                    <a:pt x="3019679" y="6096"/>
                  </a:lnTo>
                  <a:lnTo>
                    <a:pt x="3303143" y="6096"/>
                  </a:lnTo>
                  <a:lnTo>
                    <a:pt x="3303143" y="176784"/>
                  </a:lnTo>
                  <a:lnTo>
                    <a:pt x="3309226" y="176784"/>
                  </a:lnTo>
                  <a:lnTo>
                    <a:pt x="3309226" y="6096"/>
                  </a:lnTo>
                  <a:lnTo>
                    <a:pt x="3309226" y="0"/>
                  </a:lnTo>
                  <a:close/>
                </a:path>
                <a:path w="3885565" h="177164">
                  <a:moveTo>
                    <a:pt x="3597262" y="0"/>
                  </a:moveTo>
                  <a:lnTo>
                    <a:pt x="3591179" y="0"/>
                  </a:lnTo>
                  <a:lnTo>
                    <a:pt x="3309239" y="0"/>
                  </a:lnTo>
                  <a:lnTo>
                    <a:pt x="3309239" y="6096"/>
                  </a:lnTo>
                  <a:lnTo>
                    <a:pt x="3591179" y="6096"/>
                  </a:lnTo>
                  <a:lnTo>
                    <a:pt x="3591179" y="176784"/>
                  </a:lnTo>
                  <a:lnTo>
                    <a:pt x="3597262" y="176784"/>
                  </a:lnTo>
                  <a:lnTo>
                    <a:pt x="3597262" y="6096"/>
                  </a:lnTo>
                  <a:lnTo>
                    <a:pt x="3597262" y="0"/>
                  </a:lnTo>
                  <a:close/>
                </a:path>
                <a:path w="3885565" h="177164">
                  <a:moveTo>
                    <a:pt x="3885311" y="0"/>
                  </a:moveTo>
                  <a:lnTo>
                    <a:pt x="3879215" y="0"/>
                  </a:lnTo>
                  <a:lnTo>
                    <a:pt x="3597275" y="0"/>
                  </a:lnTo>
                  <a:lnTo>
                    <a:pt x="3597275" y="6096"/>
                  </a:lnTo>
                  <a:lnTo>
                    <a:pt x="3879215" y="6096"/>
                  </a:lnTo>
                  <a:lnTo>
                    <a:pt x="3879215" y="176784"/>
                  </a:lnTo>
                  <a:lnTo>
                    <a:pt x="3885311" y="176784"/>
                  </a:lnTo>
                  <a:lnTo>
                    <a:pt x="3885311" y="6096"/>
                  </a:lnTo>
                  <a:lnTo>
                    <a:pt x="38853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81707" y="3912742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1939" y="1706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1887" y="3912742"/>
              <a:ext cx="282575" cy="170815"/>
            </a:xfrm>
            <a:custGeom>
              <a:avLst/>
              <a:gdLst/>
              <a:ahLst/>
              <a:cxnLst/>
              <a:rect l="l" t="t" r="r" b="b"/>
              <a:pathLst>
                <a:path w="282575" h="170814">
                  <a:moveTo>
                    <a:pt x="282244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2244" y="170688"/>
                  </a:lnTo>
                  <a:lnTo>
                    <a:pt x="28224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63845" y="3912742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1939" y="1706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6570" y="3906646"/>
              <a:ext cx="3885565" cy="183515"/>
            </a:xfrm>
            <a:custGeom>
              <a:avLst/>
              <a:gdLst/>
              <a:ahLst/>
              <a:cxnLst/>
              <a:rect l="l" t="t" r="r" b="b"/>
              <a:pathLst>
                <a:path w="3885565" h="183514">
                  <a:moveTo>
                    <a:pt x="6083" y="176796"/>
                  </a:moveTo>
                  <a:lnTo>
                    <a:pt x="0" y="176796"/>
                  </a:lnTo>
                  <a:lnTo>
                    <a:pt x="0" y="182892"/>
                  </a:lnTo>
                  <a:lnTo>
                    <a:pt x="6083" y="182892"/>
                  </a:lnTo>
                  <a:lnTo>
                    <a:pt x="6083" y="176796"/>
                  </a:lnTo>
                  <a:close/>
                </a:path>
                <a:path w="3885565" h="183514">
                  <a:moveTo>
                    <a:pt x="6083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83" y="176784"/>
                  </a:lnTo>
                  <a:lnTo>
                    <a:pt x="6083" y="6096"/>
                  </a:lnTo>
                  <a:lnTo>
                    <a:pt x="6083" y="0"/>
                  </a:lnTo>
                  <a:close/>
                </a:path>
                <a:path w="3885565" h="183514">
                  <a:moveTo>
                    <a:pt x="707440" y="176796"/>
                  </a:moveTo>
                  <a:lnTo>
                    <a:pt x="6096" y="176796"/>
                  </a:lnTo>
                  <a:lnTo>
                    <a:pt x="6096" y="182892"/>
                  </a:lnTo>
                  <a:lnTo>
                    <a:pt x="707440" y="182892"/>
                  </a:lnTo>
                  <a:lnTo>
                    <a:pt x="707440" y="176796"/>
                  </a:lnTo>
                  <a:close/>
                </a:path>
                <a:path w="3885565" h="183514">
                  <a:moveTo>
                    <a:pt x="707440" y="0"/>
                  </a:moveTo>
                  <a:lnTo>
                    <a:pt x="6096" y="0"/>
                  </a:lnTo>
                  <a:lnTo>
                    <a:pt x="6096" y="6096"/>
                  </a:lnTo>
                  <a:lnTo>
                    <a:pt x="707440" y="6096"/>
                  </a:lnTo>
                  <a:lnTo>
                    <a:pt x="707440" y="0"/>
                  </a:lnTo>
                  <a:close/>
                </a:path>
                <a:path w="3885565" h="183514">
                  <a:moveTo>
                    <a:pt x="713613" y="176796"/>
                  </a:moveTo>
                  <a:lnTo>
                    <a:pt x="707517" y="176796"/>
                  </a:lnTo>
                  <a:lnTo>
                    <a:pt x="707517" y="182892"/>
                  </a:lnTo>
                  <a:lnTo>
                    <a:pt x="713613" y="182892"/>
                  </a:lnTo>
                  <a:lnTo>
                    <a:pt x="713613" y="176796"/>
                  </a:lnTo>
                  <a:close/>
                </a:path>
                <a:path w="3885565" h="183514">
                  <a:moveTo>
                    <a:pt x="995540" y="0"/>
                  </a:moveTo>
                  <a:lnTo>
                    <a:pt x="713613" y="0"/>
                  </a:lnTo>
                  <a:lnTo>
                    <a:pt x="707517" y="0"/>
                  </a:lnTo>
                  <a:lnTo>
                    <a:pt x="707517" y="6096"/>
                  </a:lnTo>
                  <a:lnTo>
                    <a:pt x="707517" y="176784"/>
                  </a:lnTo>
                  <a:lnTo>
                    <a:pt x="713613" y="176784"/>
                  </a:lnTo>
                  <a:lnTo>
                    <a:pt x="713613" y="6096"/>
                  </a:lnTo>
                  <a:lnTo>
                    <a:pt x="995540" y="6096"/>
                  </a:lnTo>
                  <a:lnTo>
                    <a:pt x="995540" y="0"/>
                  </a:lnTo>
                  <a:close/>
                </a:path>
                <a:path w="3885565" h="183514">
                  <a:moveTo>
                    <a:pt x="1289672" y="176796"/>
                  </a:moveTo>
                  <a:lnTo>
                    <a:pt x="1283589" y="176796"/>
                  </a:lnTo>
                  <a:lnTo>
                    <a:pt x="1001649" y="176796"/>
                  </a:lnTo>
                  <a:lnTo>
                    <a:pt x="1001649" y="182892"/>
                  </a:lnTo>
                  <a:lnTo>
                    <a:pt x="1283589" y="182892"/>
                  </a:lnTo>
                  <a:lnTo>
                    <a:pt x="1289672" y="182892"/>
                  </a:lnTo>
                  <a:lnTo>
                    <a:pt x="1289672" y="176796"/>
                  </a:lnTo>
                  <a:close/>
                </a:path>
                <a:path w="3885565" h="183514">
                  <a:moveTo>
                    <a:pt x="1289672" y="0"/>
                  </a:moveTo>
                  <a:lnTo>
                    <a:pt x="1283589" y="0"/>
                  </a:lnTo>
                  <a:lnTo>
                    <a:pt x="1001649" y="0"/>
                  </a:lnTo>
                  <a:lnTo>
                    <a:pt x="995553" y="0"/>
                  </a:lnTo>
                  <a:lnTo>
                    <a:pt x="995553" y="6096"/>
                  </a:lnTo>
                  <a:lnTo>
                    <a:pt x="1001649" y="6096"/>
                  </a:lnTo>
                  <a:lnTo>
                    <a:pt x="1283589" y="6096"/>
                  </a:lnTo>
                  <a:lnTo>
                    <a:pt x="1283589" y="176784"/>
                  </a:lnTo>
                  <a:lnTo>
                    <a:pt x="1289672" y="176784"/>
                  </a:lnTo>
                  <a:lnTo>
                    <a:pt x="1289672" y="6096"/>
                  </a:lnTo>
                  <a:lnTo>
                    <a:pt x="1289672" y="0"/>
                  </a:lnTo>
                  <a:close/>
                </a:path>
                <a:path w="3885565" h="183514">
                  <a:moveTo>
                    <a:pt x="1867268" y="176796"/>
                  </a:moveTo>
                  <a:lnTo>
                    <a:pt x="1861185" y="176796"/>
                  </a:lnTo>
                  <a:lnTo>
                    <a:pt x="1579245" y="176796"/>
                  </a:lnTo>
                  <a:lnTo>
                    <a:pt x="1573149" y="176796"/>
                  </a:lnTo>
                  <a:lnTo>
                    <a:pt x="1289685" y="176796"/>
                  </a:lnTo>
                  <a:lnTo>
                    <a:pt x="1289685" y="182892"/>
                  </a:lnTo>
                  <a:lnTo>
                    <a:pt x="1573149" y="182892"/>
                  </a:lnTo>
                  <a:lnTo>
                    <a:pt x="1579245" y="182892"/>
                  </a:lnTo>
                  <a:lnTo>
                    <a:pt x="1861185" y="182892"/>
                  </a:lnTo>
                  <a:lnTo>
                    <a:pt x="1867268" y="182892"/>
                  </a:lnTo>
                  <a:lnTo>
                    <a:pt x="1867268" y="176796"/>
                  </a:lnTo>
                  <a:close/>
                </a:path>
                <a:path w="3885565" h="183514">
                  <a:moveTo>
                    <a:pt x="1867268" y="0"/>
                  </a:moveTo>
                  <a:lnTo>
                    <a:pt x="1861185" y="0"/>
                  </a:lnTo>
                  <a:lnTo>
                    <a:pt x="1579245" y="0"/>
                  </a:lnTo>
                  <a:lnTo>
                    <a:pt x="1573149" y="0"/>
                  </a:lnTo>
                  <a:lnTo>
                    <a:pt x="1289685" y="0"/>
                  </a:lnTo>
                  <a:lnTo>
                    <a:pt x="1289685" y="6096"/>
                  </a:lnTo>
                  <a:lnTo>
                    <a:pt x="1573149" y="6096"/>
                  </a:lnTo>
                  <a:lnTo>
                    <a:pt x="1573149" y="176784"/>
                  </a:lnTo>
                  <a:lnTo>
                    <a:pt x="1579245" y="176784"/>
                  </a:lnTo>
                  <a:lnTo>
                    <a:pt x="1579245" y="6096"/>
                  </a:lnTo>
                  <a:lnTo>
                    <a:pt x="1861185" y="6096"/>
                  </a:lnTo>
                  <a:lnTo>
                    <a:pt x="1861185" y="176784"/>
                  </a:lnTo>
                  <a:lnTo>
                    <a:pt x="1867268" y="176784"/>
                  </a:lnTo>
                  <a:lnTo>
                    <a:pt x="1867268" y="6096"/>
                  </a:lnTo>
                  <a:lnTo>
                    <a:pt x="1867268" y="0"/>
                  </a:lnTo>
                  <a:close/>
                </a:path>
                <a:path w="3885565" h="183514">
                  <a:moveTo>
                    <a:pt x="2155317" y="176796"/>
                  </a:moveTo>
                  <a:lnTo>
                    <a:pt x="2149221" y="176796"/>
                  </a:lnTo>
                  <a:lnTo>
                    <a:pt x="1867281" y="176796"/>
                  </a:lnTo>
                  <a:lnTo>
                    <a:pt x="1867281" y="182892"/>
                  </a:lnTo>
                  <a:lnTo>
                    <a:pt x="2149221" y="182892"/>
                  </a:lnTo>
                  <a:lnTo>
                    <a:pt x="2155317" y="182892"/>
                  </a:lnTo>
                  <a:lnTo>
                    <a:pt x="2155317" y="176796"/>
                  </a:lnTo>
                  <a:close/>
                </a:path>
                <a:path w="3885565" h="183514">
                  <a:moveTo>
                    <a:pt x="2155317" y="0"/>
                  </a:moveTo>
                  <a:lnTo>
                    <a:pt x="2149221" y="0"/>
                  </a:lnTo>
                  <a:lnTo>
                    <a:pt x="1867281" y="0"/>
                  </a:lnTo>
                  <a:lnTo>
                    <a:pt x="1867281" y="6096"/>
                  </a:lnTo>
                  <a:lnTo>
                    <a:pt x="2149221" y="6096"/>
                  </a:lnTo>
                  <a:lnTo>
                    <a:pt x="2149221" y="176784"/>
                  </a:lnTo>
                  <a:lnTo>
                    <a:pt x="2155317" y="176784"/>
                  </a:lnTo>
                  <a:lnTo>
                    <a:pt x="2155317" y="6096"/>
                  </a:lnTo>
                  <a:lnTo>
                    <a:pt x="2155317" y="0"/>
                  </a:lnTo>
                  <a:close/>
                </a:path>
                <a:path w="3885565" h="183514">
                  <a:moveTo>
                    <a:pt x="3309226" y="176796"/>
                  </a:moveTo>
                  <a:lnTo>
                    <a:pt x="3309226" y="176796"/>
                  </a:lnTo>
                  <a:lnTo>
                    <a:pt x="2443607" y="176796"/>
                  </a:lnTo>
                  <a:lnTo>
                    <a:pt x="2443607" y="182892"/>
                  </a:lnTo>
                  <a:lnTo>
                    <a:pt x="3309226" y="182892"/>
                  </a:lnTo>
                  <a:lnTo>
                    <a:pt x="3309226" y="176796"/>
                  </a:lnTo>
                  <a:close/>
                </a:path>
                <a:path w="3885565" h="183514">
                  <a:moveTo>
                    <a:pt x="3309226" y="0"/>
                  </a:moveTo>
                  <a:lnTo>
                    <a:pt x="3309226" y="0"/>
                  </a:lnTo>
                  <a:lnTo>
                    <a:pt x="2443607" y="0"/>
                  </a:lnTo>
                  <a:lnTo>
                    <a:pt x="2443607" y="6096"/>
                  </a:lnTo>
                  <a:lnTo>
                    <a:pt x="2725547" y="6096"/>
                  </a:lnTo>
                  <a:lnTo>
                    <a:pt x="2725547" y="176784"/>
                  </a:lnTo>
                  <a:lnTo>
                    <a:pt x="2731643" y="176784"/>
                  </a:lnTo>
                  <a:lnTo>
                    <a:pt x="2731643" y="6096"/>
                  </a:lnTo>
                  <a:lnTo>
                    <a:pt x="3013583" y="6096"/>
                  </a:lnTo>
                  <a:lnTo>
                    <a:pt x="3013583" y="176784"/>
                  </a:lnTo>
                  <a:lnTo>
                    <a:pt x="3019679" y="176784"/>
                  </a:lnTo>
                  <a:lnTo>
                    <a:pt x="3019679" y="6096"/>
                  </a:lnTo>
                  <a:lnTo>
                    <a:pt x="3303143" y="6096"/>
                  </a:lnTo>
                  <a:lnTo>
                    <a:pt x="3303143" y="176784"/>
                  </a:lnTo>
                  <a:lnTo>
                    <a:pt x="3309226" y="176784"/>
                  </a:lnTo>
                  <a:lnTo>
                    <a:pt x="3309226" y="6096"/>
                  </a:lnTo>
                  <a:lnTo>
                    <a:pt x="3309226" y="0"/>
                  </a:lnTo>
                  <a:close/>
                </a:path>
                <a:path w="3885565" h="183514">
                  <a:moveTo>
                    <a:pt x="3597262" y="176796"/>
                  </a:moveTo>
                  <a:lnTo>
                    <a:pt x="3591179" y="176796"/>
                  </a:lnTo>
                  <a:lnTo>
                    <a:pt x="3309239" y="176796"/>
                  </a:lnTo>
                  <a:lnTo>
                    <a:pt x="3309239" y="182892"/>
                  </a:lnTo>
                  <a:lnTo>
                    <a:pt x="3591179" y="182892"/>
                  </a:lnTo>
                  <a:lnTo>
                    <a:pt x="3597262" y="182892"/>
                  </a:lnTo>
                  <a:lnTo>
                    <a:pt x="3597262" y="176796"/>
                  </a:lnTo>
                  <a:close/>
                </a:path>
                <a:path w="3885565" h="183514">
                  <a:moveTo>
                    <a:pt x="3597262" y="0"/>
                  </a:moveTo>
                  <a:lnTo>
                    <a:pt x="3591179" y="0"/>
                  </a:lnTo>
                  <a:lnTo>
                    <a:pt x="3309239" y="0"/>
                  </a:lnTo>
                  <a:lnTo>
                    <a:pt x="3309239" y="6096"/>
                  </a:lnTo>
                  <a:lnTo>
                    <a:pt x="3591179" y="6096"/>
                  </a:lnTo>
                  <a:lnTo>
                    <a:pt x="3591179" y="176784"/>
                  </a:lnTo>
                  <a:lnTo>
                    <a:pt x="3597262" y="176784"/>
                  </a:lnTo>
                  <a:lnTo>
                    <a:pt x="3597262" y="6096"/>
                  </a:lnTo>
                  <a:lnTo>
                    <a:pt x="3597262" y="0"/>
                  </a:lnTo>
                  <a:close/>
                </a:path>
                <a:path w="3885565" h="183514">
                  <a:moveTo>
                    <a:pt x="3885311" y="0"/>
                  </a:moveTo>
                  <a:lnTo>
                    <a:pt x="3879215" y="0"/>
                  </a:lnTo>
                  <a:lnTo>
                    <a:pt x="3597275" y="0"/>
                  </a:lnTo>
                  <a:lnTo>
                    <a:pt x="3597275" y="6096"/>
                  </a:lnTo>
                  <a:lnTo>
                    <a:pt x="3879215" y="6096"/>
                  </a:lnTo>
                  <a:lnTo>
                    <a:pt x="3885311" y="6096"/>
                  </a:lnTo>
                  <a:lnTo>
                    <a:pt x="38853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078989" y="4344034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4" h="9525">
                <a:moveTo>
                  <a:pt x="398068" y="0"/>
                </a:moveTo>
                <a:lnTo>
                  <a:pt x="0" y="0"/>
                </a:lnTo>
                <a:lnTo>
                  <a:pt x="0" y="9144"/>
                </a:lnTo>
                <a:lnTo>
                  <a:pt x="398068" y="9144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2632582" y="5078602"/>
            <a:ext cx="2153920" cy="360045"/>
            <a:chOff x="2632582" y="5078602"/>
            <a:chExt cx="2153920" cy="360045"/>
          </a:xfrm>
        </p:grpSpPr>
        <p:sp>
          <p:nvSpPr>
            <p:cNvPr id="12" name="object 12"/>
            <p:cNvSpPr/>
            <p:nvPr/>
          </p:nvSpPr>
          <p:spPr>
            <a:xfrm>
              <a:off x="3921886" y="5084698"/>
              <a:ext cx="282575" cy="170815"/>
            </a:xfrm>
            <a:custGeom>
              <a:avLst/>
              <a:gdLst/>
              <a:ahLst/>
              <a:cxnLst/>
              <a:rect l="l" t="t" r="r" b="b"/>
              <a:pathLst>
                <a:path w="282575" h="170814">
                  <a:moveTo>
                    <a:pt x="282244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2244" y="170687"/>
                  </a:lnTo>
                  <a:lnTo>
                    <a:pt x="2822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2583" y="5078602"/>
              <a:ext cx="2153920" cy="177165"/>
            </a:xfrm>
            <a:custGeom>
              <a:avLst/>
              <a:gdLst/>
              <a:ahLst/>
              <a:cxnLst/>
              <a:rect l="l" t="t" r="r" b="b"/>
              <a:pathLst>
                <a:path w="2153920" h="177164">
                  <a:moveTo>
                    <a:pt x="1001255" y="0"/>
                  </a:moveTo>
                  <a:lnTo>
                    <a:pt x="100125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96" y="176784"/>
                  </a:lnTo>
                  <a:lnTo>
                    <a:pt x="6096" y="6096"/>
                  </a:lnTo>
                  <a:lnTo>
                    <a:pt x="707136" y="6096"/>
                  </a:lnTo>
                  <a:lnTo>
                    <a:pt x="707136" y="176784"/>
                  </a:lnTo>
                  <a:lnTo>
                    <a:pt x="713232" y="176784"/>
                  </a:lnTo>
                  <a:lnTo>
                    <a:pt x="713232" y="6096"/>
                  </a:lnTo>
                  <a:lnTo>
                    <a:pt x="995172" y="6096"/>
                  </a:lnTo>
                  <a:lnTo>
                    <a:pt x="995172" y="176784"/>
                  </a:lnTo>
                  <a:lnTo>
                    <a:pt x="1001255" y="176784"/>
                  </a:lnTo>
                  <a:lnTo>
                    <a:pt x="1001255" y="6096"/>
                  </a:lnTo>
                  <a:lnTo>
                    <a:pt x="1001255" y="0"/>
                  </a:lnTo>
                  <a:close/>
                </a:path>
                <a:path w="2153920" h="177164">
                  <a:moveTo>
                    <a:pt x="1289304" y="0"/>
                  </a:moveTo>
                  <a:lnTo>
                    <a:pt x="1283208" y="0"/>
                  </a:lnTo>
                  <a:lnTo>
                    <a:pt x="1001268" y="0"/>
                  </a:lnTo>
                  <a:lnTo>
                    <a:pt x="1001268" y="6096"/>
                  </a:lnTo>
                  <a:lnTo>
                    <a:pt x="1283208" y="6096"/>
                  </a:lnTo>
                  <a:lnTo>
                    <a:pt x="1283208" y="176784"/>
                  </a:lnTo>
                  <a:lnTo>
                    <a:pt x="1289304" y="176784"/>
                  </a:lnTo>
                  <a:lnTo>
                    <a:pt x="1289304" y="6096"/>
                  </a:lnTo>
                  <a:lnTo>
                    <a:pt x="1289304" y="0"/>
                  </a:lnTo>
                  <a:close/>
                </a:path>
                <a:path w="2153920" h="177164">
                  <a:moveTo>
                    <a:pt x="2153666" y="0"/>
                  </a:moveTo>
                  <a:lnTo>
                    <a:pt x="2147570" y="0"/>
                  </a:lnTo>
                  <a:lnTo>
                    <a:pt x="1865630" y="0"/>
                  </a:lnTo>
                  <a:lnTo>
                    <a:pt x="1859534" y="0"/>
                  </a:lnTo>
                  <a:lnTo>
                    <a:pt x="1577594" y="0"/>
                  </a:lnTo>
                  <a:lnTo>
                    <a:pt x="1577594" y="6096"/>
                  </a:lnTo>
                  <a:lnTo>
                    <a:pt x="1859534" y="6096"/>
                  </a:lnTo>
                  <a:lnTo>
                    <a:pt x="1859534" y="176784"/>
                  </a:lnTo>
                  <a:lnTo>
                    <a:pt x="1865630" y="176784"/>
                  </a:lnTo>
                  <a:lnTo>
                    <a:pt x="1865630" y="6096"/>
                  </a:lnTo>
                  <a:lnTo>
                    <a:pt x="2147570" y="6096"/>
                  </a:lnTo>
                  <a:lnTo>
                    <a:pt x="2147570" y="176784"/>
                  </a:lnTo>
                  <a:lnTo>
                    <a:pt x="2153666" y="176784"/>
                  </a:lnTo>
                  <a:lnTo>
                    <a:pt x="2153666" y="6096"/>
                  </a:lnTo>
                  <a:lnTo>
                    <a:pt x="2153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45814" y="5261482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21886" y="5261482"/>
              <a:ext cx="282575" cy="170815"/>
            </a:xfrm>
            <a:custGeom>
              <a:avLst/>
              <a:gdLst/>
              <a:ahLst/>
              <a:cxnLst/>
              <a:rect l="l" t="t" r="r" b="b"/>
              <a:pathLst>
                <a:path w="282575" h="170814">
                  <a:moveTo>
                    <a:pt x="282244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2244" y="170687"/>
                  </a:lnTo>
                  <a:lnTo>
                    <a:pt x="28224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99736" y="5261482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32583" y="5255399"/>
              <a:ext cx="2153920" cy="182880"/>
            </a:xfrm>
            <a:custGeom>
              <a:avLst/>
              <a:gdLst/>
              <a:ahLst/>
              <a:cxnLst/>
              <a:rect l="l" t="t" r="r" b="b"/>
              <a:pathLst>
                <a:path w="2153920" h="182879">
                  <a:moveTo>
                    <a:pt x="1001255" y="0"/>
                  </a:moveTo>
                  <a:lnTo>
                    <a:pt x="995172" y="0"/>
                  </a:lnTo>
                  <a:lnTo>
                    <a:pt x="713232" y="0"/>
                  </a:lnTo>
                  <a:lnTo>
                    <a:pt x="707136" y="0"/>
                  </a:lnTo>
                  <a:lnTo>
                    <a:pt x="707136" y="6083"/>
                  </a:lnTo>
                  <a:lnTo>
                    <a:pt x="707136" y="176771"/>
                  </a:lnTo>
                  <a:lnTo>
                    <a:pt x="6096" y="176771"/>
                  </a:lnTo>
                  <a:lnTo>
                    <a:pt x="6096" y="6083"/>
                  </a:lnTo>
                  <a:lnTo>
                    <a:pt x="707136" y="6083"/>
                  </a:lnTo>
                  <a:lnTo>
                    <a:pt x="707136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0" y="176771"/>
                  </a:lnTo>
                  <a:lnTo>
                    <a:pt x="0" y="182867"/>
                  </a:lnTo>
                  <a:lnTo>
                    <a:pt x="6096" y="182867"/>
                  </a:lnTo>
                  <a:lnTo>
                    <a:pt x="707136" y="182867"/>
                  </a:lnTo>
                  <a:lnTo>
                    <a:pt x="713232" y="182867"/>
                  </a:lnTo>
                  <a:lnTo>
                    <a:pt x="713232" y="176771"/>
                  </a:lnTo>
                  <a:lnTo>
                    <a:pt x="713232" y="6083"/>
                  </a:lnTo>
                  <a:lnTo>
                    <a:pt x="995172" y="6083"/>
                  </a:lnTo>
                  <a:lnTo>
                    <a:pt x="1001255" y="6083"/>
                  </a:lnTo>
                  <a:lnTo>
                    <a:pt x="1001255" y="0"/>
                  </a:lnTo>
                  <a:close/>
                </a:path>
                <a:path w="2153920" h="182879">
                  <a:moveTo>
                    <a:pt x="1289304" y="0"/>
                  </a:moveTo>
                  <a:lnTo>
                    <a:pt x="1283208" y="0"/>
                  </a:lnTo>
                  <a:lnTo>
                    <a:pt x="1001268" y="0"/>
                  </a:lnTo>
                  <a:lnTo>
                    <a:pt x="1001268" y="6083"/>
                  </a:lnTo>
                  <a:lnTo>
                    <a:pt x="1283208" y="6083"/>
                  </a:lnTo>
                  <a:lnTo>
                    <a:pt x="1283208" y="176771"/>
                  </a:lnTo>
                  <a:lnTo>
                    <a:pt x="1001268" y="176771"/>
                  </a:lnTo>
                  <a:lnTo>
                    <a:pt x="1001268" y="182867"/>
                  </a:lnTo>
                  <a:lnTo>
                    <a:pt x="1283208" y="182867"/>
                  </a:lnTo>
                  <a:lnTo>
                    <a:pt x="1289304" y="182867"/>
                  </a:lnTo>
                  <a:lnTo>
                    <a:pt x="1289304" y="176771"/>
                  </a:lnTo>
                  <a:lnTo>
                    <a:pt x="1289304" y="6083"/>
                  </a:lnTo>
                  <a:lnTo>
                    <a:pt x="1289304" y="0"/>
                  </a:lnTo>
                  <a:close/>
                </a:path>
                <a:path w="2153920" h="182879">
                  <a:moveTo>
                    <a:pt x="2153666" y="0"/>
                  </a:moveTo>
                  <a:lnTo>
                    <a:pt x="2147570" y="0"/>
                  </a:lnTo>
                  <a:lnTo>
                    <a:pt x="1865630" y="0"/>
                  </a:lnTo>
                  <a:lnTo>
                    <a:pt x="1859534" y="0"/>
                  </a:lnTo>
                  <a:lnTo>
                    <a:pt x="1577594" y="0"/>
                  </a:lnTo>
                  <a:lnTo>
                    <a:pt x="1577594" y="6083"/>
                  </a:lnTo>
                  <a:lnTo>
                    <a:pt x="1859534" y="6083"/>
                  </a:lnTo>
                  <a:lnTo>
                    <a:pt x="1859534" y="176771"/>
                  </a:lnTo>
                  <a:lnTo>
                    <a:pt x="1577594" y="176771"/>
                  </a:lnTo>
                  <a:lnTo>
                    <a:pt x="1577594" y="182867"/>
                  </a:lnTo>
                  <a:lnTo>
                    <a:pt x="1859534" y="182867"/>
                  </a:lnTo>
                  <a:lnTo>
                    <a:pt x="1865630" y="182867"/>
                  </a:lnTo>
                  <a:lnTo>
                    <a:pt x="1865630" y="176771"/>
                  </a:lnTo>
                  <a:lnTo>
                    <a:pt x="1865630" y="6083"/>
                  </a:lnTo>
                  <a:lnTo>
                    <a:pt x="2147570" y="6083"/>
                  </a:lnTo>
                  <a:lnTo>
                    <a:pt x="2153666" y="6083"/>
                  </a:lnTo>
                  <a:lnTo>
                    <a:pt x="2153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117089" y="5692774"/>
            <a:ext cx="321945" cy="9525"/>
          </a:xfrm>
          <a:custGeom>
            <a:avLst/>
            <a:gdLst/>
            <a:ahLst/>
            <a:cxnLst/>
            <a:rect l="l" t="t" r="r" b="b"/>
            <a:pathLst>
              <a:path w="321944" h="9525">
                <a:moveTo>
                  <a:pt x="321563" y="0"/>
                </a:moveTo>
                <a:lnTo>
                  <a:pt x="0" y="0"/>
                </a:lnTo>
                <a:lnTo>
                  <a:pt x="0" y="9144"/>
                </a:lnTo>
                <a:lnTo>
                  <a:pt x="321563" y="9144"/>
                </a:lnTo>
                <a:lnTo>
                  <a:pt x="321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065398" y="6427596"/>
            <a:ext cx="1289685" cy="360045"/>
            <a:chOff x="3065398" y="6427596"/>
            <a:chExt cx="1289685" cy="360045"/>
          </a:xfrm>
        </p:grpSpPr>
        <p:sp>
          <p:nvSpPr>
            <p:cNvPr id="20" name="object 20"/>
            <p:cNvSpPr/>
            <p:nvPr/>
          </p:nvSpPr>
          <p:spPr>
            <a:xfrm>
              <a:off x="3778630" y="6433692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5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65399" y="6427596"/>
              <a:ext cx="1289685" cy="177165"/>
            </a:xfrm>
            <a:custGeom>
              <a:avLst/>
              <a:gdLst/>
              <a:ahLst/>
              <a:cxnLst/>
              <a:rect l="l" t="t" r="r" b="b"/>
              <a:pathLst>
                <a:path w="1289685" h="177165">
                  <a:moveTo>
                    <a:pt x="711695" y="0"/>
                  </a:moveTo>
                  <a:lnTo>
                    <a:pt x="705612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96" y="176784"/>
                  </a:lnTo>
                  <a:lnTo>
                    <a:pt x="6096" y="6096"/>
                  </a:lnTo>
                  <a:lnTo>
                    <a:pt x="705612" y="6096"/>
                  </a:lnTo>
                  <a:lnTo>
                    <a:pt x="705612" y="176784"/>
                  </a:lnTo>
                  <a:lnTo>
                    <a:pt x="711695" y="176784"/>
                  </a:lnTo>
                  <a:lnTo>
                    <a:pt x="711695" y="6096"/>
                  </a:lnTo>
                  <a:lnTo>
                    <a:pt x="711695" y="0"/>
                  </a:lnTo>
                  <a:close/>
                </a:path>
                <a:path w="1289685" h="177165">
                  <a:moveTo>
                    <a:pt x="1289558" y="0"/>
                  </a:moveTo>
                  <a:lnTo>
                    <a:pt x="1283500" y="0"/>
                  </a:lnTo>
                  <a:lnTo>
                    <a:pt x="999744" y="0"/>
                  </a:lnTo>
                  <a:lnTo>
                    <a:pt x="999744" y="6096"/>
                  </a:lnTo>
                  <a:lnTo>
                    <a:pt x="1283462" y="6096"/>
                  </a:lnTo>
                  <a:lnTo>
                    <a:pt x="1283462" y="176784"/>
                  </a:lnTo>
                  <a:lnTo>
                    <a:pt x="1289558" y="176784"/>
                  </a:lnTo>
                  <a:lnTo>
                    <a:pt x="1289558" y="6096"/>
                  </a:lnTo>
                  <a:lnTo>
                    <a:pt x="12895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78630" y="6610476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5">
                  <a:moveTo>
                    <a:pt x="281939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1939" y="1706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66666" y="6610476"/>
              <a:ext cx="282575" cy="170815"/>
            </a:xfrm>
            <a:custGeom>
              <a:avLst/>
              <a:gdLst/>
              <a:ahLst/>
              <a:cxnLst/>
              <a:rect l="l" t="t" r="r" b="b"/>
              <a:pathLst>
                <a:path w="282575" h="170815">
                  <a:moveTo>
                    <a:pt x="282244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2244" y="170688"/>
                  </a:lnTo>
                  <a:lnTo>
                    <a:pt x="282244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65399" y="6604380"/>
              <a:ext cx="1289685" cy="182880"/>
            </a:xfrm>
            <a:custGeom>
              <a:avLst/>
              <a:gdLst/>
              <a:ahLst/>
              <a:cxnLst/>
              <a:rect l="l" t="t" r="r" b="b"/>
              <a:pathLst>
                <a:path w="1289685" h="182879">
                  <a:moveTo>
                    <a:pt x="711695" y="176796"/>
                  </a:moveTo>
                  <a:lnTo>
                    <a:pt x="705612" y="176796"/>
                  </a:lnTo>
                  <a:lnTo>
                    <a:pt x="6096" y="176796"/>
                  </a:lnTo>
                  <a:lnTo>
                    <a:pt x="0" y="176796"/>
                  </a:lnTo>
                  <a:lnTo>
                    <a:pt x="0" y="182880"/>
                  </a:lnTo>
                  <a:lnTo>
                    <a:pt x="6096" y="182880"/>
                  </a:lnTo>
                  <a:lnTo>
                    <a:pt x="705612" y="182880"/>
                  </a:lnTo>
                  <a:lnTo>
                    <a:pt x="711695" y="182880"/>
                  </a:lnTo>
                  <a:lnTo>
                    <a:pt x="711695" y="176796"/>
                  </a:lnTo>
                  <a:close/>
                </a:path>
                <a:path w="1289685" h="182879">
                  <a:moveTo>
                    <a:pt x="711695" y="0"/>
                  </a:moveTo>
                  <a:lnTo>
                    <a:pt x="705612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96" y="176784"/>
                  </a:lnTo>
                  <a:lnTo>
                    <a:pt x="6096" y="6096"/>
                  </a:lnTo>
                  <a:lnTo>
                    <a:pt x="705612" y="6096"/>
                  </a:lnTo>
                  <a:lnTo>
                    <a:pt x="705612" y="176784"/>
                  </a:lnTo>
                  <a:lnTo>
                    <a:pt x="711695" y="176784"/>
                  </a:lnTo>
                  <a:lnTo>
                    <a:pt x="711695" y="6096"/>
                  </a:lnTo>
                  <a:lnTo>
                    <a:pt x="711695" y="0"/>
                  </a:lnTo>
                  <a:close/>
                </a:path>
                <a:path w="1289685" h="182879">
                  <a:moveTo>
                    <a:pt x="1289558" y="0"/>
                  </a:moveTo>
                  <a:lnTo>
                    <a:pt x="1283500" y="0"/>
                  </a:lnTo>
                  <a:lnTo>
                    <a:pt x="999744" y="0"/>
                  </a:lnTo>
                  <a:lnTo>
                    <a:pt x="999744" y="6096"/>
                  </a:lnTo>
                  <a:lnTo>
                    <a:pt x="1283462" y="6096"/>
                  </a:lnTo>
                  <a:lnTo>
                    <a:pt x="1289558" y="6096"/>
                  </a:lnTo>
                  <a:lnTo>
                    <a:pt x="12895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1934210" y="7035672"/>
            <a:ext cx="321945" cy="9525"/>
          </a:xfrm>
          <a:custGeom>
            <a:avLst/>
            <a:gdLst/>
            <a:ahLst/>
            <a:cxnLst/>
            <a:rect l="l" t="t" r="r" b="b"/>
            <a:pathLst>
              <a:path w="321944" h="9525">
                <a:moveTo>
                  <a:pt x="321563" y="0"/>
                </a:moveTo>
                <a:lnTo>
                  <a:pt x="0" y="0"/>
                </a:lnTo>
                <a:lnTo>
                  <a:pt x="0" y="9143"/>
                </a:lnTo>
                <a:lnTo>
                  <a:pt x="321563" y="9143"/>
                </a:lnTo>
                <a:lnTo>
                  <a:pt x="321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17168" y="3164077"/>
          <a:ext cx="5756910" cy="403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6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745490" algn="l"/>
                          <a:tab pos="1035050" algn="l"/>
                          <a:tab pos="1322705" algn="l"/>
                          <a:tab pos="1610995" algn="l"/>
                          <a:tab pos="1863725" algn="l"/>
                          <a:tab pos="2152015" algn="l"/>
                          <a:tab pos="2440305" algn="l"/>
                          <a:tab pos="2729865" algn="l"/>
                          <a:tab pos="3017520" algn="l"/>
                          <a:tab pos="3305810" algn="l"/>
                          <a:tab pos="3594100" algn="l"/>
                        </a:tabLst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Elemanlar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18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30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743585" algn="l"/>
                          <a:tab pos="1033144" algn="l"/>
                          <a:tab pos="1320800" algn="l"/>
                          <a:tab pos="1609090" algn="l"/>
                          <a:tab pos="1896745" algn="l"/>
                          <a:tab pos="2185035" algn="l"/>
                          <a:tab pos="2473325" algn="l"/>
                          <a:tab pos="2762885" algn="l"/>
                          <a:tab pos="3051175" algn="l"/>
                          <a:tab pos="3338829" algn="l"/>
                          <a:tab pos="3592195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No.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1247775">
                        <a:lnSpc>
                          <a:spcPts val="1135"/>
                        </a:lnSpc>
                        <a:tabLst>
                          <a:tab pos="3227705" algn="l"/>
                        </a:tabLst>
                      </a:pPr>
                      <a:r>
                        <a:rPr sz="1650" baseline="2525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1650" spc="-22" baseline="25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baseline="2525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650" spc="-7" baseline="25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-37" baseline="2525" dirty="0">
                          <a:latin typeface="Cambria Math"/>
                          <a:cs typeface="Cambria Math"/>
                        </a:rPr>
                        <a:t>10</a:t>
                      </a:r>
                      <a:r>
                        <a:rPr sz="1650" baseline="2525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≠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listenin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787400">
                        <a:lnSpc>
                          <a:spcPts val="515"/>
                        </a:lnSpc>
                        <a:tabLst>
                          <a:tab pos="1685289" algn="l"/>
                        </a:tabLst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orta</a:t>
                      </a:r>
                      <a:r>
                        <a:rPr sz="110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spc="-5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	=</a:t>
                      </a:r>
                      <a:r>
                        <a:rPr sz="1100" spc="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spc="-50" dirty="0">
                          <a:latin typeface="Cambria Math"/>
                          <a:cs typeface="Cambria Math"/>
                        </a:rPr>
                        <a:t>𝟓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  <a:p>
                      <a:pPr marL="1407795">
                        <a:lnSpc>
                          <a:spcPts val="1310"/>
                        </a:lnSpc>
                        <a:tabLst>
                          <a:tab pos="2778125" algn="l"/>
                          <a:tab pos="3685540" algn="l"/>
                        </a:tabLst>
                      </a:pPr>
                      <a:r>
                        <a:rPr sz="1100" spc="-50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400" spc="-75" baseline="3472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400" baseline="3472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aseline="4629" dirty="0">
                          <a:latin typeface="Calibri"/>
                          <a:cs typeface="Calibri"/>
                        </a:rPr>
                        <a:t>sağ</a:t>
                      </a:r>
                      <a:r>
                        <a:rPr sz="1800" spc="-30" baseline="46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aseline="4629" dirty="0">
                          <a:latin typeface="Calibri"/>
                          <a:cs typeface="Calibri"/>
                        </a:rPr>
                        <a:t>tarafı</a:t>
                      </a:r>
                      <a:r>
                        <a:rPr sz="1800" spc="-44" baseline="46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aseline="4629" dirty="0">
                          <a:latin typeface="Calibri"/>
                          <a:cs typeface="Calibri"/>
                        </a:rPr>
                        <a:t>dikkate</a:t>
                      </a:r>
                      <a:r>
                        <a:rPr sz="1800" spc="-22" baseline="46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baseline="4629" dirty="0">
                          <a:latin typeface="Calibri"/>
                          <a:cs typeface="Calibri"/>
                        </a:rPr>
                        <a:t>alınır.</a:t>
                      </a:r>
                      <a:endParaRPr sz="1800" baseline="4629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711200" algn="l"/>
                          <a:tab pos="999490" algn="l"/>
                          <a:tab pos="1287145" algn="l"/>
                          <a:tab pos="1575435" algn="l"/>
                          <a:tab pos="1864995" algn="l"/>
                        </a:tabLst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Elemanlar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18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30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7145" algn="ct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732790" algn="l"/>
                          <a:tab pos="1020444" algn="l"/>
                          <a:tab pos="1308735" algn="l"/>
                          <a:tab pos="1597025" algn="l"/>
                          <a:tab pos="1886585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No.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1285875">
                        <a:lnSpc>
                          <a:spcPts val="1135"/>
                        </a:lnSpc>
                        <a:tabLst>
                          <a:tab pos="3227705" algn="l"/>
                        </a:tabLst>
                      </a:pPr>
                      <a:r>
                        <a:rPr sz="1650" baseline="2525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1650" spc="-22" baseline="25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baseline="2525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650" spc="-7" baseline="25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-75" baseline="2525" dirty="0">
                          <a:latin typeface="Cambria Math"/>
                          <a:cs typeface="Cambria Math"/>
                        </a:rPr>
                        <a:t>4</a:t>
                      </a:r>
                      <a:r>
                        <a:rPr sz="1650" baseline="2525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≠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listenin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825500">
                        <a:lnSpc>
                          <a:spcPts val="515"/>
                        </a:lnSpc>
                        <a:tabLst>
                          <a:tab pos="1647189" algn="l"/>
                        </a:tabLst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orta</a:t>
                      </a:r>
                      <a:r>
                        <a:rPr sz="110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spc="-5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	=</a:t>
                      </a:r>
                      <a:r>
                        <a:rPr sz="1100" spc="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spc="-50" dirty="0">
                          <a:latin typeface="Cambria Math"/>
                          <a:cs typeface="Cambria Math"/>
                        </a:rPr>
                        <a:t>𝟐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  <a:p>
                      <a:pPr marL="1407795">
                        <a:lnSpc>
                          <a:spcPts val="1310"/>
                        </a:lnSpc>
                        <a:tabLst>
                          <a:tab pos="2778125" algn="l"/>
                          <a:tab pos="3685540" algn="l"/>
                        </a:tabLst>
                      </a:pPr>
                      <a:r>
                        <a:rPr sz="1100" spc="-50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400" spc="-75" baseline="3472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400" baseline="3472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aseline="4629" dirty="0">
                          <a:latin typeface="Calibri"/>
                          <a:cs typeface="Calibri"/>
                        </a:rPr>
                        <a:t>sağ</a:t>
                      </a:r>
                      <a:r>
                        <a:rPr sz="1800" spc="-30" baseline="46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aseline="4629" dirty="0">
                          <a:latin typeface="Calibri"/>
                          <a:cs typeface="Calibri"/>
                        </a:rPr>
                        <a:t>tarafı</a:t>
                      </a:r>
                      <a:r>
                        <a:rPr sz="1800" spc="-44" baseline="46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aseline="4629" dirty="0">
                          <a:latin typeface="Calibri"/>
                          <a:cs typeface="Calibri"/>
                        </a:rPr>
                        <a:t>dikkate</a:t>
                      </a:r>
                      <a:r>
                        <a:rPr sz="1800" spc="-22" baseline="46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baseline="4629" dirty="0">
                          <a:latin typeface="Calibri"/>
                          <a:cs typeface="Calibri"/>
                        </a:rPr>
                        <a:t>alınır.</a:t>
                      </a:r>
                      <a:endParaRPr sz="1800" baseline="4629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711200" algn="l"/>
                          <a:tab pos="999490" algn="l"/>
                        </a:tabLst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Elemanlar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30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7145" algn="ct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732790" algn="l"/>
                          <a:tab pos="1021080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No.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1102995">
                        <a:lnSpc>
                          <a:spcPts val="1060"/>
                        </a:lnSpc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0 +</a:t>
                      </a:r>
                      <a:r>
                        <a:rPr sz="110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  <a:p>
                      <a:pPr marL="644525">
                        <a:lnSpc>
                          <a:spcPts val="475"/>
                        </a:lnSpc>
                        <a:tabLst>
                          <a:tab pos="1464310" algn="l"/>
                        </a:tabLst>
                      </a:pPr>
                      <a:r>
                        <a:rPr sz="1100" dirty="0">
                          <a:latin typeface="Cambria Math"/>
                          <a:cs typeface="Cambria Math"/>
                        </a:rPr>
                        <a:t>orta</a:t>
                      </a:r>
                      <a:r>
                        <a:rPr sz="1100" spc="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spc="-5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	=</a:t>
                      </a:r>
                      <a:r>
                        <a:rPr sz="1100" spc="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0,5</a:t>
                      </a:r>
                      <a:r>
                        <a:rPr sz="1100" spc="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≅</a:t>
                      </a:r>
                      <a:r>
                        <a:rPr sz="1100" spc="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1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1100">
                        <a:latin typeface="Cambria Math"/>
                        <a:cs typeface="Cambria Math"/>
                      </a:endParaRPr>
                    </a:p>
                    <a:p>
                      <a:pPr marL="1224915">
                        <a:lnSpc>
                          <a:spcPts val="1315"/>
                        </a:lnSpc>
                        <a:tabLst>
                          <a:tab pos="2778125" algn="l"/>
                          <a:tab pos="3206750" algn="l"/>
                        </a:tabLst>
                      </a:pPr>
                      <a:r>
                        <a:rPr sz="1650" spc="-75" baseline="-757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baseline="-7575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algoritma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sonlanır.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886764" y="7307046"/>
            <a:ext cx="5786755" cy="104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Not:</a:t>
            </a:r>
            <a:r>
              <a:rPr sz="1100" b="1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Üçüncü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geçişte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görüldüğü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0,5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çıkmasına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rağmen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sonucu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sıfır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kabul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ettik. </a:t>
            </a:r>
            <a:r>
              <a:rPr sz="1100" dirty="0">
                <a:latin typeface="Calibri"/>
                <a:cs typeface="Calibri"/>
              </a:rPr>
              <a:t>Bunun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nedeni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tek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çift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sayıda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sahip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dizilerde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doğru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sonuca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ulaşabilmek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içindir. </a:t>
            </a:r>
            <a:r>
              <a:rPr sz="1100" dirty="0">
                <a:latin typeface="Calibri"/>
                <a:cs typeface="Calibri"/>
              </a:rPr>
              <a:t>Yani,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eğer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ki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numarası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bölümündeki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orta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adı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verdiğimiz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sonuç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virgüllü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çıkarsa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alt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değere yuvarlıyoruz.</a:t>
            </a:r>
            <a:endParaRPr sz="11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Yukarıda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bahsettiğimiz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sayfada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dökelim.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9464" y="9488119"/>
            <a:ext cx="1829435" cy="9525"/>
          </a:xfrm>
          <a:custGeom>
            <a:avLst/>
            <a:gdLst/>
            <a:ahLst/>
            <a:cxnLst/>
            <a:rect l="l" t="t" r="r" b="b"/>
            <a:pathLst>
              <a:path w="1829435" h="9525">
                <a:moveTo>
                  <a:pt x="1829053" y="0"/>
                </a:moveTo>
                <a:lnTo>
                  <a:pt x="0" y="0"/>
                </a:lnTo>
                <a:lnTo>
                  <a:pt x="0" y="9143"/>
                </a:lnTo>
                <a:lnTo>
                  <a:pt x="1829053" y="9143"/>
                </a:lnTo>
                <a:lnTo>
                  <a:pt x="1829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986910" y="9691827"/>
            <a:ext cx="768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Cambria Math"/>
                <a:cs typeface="Cambria Math"/>
              </a:rPr>
              <a:t>2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3559" y="9689286"/>
            <a:ext cx="885825" cy="7620"/>
          </a:xfrm>
          <a:custGeom>
            <a:avLst/>
            <a:gdLst/>
            <a:ahLst/>
            <a:cxnLst/>
            <a:rect l="l" t="t" r="r" b="b"/>
            <a:pathLst>
              <a:path w="885825" h="7620">
                <a:moveTo>
                  <a:pt x="885748" y="0"/>
                </a:moveTo>
                <a:lnTo>
                  <a:pt x="0" y="0"/>
                </a:lnTo>
                <a:lnTo>
                  <a:pt x="0" y="7619"/>
                </a:lnTo>
                <a:lnTo>
                  <a:pt x="885748" y="7619"/>
                </a:lnTo>
                <a:lnTo>
                  <a:pt x="88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61364" y="9589719"/>
            <a:ext cx="4618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75" spc="15" baseline="42735" dirty="0">
                <a:latin typeface="Calibri"/>
                <a:cs typeface="Calibri"/>
              </a:rPr>
              <a:t>2</a:t>
            </a:r>
            <a:r>
              <a:rPr sz="975" spc="112" baseline="4273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İkili</a:t>
            </a:r>
            <a:r>
              <a:rPr sz="1000" dirty="0">
                <a:latin typeface="Calibri"/>
                <a:cs typeface="Calibri"/>
              </a:rPr>
              <a:t> sıralamada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ortanca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değeri bulmak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için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spc="10" dirty="0">
                <a:latin typeface="Cambria Math"/>
                <a:cs typeface="Cambria Math"/>
              </a:rPr>
              <a:t>orta</a:t>
            </a:r>
            <a:r>
              <a:rPr sz="1000" spc="70" dirty="0">
                <a:latin typeface="Cambria Math"/>
                <a:cs typeface="Cambria Math"/>
              </a:rPr>
              <a:t> </a:t>
            </a:r>
            <a:r>
              <a:rPr sz="1000" spc="10" dirty="0">
                <a:latin typeface="Cambria Math"/>
                <a:cs typeface="Cambria Math"/>
              </a:rPr>
              <a:t>=</a:t>
            </a:r>
            <a:r>
              <a:rPr sz="1000" spc="295" dirty="0">
                <a:latin typeface="Cambria Math"/>
                <a:cs typeface="Cambria Math"/>
              </a:rPr>
              <a:t> </a:t>
            </a:r>
            <a:r>
              <a:rPr sz="1050" spc="15" baseline="47619" dirty="0">
                <a:latin typeface="Cambria Math"/>
                <a:cs typeface="Cambria Math"/>
              </a:rPr>
              <a:t>İlk</a:t>
            </a:r>
            <a:r>
              <a:rPr sz="1050" spc="22" baseline="47619" dirty="0">
                <a:latin typeface="Cambria Math"/>
                <a:cs typeface="Cambria Math"/>
              </a:rPr>
              <a:t> </a:t>
            </a:r>
            <a:r>
              <a:rPr sz="1050" spc="15" baseline="47619" dirty="0">
                <a:latin typeface="Cambria Math"/>
                <a:cs typeface="Cambria Math"/>
              </a:rPr>
              <a:t>terim</a:t>
            </a:r>
            <a:r>
              <a:rPr sz="1050" spc="7" baseline="47619" dirty="0">
                <a:latin typeface="Cambria Math"/>
                <a:cs typeface="Cambria Math"/>
              </a:rPr>
              <a:t> </a:t>
            </a:r>
            <a:r>
              <a:rPr sz="1050" spc="15" baseline="47619" dirty="0">
                <a:latin typeface="Cambria Math"/>
                <a:cs typeface="Cambria Math"/>
              </a:rPr>
              <a:t>+</a:t>
            </a:r>
            <a:r>
              <a:rPr sz="1050" baseline="47619" dirty="0">
                <a:latin typeface="Cambria Math"/>
                <a:cs typeface="Cambria Math"/>
              </a:rPr>
              <a:t> </a:t>
            </a:r>
            <a:r>
              <a:rPr sz="1050" spc="15" baseline="47619" dirty="0">
                <a:latin typeface="Cambria Math"/>
                <a:cs typeface="Cambria Math"/>
              </a:rPr>
              <a:t>Son</a:t>
            </a:r>
            <a:r>
              <a:rPr sz="1050" spc="22" baseline="47619" dirty="0">
                <a:latin typeface="Cambria Math"/>
                <a:cs typeface="Cambria Math"/>
              </a:rPr>
              <a:t> </a:t>
            </a:r>
            <a:r>
              <a:rPr sz="1050" spc="15" baseline="47619" dirty="0">
                <a:latin typeface="Cambria Math"/>
                <a:cs typeface="Cambria Math"/>
              </a:rPr>
              <a:t>terim</a:t>
            </a:r>
            <a:r>
              <a:rPr sz="1050" spc="457" baseline="47619" dirty="0">
                <a:latin typeface="Cambria Math"/>
                <a:cs typeface="Cambria Math"/>
              </a:rPr>
              <a:t> </a:t>
            </a:r>
            <a:r>
              <a:rPr sz="1000" dirty="0">
                <a:latin typeface="Calibri"/>
                <a:cs typeface="Calibri"/>
              </a:rPr>
              <a:t>formülü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kullanılır.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769617" y="3732910"/>
          <a:ext cx="3874131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9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6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6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2635630" y="5081650"/>
          <a:ext cx="2148838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3068447" y="6430644"/>
          <a:ext cx="1282698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2480183" y="3912742"/>
            <a:ext cx="288290" cy="177165"/>
          </a:xfrm>
          <a:custGeom>
            <a:avLst/>
            <a:gdLst/>
            <a:ahLst/>
            <a:cxnLst/>
            <a:rect l="l" t="t" r="r" b="b"/>
            <a:pathLst>
              <a:path w="288289" h="177164">
                <a:moveTo>
                  <a:pt x="281927" y="170700"/>
                </a:moveTo>
                <a:lnTo>
                  <a:pt x="0" y="170700"/>
                </a:lnTo>
                <a:lnTo>
                  <a:pt x="0" y="176796"/>
                </a:lnTo>
                <a:lnTo>
                  <a:pt x="281927" y="176796"/>
                </a:lnTo>
                <a:lnTo>
                  <a:pt x="281927" y="170700"/>
                </a:lnTo>
                <a:close/>
              </a:path>
              <a:path w="288289" h="177164">
                <a:moveTo>
                  <a:pt x="288036" y="170700"/>
                </a:moveTo>
                <a:lnTo>
                  <a:pt x="281940" y="170700"/>
                </a:lnTo>
                <a:lnTo>
                  <a:pt x="281940" y="176796"/>
                </a:lnTo>
                <a:lnTo>
                  <a:pt x="288036" y="176796"/>
                </a:lnTo>
                <a:lnTo>
                  <a:pt x="288036" y="170700"/>
                </a:lnTo>
                <a:close/>
              </a:path>
              <a:path w="288289" h="177164">
                <a:moveTo>
                  <a:pt x="288036" y="0"/>
                </a:moveTo>
                <a:lnTo>
                  <a:pt x="281940" y="0"/>
                </a:lnTo>
                <a:lnTo>
                  <a:pt x="281940" y="170688"/>
                </a:lnTo>
                <a:lnTo>
                  <a:pt x="288036" y="170688"/>
                </a:lnTo>
                <a:lnTo>
                  <a:pt x="28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21887" y="3729862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288277" y="353580"/>
                </a:moveTo>
                <a:lnTo>
                  <a:pt x="282244" y="353580"/>
                </a:lnTo>
                <a:lnTo>
                  <a:pt x="0" y="353580"/>
                </a:lnTo>
                <a:lnTo>
                  <a:pt x="0" y="359676"/>
                </a:lnTo>
                <a:lnTo>
                  <a:pt x="282194" y="359676"/>
                </a:lnTo>
                <a:lnTo>
                  <a:pt x="288277" y="359676"/>
                </a:lnTo>
                <a:lnTo>
                  <a:pt x="288277" y="353580"/>
                </a:lnTo>
                <a:close/>
              </a:path>
              <a:path w="288289" h="360045">
                <a:moveTo>
                  <a:pt x="288277" y="0"/>
                </a:moveTo>
                <a:lnTo>
                  <a:pt x="282244" y="0"/>
                </a:lnTo>
                <a:lnTo>
                  <a:pt x="0" y="0"/>
                </a:lnTo>
                <a:lnTo>
                  <a:pt x="0" y="6096"/>
                </a:lnTo>
                <a:lnTo>
                  <a:pt x="282194" y="6096"/>
                </a:lnTo>
                <a:lnTo>
                  <a:pt x="282194" y="176784"/>
                </a:lnTo>
                <a:lnTo>
                  <a:pt x="0" y="176784"/>
                </a:lnTo>
                <a:lnTo>
                  <a:pt x="0" y="182880"/>
                </a:lnTo>
                <a:lnTo>
                  <a:pt x="282194" y="182880"/>
                </a:lnTo>
                <a:lnTo>
                  <a:pt x="282194" y="353568"/>
                </a:lnTo>
                <a:lnTo>
                  <a:pt x="288277" y="353568"/>
                </a:lnTo>
                <a:lnTo>
                  <a:pt x="288277" y="182880"/>
                </a:lnTo>
                <a:lnTo>
                  <a:pt x="288277" y="176784"/>
                </a:lnTo>
                <a:lnTo>
                  <a:pt x="288277" y="6096"/>
                </a:lnTo>
                <a:lnTo>
                  <a:pt x="288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63845" y="3912742"/>
            <a:ext cx="288290" cy="177165"/>
          </a:xfrm>
          <a:custGeom>
            <a:avLst/>
            <a:gdLst/>
            <a:ahLst/>
            <a:cxnLst/>
            <a:rect l="l" t="t" r="r" b="b"/>
            <a:pathLst>
              <a:path w="288289" h="177164">
                <a:moveTo>
                  <a:pt x="288036" y="170700"/>
                </a:moveTo>
                <a:lnTo>
                  <a:pt x="281940" y="170700"/>
                </a:lnTo>
                <a:lnTo>
                  <a:pt x="0" y="170700"/>
                </a:lnTo>
                <a:lnTo>
                  <a:pt x="0" y="176796"/>
                </a:lnTo>
                <a:lnTo>
                  <a:pt x="281940" y="176796"/>
                </a:lnTo>
                <a:lnTo>
                  <a:pt x="288036" y="176796"/>
                </a:lnTo>
                <a:lnTo>
                  <a:pt x="288036" y="170700"/>
                </a:lnTo>
                <a:close/>
              </a:path>
              <a:path w="288289" h="177164">
                <a:moveTo>
                  <a:pt x="288036" y="0"/>
                </a:moveTo>
                <a:lnTo>
                  <a:pt x="281940" y="0"/>
                </a:lnTo>
                <a:lnTo>
                  <a:pt x="281940" y="170688"/>
                </a:lnTo>
                <a:lnTo>
                  <a:pt x="288036" y="170688"/>
                </a:lnTo>
                <a:lnTo>
                  <a:pt x="28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45815" y="5261482"/>
            <a:ext cx="288290" cy="177165"/>
          </a:xfrm>
          <a:custGeom>
            <a:avLst/>
            <a:gdLst/>
            <a:ahLst/>
            <a:cxnLst/>
            <a:rect l="l" t="t" r="r" b="b"/>
            <a:pathLst>
              <a:path w="288289" h="177164">
                <a:moveTo>
                  <a:pt x="288023" y="0"/>
                </a:moveTo>
                <a:lnTo>
                  <a:pt x="281940" y="0"/>
                </a:lnTo>
                <a:lnTo>
                  <a:pt x="281940" y="170688"/>
                </a:lnTo>
                <a:lnTo>
                  <a:pt x="0" y="170688"/>
                </a:lnTo>
                <a:lnTo>
                  <a:pt x="0" y="176784"/>
                </a:lnTo>
                <a:lnTo>
                  <a:pt x="281940" y="176784"/>
                </a:lnTo>
                <a:lnTo>
                  <a:pt x="288023" y="176784"/>
                </a:lnTo>
                <a:lnTo>
                  <a:pt x="288023" y="170688"/>
                </a:lnTo>
                <a:lnTo>
                  <a:pt x="288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921887" y="5078602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288277" y="176796"/>
                </a:moveTo>
                <a:lnTo>
                  <a:pt x="282244" y="176796"/>
                </a:lnTo>
                <a:lnTo>
                  <a:pt x="0" y="176796"/>
                </a:lnTo>
                <a:lnTo>
                  <a:pt x="0" y="182880"/>
                </a:lnTo>
                <a:lnTo>
                  <a:pt x="282194" y="182880"/>
                </a:lnTo>
                <a:lnTo>
                  <a:pt x="282194" y="353568"/>
                </a:lnTo>
                <a:lnTo>
                  <a:pt x="0" y="353568"/>
                </a:lnTo>
                <a:lnTo>
                  <a:pt x="0" y="359664"/>
                </a:lnTo>
                <a:lnTo>
                  <a:pt x="282194" y="359664"/>
                </a:lnTo>
                <a:lnTo>
                  <a:pt x="288277" y="359664"/>
                </a:lnTo>
                <a:lnTo>
                  <a:pt x="288277" y="353568"/>
                </a:lnTo>
                <a:lnTo>
                  <a:pt x="288277" y="182880"/>
                </a:lnTo>
                <a:lnTo>
                  <a:pt x="288277" y="176796"/>
                </a:lnTo>
                <a:close/>
              </a:path>
              <a:path w="288289" h="360045">
                <a:moveTo>
                  <a:pt x="288277" y="0"/>
                </a:moveTo>
                <a:lnTo>
                  <a:pt x="282244" y="0"/>
                </a:lnTo>
                <a:lnTo>
                  <a:pt x="0" y="0"/>
                </a:lnTo>
                <a:lnTo>
                  <a:pt x="0" y="6096"/>
                </a:lnTo>
                <a:lnTo>
                  <a:pt x="282194" y="6096"/>
                </a:lnTo>
                <a:lnTo>
                  <a:pt x="282194" y="176784"/>
                </a:lnTo>
                <a:lnTo>
                  <a:pt x="288277" y="176784"/>
                </a:lnTo>
                <a:lnTo>
                  <a:pt x="288277" y="6096"/>
                </a:lnTo>
                <a:lnTo>
                  <a:pt x="288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498213" y="5261482"/>
            <a:ext cx="288290" cy="177165"/>
          </a:xfrm>
          <a:custGeom>
            <a:avLst/>
            <a:gdLst/>
            <a:ahLst/>
            <a:cxnLst/>
            <a:rect l="l" t="t" r="r" b="b"/>
            <a:pathLst>
              <a:path w="288289" h="177164">
                <a:moveTo>
                  <a:pt x="288036" y="0"/>
                </a:moveTo>
                <a:lnTo>
                  <a:pt x="281940" y="0"/>
                </a:lnTo>
                <a:lnTo>
                  <a:pt x="281940" y="170688"/>
                </a:lnTo>
                <a:lnTo>
                  <a:pt x="0" y="170688"/>
                </a:lnTo>
                <a:lnTo>
                  <a:pt x="0" y="176784"/>
                </a:lnTo>
                <a:lnTo>
                  <a:pt x="281940" y="176784"/>
                </a:lnTo>
                <a:lnTo>
                  <a:pt x="288036" y="176784"/>
                </a:lnTo>
                <a:lnTo>
                  <a:pt x="288036" y="170688"/>
                </a:lnTo>
                <a:lnTo>
                  <a:pt x="28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777107" y="6427596"/>
            <a:ext cx="577850" cy="360045"/>
          </a:xfrm>
          <a:custGeom>
            <a:avLst/>
            <a:gdLst/>
            <a:ahLst/>
            <a:cxnLst/>
            <a:rect l="l" t="t" r="r" b="b"/>
            <a:pathLst>
              <a:path w="577850" h="360045">
                <a:moveTo>
                  <a:pt x="288036" y="0"/>
                </a:moveTo>
                <a:lnTo>
                  <a:pt x="281940" y="0"/>
                </a:lnTo>
                <a:lnTo>
                  <a:pt x="0" y="0"/>
                </a:lnTo>
                <a:lnTo>
                  <a:pt x="0" y="6096"/>
                </a:lnTo>
                <a:lnTo>
                  <a:pt x="281940" y="6096"/>
                </a:lnTo>
                <a:lnTo>
                  <a:pt x="281940" y="176784"/>
                </a:lnTo>
                <a:lnTo>
                  <a:pt x="0" y="176784"/>
                </a:lnTo>
                <a:lnTo>
                  <a:pt x="0" y="182880"/>
                </a:lnTo>
                <a:lnTo>
                  <a:pt x="281940" y="182880"/>
                </a:lnTo>
                <a:lnTo>
                  <a:pt x="281940" y="353568"/>
                </a:lnTo>
                <a:lnTo>
                  <a:pt x="288036" y="353568"/>
                </a:lnTo>
                <a:lnTo>
                  <a:pt x="288036" y="182880"/>
                </a:lnTo>
                <a:lnTo>
                  <a:pt x="288036" y="176784"/>
                </a:lnTo>
                <a:lnTo>
                  <a:pt x="288036" y="6096"/>
                </a:lnTo>
                <a:lnTo>
                  <a:pt x="288036" y="0"/>
                </a:lnTo>
                <a:close/>
              </a:path>
              <a:path w="577850" h="360045">
                <a:moveTo>
                  <a:pt x="577850" y="353580"/>
                </a:moveTo>
                <a:lnTo>
                  <a:pt x="577850" y="353580"/>
                </a:lnTo>
                <a:lnTo>
                  <a:pt x="0" y="353580"/>
                </a:lnTo>
                <a:lnTo>
                  <a:pt x="0" y="359664"/>
                </a:lnTo>
                <a:lnTo>
                  <a:pt x="577850" y="359664"/>
                </a:lnTo>
                <a:lnTo>
                  <a:pt x="577850" y="353580"/>
                </a:lnTo>
                <a:close/>
              </a:path>
              <a:path w="577850" h="360045">
                <a:moveTo>
                  <a:pt x="577850" y="182880"/>
                </a:moveTo>
                <a:lnTo>
                  <a:pt x="571754" y="182880"/>
                </a:lnTo>
                <a:lnTo>
                  <a:pt x="571754" y="353568"/>
                </a:lnTo>
                <a:lnTo>
                  <a:pt x="577850" y="353568"/>
                </a:lnTo>
                <a:lnTo>
                  <a:pt x="57785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7264" y="5520054"/>
            <a:ext cx="36925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diyagramının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dilindeki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yazımı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0" dirty="0">
                <a:latin typeface="Calibri"/>
                <a:cs typeface="Calibri"/>
              </a:rPr>
              <a:t> gibidir.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5829934"/>
            <a:ext cx="5755640" cy="392493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950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class </a:t>
            </a:r>
            <a:r>
              <a:rPr sz="850" spc="-1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endParaRPr sz="850">
              <a:latin typeface="Consolas"/>
              <a:cs typeface="Consolas"/>
            </a:endParaRPr>
          </a:p>
          <a:p>
            <a:pPr marL="67945">
              <a:lnSpc>
                <a:spcPts val="994"/>
              </a:lnSpc>
            </a:pPr>
            <a:r>
              <a:rPr sz="850" spc="-50" dirty="0">
                <a:latin typeface="Consolas"/>
                <a:cs typeface="Consolas"/>
              </a:rPr>
              <a:t>{</a:t>
            </a:r>
            <a:endParaRPr sz="850">
              <a:latin typeface="Consolas"/>
              <a:cs typeface="Consolas"/>
            </a:endParaRPr>
          </a:p>
          <a:p>
            <a:pPr marL="306070">
              <a:lnSpc>
                <a:spcPts val="994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public static</a:t>
            </a:r>
            <a:r>
              <a:rPr sz="8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850" spc="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ikiliArama(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8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[]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dizi,</a:t>
            </a:r>
            <a:r>
              <a:rPr sz="850" spc="10" dirty="0"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8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aranan)</a:t>
            </a:r>
            <a:endParaRPr sz="850">
              <a:latin typeface="Consolas"/>
              <a:cs typeface="Consolas"/>
            </a:endParaRPr>
          </a:p>
          <a:p>
            <a:pPr marL="306070">
              <a:lnSpc>
                <a:spcPts val="994"/>
              </a:lnSpc>
            </a:pPr>
            <a:r>
              <a:rPr sz="850" spc="-50" dirty="0">
                <a:latin typeface="Consolas"/>
                <a:cs typeface="Consolas"/>
              </a:rPr>
              <a:t>{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94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850" dirty="0">
                <a:latin typeface="Consolas"/>
                <a:cs typeface="Consolas"/>
              </a:rPr>
              <a:t>ilkIndex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=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spc="-25" dirty="0">
                <a:latin typeface="Consolas"/>
                <a:cs typeface="Consolas"/>
              </a:rPr>
              <a:t>0;</a:t>
            </a:r>
            <a:endParaRPr sz="850">
              <a:latin typeface="Consolas"/>
              <a:cs typeface="Consolas"/>
            </a:endParaRPr>
          </a:p>
          <a:p>
            <a:pPr marL="543560" marR="3362325">
              <a:lnSpc>
                <a:spcPts val="1000"/>
              </a:lnSpc>
              <a:spcBef>
                <a:spcPts val="35"/>
              </a:spcBef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850" dirty="0">
                <a:latin typeface="Consolas"/>
                <a:cs typeface="Consolas"/>
              </a:rPr>
              <a:t>sonIndex = dizi.Length -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spc="-25" dirty="0">
                <a:latin typeface="Consolas"/>
                <a:cs typeface="Consolas"/>
              </a:rPr>
              <a:t>1; 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850" spc="-10" dirty="0">
                <a:latin typeface="Consolas"/>
                <a:cs typeface="Consolas"/>
              </a:rPr>
              <a:t>orta;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50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while </a:t>
            </a:r>
            <a:r>
              <a:rPr sz="850" dirty="0">
                <a:latin typeface="Consolas"/>
                <a:cs typeface="Consolas"/>
              </a:rPr>
              <a:t>(ilkIndex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&lt;=</a:t>
            </a:r>
            <a:r>
              <a:rPr sz="850" spc="-15" dirty="0"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sonIndex)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94"/>
              </a:lnSpc>
            </a:pPr>
            <a:r>
              <a:rPr sz="850" spc="-50" dirty="0">
                <a:latin typeface="Consolas"/>
                <a:cs typeface="Consolas"/>
              </a:rPr>
              <a:t>{</a:t>
            </a:r>
            <a:endParaRPr sz="850">
              <a:latin typeface="Consolas"/>
              <a:cs typeface="Consolas"/>
            </a:endParaRPr>
          </a:p>
          <a:p>
            <a:pPr marL="781685" marR="3006090">
              <a:lnSpc>
                <a:spcPts val="1000"/>
              </a:lnSpc>
              <a:spcBef>
                <a:spcPts val="40"/>
              </a:spcBef>
            </a:pPr>
            <a:r>
              <a:rPr sz="850" dirty="0">
                <a:latin typeface="Consolas"/>
                <a:cs typeface="Consolas"/>
              </a:rPr>
              <a:t>orta = (ilkIndex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+ sonIndex) /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spc="-25" dirty="0">
                <a:latin typeface="Consolas"/>
                <a:cs typeface="Consolas"/>
              </a:rPr>
              <a:t>2; 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8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(dizi[orta]</a:t>
            </a:r>
            <a:r>
              <a:rPr sz="850" spc="-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&gt;</a:t>
            </a:r>
            <a:r>
              <a:rPr sz="850" spc="10" dirty="0"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aranan)</a:t>
            </a:r>
            <a:endParaRPr sz="850">
              <a:latin typeface="Consolas"/>
              <a:cs typeface="Consolas"/>
            </a:endParaRPr>
          </a:p>
          <a:p>
            <a:pPr marR="2520950" algn="ctr">
              <a:lnSpc>
                <a:spcPts val="940"/>
              </a:lnSpc>
            </a:pPr>
            <a:r>
              <a:rPr sz="850" dirty="0">
                <a:latin typeface="Consolas"/>
                <a:cs typeface="Consolas"/>
              </a:rPr>
              <a:t>sonIndex =</a:t>
            </a:r>
            <a:r>
              <a:rPr sz="850" spc="-10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orta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- </a:t>
            </a:r>
            <a:r>
              <a:rPr sz="850" spc="-25" dirty="0">
                <a:latin typeface="Consolas"/>
                <a:cs typeface="Consolas"/>
              </a:rPr>
              <a:t>1;</a:t>
            </a:r>
            <a:endParaRPr sz="850">
              <a:latin typeface="Consolas"/>
              <a:cs typeface="Consolas"/>
            </a:endParaRPr>
          </a:p>
          <a:p>
            <a:pPr marL="781685" marR="3243580" algn="ctr">
              <a:lnSpc>
                <a:spcPts val="1000"/>
              </a:lnSpc>
              <a:spcBef>
                <a:spcPts val="35"/>
              </a:spcBef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8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8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(dizi[orta]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&lt;</a:t>
            </a:r>
            <a:r>
              <a:rPr sz="850" spc="10" dirty="0"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aranan) </a:t>
            </a:r>
            <a:r>
              <a:rPr sz="850" dirty="0">
                <a:latin typeface="Consolas"/>
                <a:cs typeface="Consolas"/>
              </a:rPr>
              <a:t>ilkIndex =</a:t>
            </a:r>
            <a:r>
              <a:rPr sz="850" spc="-10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orta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+ </a:t>
            </a:r>
            <a:r>
              <a:rPr sz="850" spc="-25" dirty="0">
                <a:latin typeface="Consolas"/>
                <a:cs typeface="Consolas"/>
              </a:rPr>
              <a:t>1;</a:t>
            </a:r>
            <a:endParaRPr sz="850">
              <a:latin typeface="Consolas"/>
              <a:cs typeface="Consolas"/>
            </a:endParaRPr>
          </a:p>
          <a:p>
            <a:pPr marR="3946525" algn="ctr">
              <a:lnSpc>
                <a:spcPts val="950"/>
              </a:lnSpc>
            </a:pPr>
            <a:r>
              <a:rPr sz="8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850">
              <a:latin typeface="Consolas"/>
              <a:cs typeface="Consolas"/>
            </a:endParaRPr>
          </a:p>
          <a:p>
            <a:pPr marR="2996565" algn="ctr">
              <a:lnSpc>
                <a:spcPts val="994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return </a:t>
            </a:r>
            <a:r>
              <a:rPr sz="850" spc="-10" dirty="0">
                <a:latin typeface="Consolas"/>
                <a:cs typeface="Consolas"/>
              </a:rPr>
              <a:t>orta;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94"/>
              </a:lnSpc>
            </a:pPr>
            <a:r>
              <a:rPr sz="850" spc="-50" dirty="0">
                <a:latin typeface="Consolas"/>
                <a:cs typeface="Consolas"/>
              </a:rPr>
              <a:t>}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94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85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-</a:t>
            </a:r>
            <a:r>
              <a:rPr sz="850" spc="-25" dirty="0">
                <a:latin typeface="Consolas"/>
                <a:cs typeface="Consolas"/>
              </a:rPr>
              <a:t>1;</a:t>
            </a:r>
            <a:endParaRPr sz="850">
              <a:latin typeface="Consolas"/>
              <a:cs typeface="Consolas"/>
            </a:endParaRPr>
          </a:p>
          <a:p>
            <a:pPr marL="306070">
              <a:lnSpc>
                <a:spcPts val="994"/>
              </a:lnSpc>
            </a:pPr>
            <a:r>
              <a:rPr sz="850" spc="-50" dirty="0">
                <a:latin typeface="Consolas"/>
                <a:cs typeface="Consolas"/>
              </a:rPr>
              <a:t>}</a:t>
            </a:r>
            <a:endParaRPr sz="850">
              <a:latin typeface="Consolas"/>
              <a:cs typeface="Consolas"/>
            </a:endParaRPr>
          </a:p>
          <a:p>
            <a:pPr marL="306070">
              <a:lnSpc>
                <a:spcPts val="994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static void</a:t>
            </a:r>
            <a:r>
              <a:rPr sz="850" spc="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Main(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850" dirty="0">
                <a:latin typeface="Consolas"/>
                <a:cs typeface="Consolas"/>
              </a:rPr>
              <a:t>[]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args)</a:t>
            </a:r>
            <a:endParaRPr sz="850">
              <a:latin typeface="Consolas"/>
              <a:cs typeface="Consolas"/>
            </a:endParaRPr>
          </a:p>
          <a:p>
            <a:pPr marL="306070">
              <a:lnSpc>
                <a:spcPts val="994"/>
              </a:lnSpc>
            </a:pPr>
            <a:r>
              <a:rPr sz="850" spc="-50" dirty="0">
                <a:latin typeface="Consolas"/>
                <a:cs typeface="Consolas"/>
              </a:rPr>
              <a:t>{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94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85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[]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liste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= {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2,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5, 6,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8,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10, 15,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17,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18,</a:t>
            </a:r>
            <a:r>
              <a:rPr sz="850" spc="-1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20,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25,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30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spc="-25" dirty="0">
                <a:latin typeface="Consolas"/>
                <a:cs typeface="Consolas"/>
              </a:rPr>
              <a:t>};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94"/>
              </a:lnSpc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850" dirty="0">
                <a:latin typeface="Consolas"/>
                <a:cs typeface="Consolas"/>
              </a:rPr>
              <a:t>aranan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=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spc="-25" dirty="0">
                <a:latin typeface="Consolas"/>
                <a:cs typeface="Consolas"/>
              </a:rPr>
              <a:t>25;</a:t>
            </a:r>
            <a:endParaRPr sz="850">
              <a:latin typeface="Consolas"/>
              <a:cs typeface="Consolas"/>
            </a:endParaRPr>
          </a:p>
          <a:p>
            <a:pPr marL="543560" marR="2946400">
              <a:lnSpc>
                <a:spcPts val="1000"/>
              </a:lnSpc>
              <a:spcBef>
                <a:spcPts val="40"/>
              </a:spcBef>
            </a:pP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850" dirty="0">
                <a:latin typeface="Consolas"/>
                <a:cs typeface="Consolas"/>
              </a:rPr>
              <a:t>index = ikiliArama(liste, </a:t>
            </a:r>
            <a:r>
              <a:rPr sz="850" spc="-10" dirty="0">
                <a:latin typeface="Consolas"/>
                <a:cs typeface="Consolas"/>
              </a:rPr>
              <a:t>aranan); </a:t>
            </a:r>
            <a:r>
              <a:rPr sz="8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850" spc="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(index</a:t>
            </a:r>
            <a:r>
              <a:rPr sz="850" spc="5" dirty="0"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==</a:t>
            </a:r>
            <a:r>
              <a:rPr sz="850" spc="10" dirty="0"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-</a:t>
            </a:r>
            <a:r>
              <a:rPr sz="850" spc="-25" dirty="0">
                <a:latin typeface="Consolas"/>
                <a:cs typeface="Consolas"/>
              </a:rPr>
              <a:t>1)</a:t>
            </a:r>
            <a:endParaRPr sz="850">
              <a:latin typeface="Consolas"/>
              <a:cs typeface="Consolas"/>
            </a:endParaRPr>
          </a:p>
          <a:p>
            <a:pPr marL="781685">
              <a:lnSpc>
                <a:spcPts val="950"/>
              </a:lnSpc>
            </a:pPr>
            <a:r>
              <a:rPr sz="8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850" dirty="0">
                <a:latin typeface="Consolas"/>
                <a:cs typeface="Consolas"/>
              </a:rPr>
              <a:t>.WriteLine(</a:t>
            </a:r>
            <a:r>
              <a:rPr sz="850" dirty="0">
                <a:solidFill>
                  <a:srgbClr val="A21515"/>
                </a:solidFill>
                <a:latin typeface="Consolas"/>
                <a:cs typeface="Consolas"/>
              </a:rPr>
              <a:t>"Aranan</a:t>
            </a:r>
            <a:r>
              <a:rPr sz="8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A21515"/>
                </a:solidFill>
                <a:latin typeface="Consolas"/>
                <a:cs typeface="Consolas"/>
              </a:rPr>
              <a:t>değer</a:t>
            </a:r>
            <a:r>
              <a:rPr sz="850" spc="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850" spc="-10" dirty="0">
                <a:solidFill>
                  <a:srgbClr val="A21515"/>
                </a:solidFill>
                <a:latin typeface="Consolas"/>
                <a:cs typeface="Consolas"/>
              </a:rPr>
              <a:t>bulunamadı!"</a:t>
            </a:r>
            <a:r>
              <a:rPr sz="850" spc="-10" dirty="0">
                <a:latin typeface="Consolas"/>
                <a:cs typeface="Consolas"/>
              </a:rPr>
              <a:t>);</a:t>
            </a:r>
            <a:endParaRPr sz="850">
              <a:latin typeface="Consolas"/>
              <a:cs typeface="Consolas"/>
            </a:endParaRPr>
          </a:p>
          <a:p>
            <a:pPr marL="543560">
              <a:lnSpc>
                <a:spcPts val="990"/>
              </a:lnSpc>
            </a:pPr>
            <a:r>
              <a:rPr sz="85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850">
              <a:latin typeface="Consolas"/>
              <a:cs typeface="Consolas"/>
            </a:endParaRPr>
          </a:p>
          <a:p>
            <a:pPr marL="543560" marR="1402080" indent="237490">
              <a:lnSpc>
                <a:spcPts val="1000"/>
              </a:lnSpc>
              <a:spcBef>
                <a:spcPts val="30"/>
              </a:spcBef>
            </a:pPr>
            <a:r>
              <a:rPr sz="85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850" dirty="0">
                <a:latin typeface="Consolas"/>
                <a:cs typeface="Consolas"/>
              </a:rPr>
              <a:t>.WriteLine(</a:t>
            </a:r>
            <a:r>
              <a:rPr sz="850" dirty="0">
                <a:solidFill>
                  <a:srgbClr val="A21515"/>
                </a:solidFill>
                <a:latin typeface="Consolas"/>
                <a:cs typeface="Consolas"/>
              </a:rPr>
              <a:t>"Aranan</a:t>
            </a:r>
            <a:r>
              <a:rPr sz="850" spc="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A21515"/>
                </a:solidFill>
                <a:latin typeface="Consolas"/>
                <a:cs typeface="Consolas"/>
              </a:rPr>
              <a:t>elemanın</a:t>
            </a:r>
            <a:r>
              <a:rPr sz="8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A21515"/>
                </a:solidFill>
                <a:latin typeface="Consolas"/>
                <a:cs typeface="Consolas"/>
              </a:rPr>
              <a:t>index</a:t>
            </a:r>
            <a:r>
              <a:rPr sz="85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A21515"/>
                </a:solidFill>
                <a:latin typeface="Consolas"/>
                <a:cs typeface="Consolas"/>
              </a:rPr>
              <a:t>değeri:</a:t>
            </a:r>
            <a:r>
              <a:rPr sz="850" spc="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85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850" spc="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850" dirty="0">
                <a:latin typeface="Consolas"/>
                <a:cs typeface="Consolas"/>
              </a:rPr>
              <a:t>+</a:t>
            </a:r>
            <a:r>
              <a:rPr sz="850" spc="10" dirty="0">
                <a:latin typeface="Consolas"/>
                <a:cs typeface="Consolas"/>
              </a:rPr>
              <a:t> </a:t>
            </a:r>
            <a:r>
              <a:rPr sz="850" spc="-10" dirty="0">
                <a:latin typeface="Consolas"/>
                <a:cs typeface="Consolas"/>
              </a:rPr>
              <a:t>index); </a:t>
            </a:r>
            <a:r>
              <a:rPr sz="8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850" spc="-10" dirty="0">
                <a:latin typeface="Consolas"/>
                <a:cs typeface="Consolas"/>
              </a:rPr>
              <a:t>.ReadKey();</a:t>
            </a:r>
            <a:endParaRPr sz="850">
              <a:latin typeface="Consolas"/>
              <a:cs typeface="Consolas"/>
            </a:endParaRPr>
          </a:p>
          <a:p>
            <a:pPr marL="306070">
              <a:lnSpc>
                <a:spcPts val="950"/>
              </a:lnSpc>
            </a:pPr>
            <a:r>
              <a:rPr sz="850" spc="-50" dirty="0">
                <a:latin typeface="Consolas"/>
                <a:cs typeface="Consolas"/>
              </a:rPr>
              <a:t>}</a:t>
            </a:r>
            <a:endParaRPr sz="850">
              <a:latin typeface="Consolas"/>
              <a:cs typeface="Consolas"/>
            </a:endParaRPr>
          </a:p>
          <a:p>
            <a:pPr marL="67945">
              <a:lnSpc>
                <a:spcPts val="1010"/>
              </a:lnSpc>
            </a:pPr>
            <a:r>
              <a:rPr sz="850" spc="-50" dirty="0">
                <a:latin typeface="Consolas"/>
                <a:cs typeface="Consolas"/>
              </a:rPr>
              <a:t>}</a:t>
            </a:r>
            <a:endParaRPr sz="85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646" y="999439"/>
            <a:ext cx="4553020" cy="436359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57160"/>
            <a:ext cx="5788660" cy="60007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3.</a:t>
            </a:r>
            <a:r>
              <a:rPr sz="1200" spc="155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Ara</a:t>
            </a:r>
            <a:r>
              <a:rPr sz="120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Değer</a:t>
            </a:r>
            <a:r>
              <a:rPr sz="120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Arama</a:t>
            </a:r>
            <a:r>
              <a:rPr sz="120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(Interpolation</a:t>
            </a:r>
            <a:r>
              <a:rPr sz="120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Search)</a:t>
            </a:r>
            <a:r>
              <a:rPr sz="120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Algoritması</a:t>
            </a:r>
            <a:endParaRPr sz="12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Sıralı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listelerde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arama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yapan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algoritmadır.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İkili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arama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algoritması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mantıkta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çalışır.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Tek </a:t>
            </a:r>
            <a:r>
              <a:rPr sz="1100" dirty="0">
                <a:latin typeface="Calibri"/>
                <a:cs typeface="Calibri"/>
              </a:rPr>
              <a:t>farkı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orta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formüle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göre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hesaplanmasıdır.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1385" y="1665477"/>
            <a:ext cx="10788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orta</a:t>
            </a:r>
            <a:r>
              <a:rPr sz="1100" spc="3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3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ilkIndex</a:t>
            </a:r>
            <a:r>
              <a:rPr sz="1100" spc="-20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+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5330" y="1560321"/>
            <a:ext cx="3094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(</a:t>
            </a:r>
            <a:r>
              <a:rPr sz="1650" baseline="2525" dirty="0">
                <a:latin typeface="Cambria Math"/>
                <a:cs typeface="Cambria Math"/>
              </a:rPr>
              <a:t>(</a:t>
            </a:r>
            <a:r>
              <a:rPr sz="1100" dirty="0">
                <a:latin typeface="Cambria Math"/>
                <a:cs typeface="Cambria Math"/>
              </a:rPr>
              <a:t>aranan −</a:t>
            </a:r>
            <a:r>
              <a:rPr sz="1100" spc="10" dirty="0">
                <a:latin typeface="Cambria Math"/>
                <a:cs typeface="Cambria Math"/>
              </a:rPr>
              <a:t> </a:t>
            </a:r>
            <a:r>
              <a:rPr sz="1100" spc="-10" dirty="0">
                <a:latin typeface="Cambria Math"/>
                <a:cs typeface="Cambria Math"/>
              </a:rPr>
              <a:t>dizi</a:t>
            </a:r>
            <a:r>
              <a:rPr sz="1650" spc="-15" baseline="2525" dirty="0">
                <a:latin typeface="Cambria Math"/>
                <a:cs typeface="Cambria Math"/>
              </a:rPr>
              <a:t>[</a:t>
            </a:r>
            <a:r>
              <a:rPr sz="1100" spc="-10" dirty="0">
                <a:latin typeface="Cambria Math"/>
                <a:cs typeface="Cambria Math"/>
              </a:rPr>
              <a:t>ilkIndex</a:t>
            </a:r>
            <a:r>
              <a:rPr sz="1650" spc="-15" baseline="2525" dirty="0">
                <a:latin typeface="Cambria Math"/>
                <a:cs typeface="Cambria Math"/>
              </a:rPr>
              <a:t>])</a:t>
            </a:r>
            <a:r>
              <a:rPr sz="1650" spc="15" baseline="252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* </a:t>
            </a:r>
            <a:r>
              <a:rPr sz="1650" spc="-15" baseline="2525" dirty="0">
                <a:latin typeface="Cambria Math"/>
                <a:cs typeface="Cambria Math"/>
              </a:rPr>
              <a:t>(</a:t>
            </a:r>
            <a:r>
              <a:rPr sz="1100" spc="-10" dirty="0">
                <a:latin typeface="Cambria Math"/>
                <a:cs typeface="Cambria Math"/>
              </a:rPr>
              <a:t>sonIndex </a:t>
            </a:r>
            <a:r>
              <a:rPr sz="1100" dirty="0">
                <a:latin typeface="Cambria Math"/>
                <a:cs typeface="Cambria Math"/>
              </a:rPr>
              <a:t>−</a:t>
            </a:r>
            <a:r>
              <a:rPr sz="1100" spc="15" dirty="0">
                <a:latin typeface="Cambria Math"/>
                <a:cs typeface="Cambria Math"/>
              </a:rPr>
              <a:t> </a:t>
            </a:r>
            <a:r>
              <a:rPr sz="1100" spc="-10" dirty="0">
                <a:latin typeface="Cambria Math"/>
                <a:cs typeface="Cambria Math"/>
              </a:rPr>
              <a:t>ilkIndex</a:t>
            </a:r>
            <a:r>
              <a:rPr sz="1650" spc="-15" baseline="2525" dirty="0">
                <a:latin typeface="Cambria Math"/>
                <a:cs typeface="Cambria Math"/>
              </a:rPr>
              <a:t>)</a:t>
            </a:r>
            <a:r>
              <a:rPr sz="1100" spc="-10" dirty="0">
                <a:latin typeface="Cambria Math"/>
                <a:cs typeface="Cambria Math"/>
              </a:rPr>
              <a:t>)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3115" y="1759966"/>
            <a:ext cx="19767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mbria Math"/>
                <a:cs typeface="Cambria Math"/>
              </a:rPr>
              <a:t>(dizi</a:t>
            </a:r>
            <a:r>
              <a:rPr sz="1650" spc="-15" baseline="2525" dirty="0">
                <a:latin typeface="Cambria Math"/>
                <a:cs typeface="Cambria Math"/>
              </a:rPr>
              <a:t>[</a:t>
            </a:r>
            <a:r>
              <a:rPr sz="1100" spc="-10" dirty="0">
                <a:latin typeface="Cambria Math"/>
                <a:cs typeface="Cambria Math"/>
              </a:rPr>
              <a:t>sonIndex</a:t>
            </a:r>
            <a:r>
              <a:rPr sz="1650" spc="-15" baseline="2525" dirty="0">
                <a:latin typeface="Cambria Math"/>
                <a:cs typeface="Cambria Math"/>
              </a:rPr>
              <a:t>]</a:t>
            </a:r>
            <a:r>
              <a:rPr sz="1650" spc="44" baseline="252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−</a:t>
            </a:r>
            <a:r>
              <a:rPr sz="1100" spc="35" dirty="0">
                <a:latin typeface="Cambria Math"/>
                <a:cs typeface="Cambria Math"/>
              </a:rPr>
              <a:t> </a:t>
            </a:r>
            <a:r>
              <a:rPr sz="1100" spc="-10" dirty="0">
                <a:latin typeface="Cambria Math"/>
                <a:cs typeface="Cambria Math"/>
              </a:rPr>
              <a:t>dizi</a:t>
            </a:r>
            <a:r>
              <a:rPr sz="1650" spc="-15" baseline="2525" dirty="0">
                <a:latin typeface="Cambria Math"/>
                <a:cs typeface="Cambria Math"/>
              </a:rPr>
              <a:t>[</a:t>
            </a:r>
            <a:r>
              <a:rPr sz="1100" spc="-10" dirty="0">
                <a:latin typeface="Cambria Math"/>
                <a:cs typeface="Cambria Math"/>
              </a:rPr>
              <a:t>ilkIndex</a:t>
            </a:r>
            <a:r>
              <a:rPr sz="1650" spc="-15" baseline="2525" dirty="0">
                <a:latin typeface="Cambria Math"/>
                <a:cs typeface="Cambria Math"/>
              </a:rPr>
              <a:t>]</a:t>
            </a:r>
            <a:r>
              <a:rPr sz="1100" spc="-10" dirty="0">
                <a:latin typeface="Cambria Math"/>
                <a:cs typeface="Cambria Math"/>
              </a:rPr>
              <a:t>)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88030" y="1774189"/>
            <a:ext cx="3068955" cy="9525"/>
          </a:xfrm>
          <a:custGeom>
            <a:avLst/>
            <a:gdLst/>
            <a:ahLst/>
            <a:cxnLst/>
            <a:rect l="l" t="t" r="r" b="b"/>
            <a:pathLst>
              <a:path w="3068954" h="9525">
                <a:moveTo>
                  <a:pt x="3068447" y="0"/>
                </a:moveTo>
                <a:lnTo>
                  <a:pt x="0" y="0"/>
                </a:lnTo>
                <a:lnTo>
                  <a:pt x="0" y="9144"/>
                </a:lnTo>
                <a:lnTo>
                  <a:pt x="3068447" y="9144"/>
                </a:lnTo>
                <a:lnTo>
                  <a:pt x="30684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6764" y="2038857"/>
            <a:ext cx="47472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Örnek: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{2,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8,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11,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15,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18,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22,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25,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30}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listesi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aranan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değerimiz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22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olsun.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1350" y="2911093"/>
            <a:ext cx="3596004" cy="360045"/>
            <a:chOff x="1911350" y="2911093"/>
            <a:chExt cx="3596004" cy="360045"/>
          </a:xfrm>
        </p:grpSpPr>
        <p:sp>
          <p:nvSpPr>
            <p:cNvPr id="9" name="object 9"/>
            <p:cNvSpPr/>
            <p:nvPr/>
          </p:nvSpPr>
          <p:spPr>
            <a:xfrm>
              <a:off x="4354957" y="2917189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1939" y="1706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1350" y="2911093"/>
              <a:ext cx="3596004" cy="177165"/>
            </a:xfrm>
            <a:custGeom>
              <a:avLst/>
              <a:gdLst/>
              <a:ahLst/>
              <a:cxnLst/>
              <a:rect l="l" t="t" r="r" b="b"/>
              <a:pathLst>
                <a:path w="3596004" h="177164">
                  <a:moveTo>
                    <a:pt x="707428" y="0"/>
                  </a:move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96" y="176784"/>
                  </a:lnTo>
                  <a:lnTo>
                    <a:pt x="6096" y="6096"/>
                  </a:lnTo>
                  <a:lnTo>
                    <a:pt x="707428" y="6096"/>
                  </a:lnTo>
                  <a:lnTo>
                    <a:pt x="707428" y="0"/>
                  </a:lnTo>
                  <a:close/>
                </a:path>
                <a:path w="3596004" h="177164">
                  <a:moveTo>
                    <a:pt x="1001636" y="0"/>
                  </a:moveTo>
                  <a:lnTo>
                    <a:pt x="995553" y="0"/>
                  </a:lnTo>
                  <a:lnTo>
                    <a:pt x="713613" y="0"/>
                  </a:lnTo>
                  <a:lnTo>
                    <a:pt x="707517" y="0"/>
                  </a:lnTo>
                  <a:lnTo>
                    <a:pt x="707517" y="6096"/>
                  </a:lnTo>
                  <a:lnTo>
                    <a:pt x="707517" y="176784"/>
                  </a:lnTo>
                  <a:lnTo>
                    <a:pt x="713613" y="176784"/>
                  </a:lnTo>
                  <a:lnTo>
                    <a:pt x="713613" y="6096"/>
                  </a:lnTo>
                  <a:lnTo>
                    <a:pt x="995553" y="6096"/>
                  </a:lnTo>
                  <a:lnTo>
                    <a:pt x="995553" y="176784"/>
                  </a:lnTo>
                  <a:lnTo>
                    <a:pt x="1001636" y="176784"/>
                  </a:lnTo>
                  <a:lnTo>
                    <a:pt x="1001636" y="6096"/>
                  </a:lnTo>
                  <a:lnTo>
                    <a:pt x="1001636" y="0"/>
                  </a:lnTo>
                  <a:close/>
                </a:path>
                <a:path w="3596004" h="177164">
                  <a:moveTo>
                    <a:pt x="1289672" y="0"/>
                  </a:moveTo>
                  <a:lnTo>
                    <a:pt x="1283589" y="0"/>
                  </a:lnTo>
                  <a:lnTo>
                    <a:pt x="1001649" y="0"/>
                  </a:lnTo>
                  <a:lnTo>
                    <a:pt x="1001649" y="6096"/>
                  </a:lnTo>
                  <a:lnTo>
                    <a:pt x="1283589" y="6096"/>
                  </a:lnTo>
                  <a:lnTo>
                    <a:pt x="1283589" y="176784"/>
                  </a:lnTo>
                  <a:lnTo>
                    <a:pt x="1289672" y="176784"/>
                  </a:lnTo>
                  <a:lnTo>
                    <a:pt x="1289672" y="6096"/>
                  </a:lnTo>
                  <a:lnTo>
                    <a:pt x="1289672" y="0"/>
                  </a:lnTo>
                  <a:close/>
                </a:path>
                <a:path w="3596004" h="177164">
                  <a:moveTo>
                    <a:pt x="1577708" y="0"/>
                  </a:moveTo>
                  <a:lnTo>
                    <a:pt x="1571625" y="0"/>
                  </a:lnTo>
                  <a:lnTo>
                    <a:pt x="1289685" y="0"/>
                  </a:lnTo>
                  <a:lnTo>
                    <a:pt x="1289685" y="6096"/>
                  </a:lnTo>
                  <a:lnTo>
                    <a:pt x="1571625" y="6096"/>
                  </a:lnTo>
                  <a:lnTo>
                    <a:pt x="1571625" y="176784"/>
                  </a:lnTo>
                  <a:lnTo>
                    <a:pt x="1577708" y="176784"/>
                  </a:lnTo>
                  <a:lnTo>
                    <a:pt x="1577708" y="6096"/>
                  </a:lnTo>
                  <a:lnTo>
                    <a:pt x="1577708" y="0"/>
                  </a:lnTo>
                  <a:close/>
                </a:path>
                <a:path w="3596004" h="177164">
                  <a:moveTo>
                    <a:pt x="1865744" y="0"/>
                  </a:moveTo>
                  <a:lnTo>
                    <a:pt x="1859661" y="0"/>
                  </a:lnTo>
                  <a:lnTo>
                    <a:pt x="1577721" y="0"/>
                  </a:lnTo>
                  <a:lnTo>
                    <a:pt x="1577721" y="6096"/>
                  </a:lnTo>
                  <a:lnTo>
                    <a:pt x="1859661" y="6096"/>
                  </a:lnTo>
                  <a:lnTo>
                    <a:pt x="1859661" y="176784"/>
                  </a:lnTo>
                  <a:lnTo>
                    <a:pt x="1865744" y="176784"/>
                  </a:lnTo>
                  <a:lnTo>
                    <a:pt x="1865744" y="6096"/>
                  </a:lnTo>
                  <a:lnTo>
                    <a:pt x="1865744" y="0"/>
                  </a:lnTo>
                  <a:close/>
                </a:path>
                <a:path w="3596004" h="177164">
                  <a:moveTo>
                    <a:pt x="2443607" y="0"/>
                  </a:moveTo>
                  <a:lnTo>
                    <a:pt x="2443607" y="0"/>
                  </a:lnTo>
                  <a:lnTo>
                    <a:pt x="1865757" y="0"/>
                  </a:lnTo>
                  <a:lnTo>
                    <a:pt x="1865757" y="6096"/>
                  </a:lnTo>
                  <a:lnTo>
                    <a:pt x="2147697" y="6096"/>
                  </a:lnTo>
                  <a:lnTo>
                    <a:pt x="2147697" y="176784"/>
                  </a:lnTo>
                  <a:lnTo>
                    <a:pt x="2153793" y="176784"/>
                  </a:lnTo>
                  <a:lnTo>
                    <a:pt x="2153793" y="6096"/>
                  </a:lnTo>
                  <a:lnTo>
                    <a:pt x="2437511" y="6096"/>
                  </a:lnTo>
                  <a:lnTo>
                    <a:pt x="2437511" y="176784"/>
                  </a:lnTo>
                  <a:lnTo>
                    <a:pt x="2443607" y="176784"/>
                  </a:lnTo>
                  <a:lnTo>
                    <a:pt x="2443607" y="6096"/>
                  </a:lnTo>
                  <a:lnTo>
                    <a:pt x="2443607" y="0"/>
                  </a:lnTo>
                  <a:close/>
                </a:path>
                <a:path w="3596004" h="177164">
                  <a:moveTo>
                    <a:pt x="3013570" y="0"/>
                  </a:moveTo>
                  <a:lnTo>
                    <a:pt x="2731643" y="0"/>
                  </a:lnTo>
                  <a:lnTo>
                    <a:pt x="2731643" y="6096"/>
                  </a:lnTo>
                  <a:lnTo>
                    <a:pt x="3013570" y="6096"/>
                  </a:lnTo>
                  <a:lnTo>
                    <a:pt x="3013570" y="0"/>
                  </a:lnTo>
                  <a:close/>
                </a:path>
                <a:path w="3596004" h="177164">
                  <a:moveTo>
                    <a:pt x="3301606" y="0"/>
                  </a:moveTo>
                  <a:lnTo>
                    <a:pt x="3019679" y="0"/>
                  </a:lnTo>
                  <a:lnTo>
                    <a:pt x="3013583" y="0"/>
                  </a:lnTo>
                  <a:lnTo>
                    <a:pt x="3013583" y="6096"/>
                  </a:lnTo>
                  <a:lnTo>
                    <a:pt x="3013583" y="176784"/>
                  </a:lnTo>
                  <a:lnTo>
                    <a:pt x="3019679" y="176784"/>
                  </a:lnTo>
                  <a:lnTo>
                    <a:pt x="3019679" y="6096"/>
                  </a:lnTo>
                  <a:lnTo>
                    <a:pt x="3301606" y="6096"/>
                  </a:lnTo>
                  <a:lnTo>
                    <a:pt x="3301606" y="0"/>
                  </a:lnTo>
                  <a:close/>
                </a:path>
                <a:path w="3596004" h="177164">
                  <a:moveTo>
                    <a:pt x="3307702" y="0"/>
                  </a:moveTo>
                  <a:lnTo>
                    <a:pt x="3301619" y="0"/>
                  </a:lnTo>
                  <a:lnTo>
                    <a:pt x="3301619" y="6096"/>
                  </a:lnTo>
                  <a:lnTo>
                    <a:pt x="3301619" y="176784"/>
                  </a:lnTo>
                  <a:lnTo>
                    <a:pt x="3307702" y="176784"/>
                  </a:lnTo>
                  <a:lnTo>
                    <a:pt x="3307702" y="6096"/>
                  </a:lnTo>
                  <a:lnTo>
                    <a:pt x="3307702" y="0"/>
                  </a:lnTo>
                  <a:close/>
                </a:path>
                <a:path w="3596004" h="177164">
                  <a:moveTo>
                    <a:pt x="3595738" y="0"/>
                  </a:moveTo>
                  <a:lnTo>
                    <a:pt x="3589655" y="0"/>
                  </a:lnTo>
                  <a:lnTo>
                    <a:pt x="3307715" y="0"/>
                  </a:lnTo>
                  <a:lnTo>
                    <a:pt x="3307715" y="6096"/>
                  </a:lnTo>
                  <a:lnTo>
                    <a:pt x="3589655" y="6096"/>
                  </a:lnTo>
                  <a:lnTo>
                    <a:pt x="3589655" y="176784"/>
                  </a:lnTo>
                  <a:lnTo>
                    <a:pt x="3595738" y="176784"/>
                  </a:lnTo>
                  <a:lnTo>
                    <a:pt x="3595738" y="6096"/>
                  </a:lnTo>
                  <a:lnTo>
                    <a:pt x="3595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4962" y="3093973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1939" y="1706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54957" y="3093973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1939" y="1706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0589" y="3093973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281939" y="1706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1350" y="3087877"/>
              <a:ext cx="3596004" cy="182880"/>
            </a:xfrm>
            <a:custGeom>
              <a:avLst/>
              <a:gdLst/>
              <a:ahLst/>
              <a:cxnLst/>
              <a:rect l="l" t="t" r="r" b="b"/>
              <a:pathLst>
                <a:path w="3596004" h="182879">
                  <a:moveTo>
                    <a:pt x="707428" y="0"/>
                  </a:move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0" y="182880"/>
                  </a:lnTo>
                  <a:lnTo>
                    <a:pt x="6096" y="182880"/>
                  </a:lnTo>
                  <a:lnTo>
                    <a:pt x="707428" y="182880"/>
                  </a:lnTo>
                  <a:lnTo>
                    <a:pt x="707428" y="176784"/>
                  </a:lnTo>
                  <a:lnTo>
                    <a:pt x="6096" y="176784"/>
                  </a:lnTo>
                  <a:lnTo>
                    <a:pt x="6096" y="6096"/>
                  </a:lnTo>
                  <a:lnTo>
                    <a:pt x="707428" y="6096"/>
                  </a:lnTo>
                  <a:lnTo>
                    <a:pt x="707428" y="0"/>
                  </a:lnTo>
                  <a:close/>
                </a:path>
                <a:path w="3596004" h="182879">
                  <a:moveTo>
                    <a:pt x="1001636" y="0"/>
                  </a:moveTo>
                  <a:lnTo>
                    <a:pt x="995553" y="0"/>
                  </a:lnTo>
                  <a:lnTo>
                    <a:pt x="713613" y="0"/>
                  </a:lnTo>
                  <a:lnTo>
                    <a:pt x="707517" y="0"/>
                  </a:lnTo>
                  <a:lnTo>
                    <a:pt x="707517" y="6096"/>
                  </a:lnTo>
                  <a:lnTo>
                    <a:pt x="707517" y="176784"/>
                  </a:lnTo>
                  <a:lnTo>
                    <a:pt x="707517" y="182880"/>
                  </a:lnTo>
                  <a:lnTo>
                    <a:pt x="713613" y="182880"/>
                  </a:lnTo>
                  <a:lnTo>
                    <a:pt x="713613" y="176784"/>
                  </a:lnTo>
                  <a:lnTo>
                    <a:pt x="713613" y="6096"/>
                  </a:lnTo>
                  <a:lnTo>
                    <a:pt x="995553" y="6096"/>
                  </a:lnTo>
                  <a:lnTo>
                    <a:pt x="1001636" y="6096"/>
                  </a:lnTo>
                  <a:lnTo>
                    <a:pt x="1001636" y="0"/>
                  </a:lnTo>
                  <a:close/>
                </a:path>
                <a:path w="3596004" h="182879">
                  <a:moveTo>
                    <a:pt x="1289672" y="0"/>
                  </a:moveTo>
                  <a:lnTo>
                    <a:pt x="1283589" y="0"/>
                  </a:lnTo>
                  <a:lnTo>
                    <a:pt x="1001649" y="0"/>
                  </a:lnTo>
                  <a:lnTo>
                    <a:pt x="1001649" y="6096"/>
                  </a:lnTo>
                  <a:lnTo>
                    <a:pt x="1283589" y="6096"/>
                  </a:lnTo>
                  <a:lnTo>
                    <a:pt x="1283589" y="176784"/>
                  </a:lnTo>
                  <a:lnTo>
                    <a:pt x="1001649" y="176784"/>
                  </a:lnTo>
                  <a:lnTo>
                    <a:pt x="1001649" y="182880"/>
                  </a:lnTo>
                  <a:lnTo>
                    <a:pt x="1283589" y="182880"/>
                  </a:lnTo>
                  <a:lnTo>
                    <a:pt x="1289672" y="182880"/>
                  </a:lnTo>
                  <a:lnTo>
                    <a:pt x="1289672" y="176784"/>
                  </a:lnTo>
                  <a:lnTo>
                    <a:pt x="1289672" y="6096"/>
                  </a:lnTo>
                  <a:lnTo>
                    <a:pt x="1289672" y="0"/>
                  </a:lnTo>
                  <a:close/>
                </a:path>
                <a:path w="3596004" h="182879">
                  <a:moveTo>
                    <a:pt x="1577708" y="0"/>
                  </a:moveTo>
                  <a:lnTo>
                    <a:pt x="1571625" y="0"/>
                  </a:lnTo>
                  <a:lnTo>
                    <a:pt x="1289685" y="0"/>
                  </a:lnTo>
                  <a:lnTo>
                    <a:pt x="1289685" y="6096"/>
                  </a:lnTo>
                  <a:lnTo>
                    <a:pt x="1571625" y="6096"/>
                  </a:lnTo>
                  <a:lnTo>
                    <a:pt x="1571625" y="176784"/>
                  </a:lnTo>
                  <a:lnTo>
                    <a:pt x="1289685" y="176784"/>
                  </a:lnTo>
                  <a:lnTo>
                    <a:pt x="1289685" y="182880"/>
                  </a:lnTo>
                  <a:lnTo>
                    <a:pt x="1571625" y="182880"/>
                  </a:lnTo>
                  <a:lnTo>
                    <a:pt x="1577708" y="182880"/>
                  </a:lnTo>
                  <a:lnTo>
                    <a:pt x="1577708" y="176784"/>
                  </a:lnTo>
                  <a:lnTo>
                    <a:pt x="1577708" y="6096"/>
                  </a:lnTo>
                  <a:lnTo>
                    <a:pt x="1577708" y="0"/>
                  </a:lnTo>
                  <a:close/>
                </a:path>
                <a:path w="3596004" h="182879">
                  <a:moveTo>
                    <a:pt x="1865744" y="0"/>
                  </a:moveTo>
                  <a:lnTo>
                    <a:pt x="1859661" y="0"/>
                  </a:lnTo>
                  <a:lnTo>
                    <a:pt x="1577721" y="0"/>
                  </a:lnTo>
                  <a:lnTo>
                    <a:pt x="1577721" y="6096"/>
                  </a:lnTo>
                  <a:lnTo>
                    <a:pt x="1859661" y="6096"/>
                  </a:lnTo>
                  <a:lnTo>
                    <a:pt x="1859661" y="176784"/>
                  </a:lnTo>
                  <a:lnTo>
                    <a:pt x="1577721" y="176784"/>
                  </a:lnTo>
                  <a:lnTo>
                    <a:pt x="1577721" y="182880"/>
                  </a:lnTo>
                  <a:lnTo>
                    <a:pt x="1859661" y="182880"/>
                  </a:lnTo>
                  <a:lnTo>
                    <a:pt x="1865744" y="182880"/>
                  </a:lnTo>
                  <a:lnTo>
                    <a:pt x="1865744" y="176784"/>
                  </a:lnTo>
                  <a:lnTo>
                    <a:pt x="1865744" y="6096"/>
                  </a:lnTo>
                  <a:lnTo>
                    <a:pt x="1865744" y="0"/>
                  </a:lnTo>
                  <a:close/>
                </a:path>
                <a:path w="3596004" h="182879">
                  <a:moveTo>
                    <a:pt x="2443607" y="0"/>
                  </a:moveTo>
                  <a:lnTo>
                    <a:pt x="2437549" y="0"/>
                  </a:lnTo>
                  <a:lnTo>
                    <a:pt x="2437511" y="6096"/>
                  </a:lnTo>
                  <a:lnTo>
                    <a:pt x="2437511" y="176784"/>
                  </a:lnTo>
                  <a:lnTo>
                    <a:pt x="2153793" y="176784"/>
                  </a:lnTo>
                  <a:lnTo>
                    <a:pt x="2153793" y="6096"/>
                  </a:lnTo>
                  <a:lnTo>
                    <a:pt x="2437511" y="6096"/>
                  </a:lnTo>
                  <a:lnTo>
                    <a:pt x="2437511" y="0"/>
                  </a:lnTo>
                  <a:lnTo>
                    <a:pt x="2153793" y="0"/>
                  </a:lnTo>
                  <a:lnTo>
                    <a:pt x="2147697" y="0"/>
                  </a:lnTo>
                  <a:lnTo>
                    <a:pt x="1865757" y="0"/>
                  </a:lnTo>
                  <a:lnTo>
                    <a:pt x="1865757" y="6096"/>
                  </a:lnTo>
                  <a:lnTo>
                    <a:pt x="2147697" y="6096"/>
                  </a:lnTo>
                  <a:lnTo>
                    <a:pt x="2147697" y="176784"/>
                  </a:lnTo>
                  <a:lnTo>
                    <a:pt x="1865757" y="176784"/>
                  </a:lnTo>
                  <a:lnTo>
                    <a:pt x="1865757" y="182880"/>
                  </a:lnTo>
                  <a:lnTo>
                    <a:pt x="2443607" y="182880"/>
                  </a:lnTo>
                  <a:lnTo>
                    <a:pt x="2443607" y="176784"/>
                  </a:lnTo>
                  <a:lnTo>
                    <a:pt x="2443607" y="6096"/>
                  </a:lnTo>
                  <a:lnTo>
                    <a:pt x="2443607" y="0"/>
                  </a:lnTo>
                  <a:close/>
                </a:path>
                <a:path w="3596004" h="182879">
                  <a:moveTo>
                    <a:pt x="3013570" y="176784"/>
                  </a:moveTo>
                  <a:lnTo>
                    <a:pt x="2731643" y="176784"/>
                  </a:lnTo>
                  <a:lnTo>
                    <a:pt x="2731643" y="182880"/>
                  </a:lnTo>
                  <a:lnTo>
                    <a:pt x="3013570" y="182880"/>
                  </a:lnTo>
                  <a:lnTo>
                    <a:pt x="3013570" y="176784"/>
                  </a:lnTo>
                  <a:close/>
                </a:path>
                <a:path w="3596004" h="182879">
                  <a:moveTo>
                    <a:pt x="3013570" y="0"/>
                  </a:moveTo>
                  <a:lnTo>
                    <a:pt x="2731643" y="0"/>
                  </a:lnTo>
                  <a:lnTo>
                    <a:pt x="2731643" y="6096"/>
                  </a:lnTo>
                  <a:lnTo>
                    <a:pt x="3013570" y="6096"/>
                  </a:lnTo>
                  <a:lnTo>
                    <a:pt x="3013570" y="0"/>
                  </a:lnTo>
                  <a:close/>
                </a:path>
                <a:path w="3596004" h="182879">
                  <a:moveTo>
                    <a:pt x="3301606" y="0"/>
                  </a:moveTo>
                  <a:lnTo>
                    <a:pt x="3019679" y="0"/>
                  </a:lnTo>
                  <a:lnTo>
                    <a:pt x="3013583" y="0"/>
                  </a:lnTo>
                  <a:lnTo>
                    <a:pt x="3013583" y="6096"/>
                  </a:lnTo>
                  <a:lnTo>
                    <a:pt x="3013583" y="176784"/>
                  </a:lnTo>
                  <a:lnTo>
                    <a:pt x="3013583" y="182880"/>
                  </a:lnTo>
                  <a:lnTo>
                    <a:pt x="3019679" y="182880"/>
                  </a:lnTo>
                  <a:lnTo>
                    <a:pt x="3301606" y="182880"/>
                  </a:lnTo>
                  <a:lnTo>
                    <a:pt x="3301606" y="176784"/>
                  </a:lnTo>
                  <a:lnTo>
                    <a:pt x="3019679" y="176784"/>
                  </a:lnTo>
                  <a:lnTo>
                    <a:pt x="3019679" y="6096"/>
                  </a:lnTo>
                  <a:lnTo>
                    <a:pt x="3301606" y="6096"/>
                  </a:lnTo>
                  <a:lnTo>
                    <a:pt x="3301606" y="0"/>
                  </a:lnTo>
                  <a:close/>
                </a:path>
                <a:path w="3596004" h="182879">
                  <a:moveTo>
                    <a:pt x="3307702" y="0"/>
                  </a:moveTo>
                  <a:lnTo>
                    <a:pt x="3301619" y="0"/>
                  </a:lnTo>
                  <a:lnTo>
                    <a:pt x="3301619" y="6096"/>
                  </a:lnTo>
                  <a:lnTo>
                    <a:pt x="3301619" y="176784"/>
                  </a:lnTo>
                  <a:lnTo>
                    <a:pt x="3301619" y="182880"/>
                  </a:lnTo>
                  <a:lnTo>
                    <a:pt x="3307702" y="182880"/>
                  </a:lnTo>
                  <a:lnTo>
                    <a:pt x="3307702" y="176784"/>
                  </a:lnTo>
                  <a:lnTo>
                    <a:pt x="3307702" y="6096"/>
                  </a:lnTo>
                  <a:lnTo>
                    <a:pt x="3307702" y="0"/>
                  </a:lnTo>
                  <a:close/>
                </a:path>
                <a:path w="3596004" h="182879">
                  <a:moveTo>
                    <a:pt x="3595738" y="0"/>
                  </a:moveTo>
                  <a:lnTo>
                    <a:pt x="3589655" y="0"/>
                  </a:lnTo>
                  <a:lnTo>
                    <a:pt x="3307715" y="0"/>
                  </a:lnTo>
                  <a:lnTo>
                    <a:pt x="3307715" y="6096"/>
                  </a:lnTo>
                  <a:lnTo>
                    <a:pt x="3589655" y="6096"/>
                  </a:lnTo>
                  <a:lnTo>
                    <a:pt x="3595738" y="6096"/>
                  </a:lnTo>
                  <a:lnTo>
                    <a:pt x="3595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519682" y="3514673"/>
            <a:ext cx="980440" cy="8255"/>
          </a:xfrm>
          <a:custGeom>
            <a:avLst/>
            <a:gdLst/>
            <a:ahLst/>
            <a:cxnLst/>
            <a:rect l="l" t="t" r="r" b="b"/>
            <a:pathLst>
              <a:path w="980439" h="8254">
                <a:moveTo>
                  <a:pt x="980236" y="0"/>
                </a:moveTo>
                <a:lnTo>
                  <a:pt x="0" y="0"/>
                </a:lnTo>
                <a:lnTo>
                  <a:pt x="0" y="7925"/>
                </a:lnTo>
                <a:lnTo>
                  <a:pt x="980236" y="7925"/>
                </a:lnTo>
                <a:lnTo>
                  <a:pt x="980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49347" y="3514673"/>
            <a:ext cx="190500" cy="8255"/>
          </a:xfrm>
          <a:custGeom>
            <a:avLst/>
            <a:gdLst/>
            <a:ahLst/>
            <a:cxnLst/>
            <a:rect l="l" t="t" r="r" b="b"/>
            <a:pathLst>
              <a:path w="190500" h="8254">
                <a:moveTo>
                  <a:pt x="190500" y="0"/>
                </a:moveTo>
                <a:lnTo>
                  <a:pt x="0" y="0"/>
                </a:lnTo>
                <a:lnTo>
                  <a:pt x="0" y="7925"/>
                </a:lnTo>
                <a:lnTo>
                  <a:pt x="190500" y="7925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920619" y="4260214"/>
            <a:ext cx="1577975" cy="360045"/>
            <a:chOff x="2920619" y="4260214"/>
            <a:chExt cx="1577975" cy="360045"/>
          </a:xfrm>
        </p:grpSpPr>
        <p:sp>
          <p:nvSpPr>
            <p:cNvPr id="18" name="object 18"/>
            <p:cNvSpPr/>
            <p:nvPr/>
          </p:nvSpPr>
          <p:spPr>
            <a:xfrm>
              <a:off x="3633851" y="4266310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0619" y="4260214"/>
              <a:ext cx="1577975" cy="177165"/>
            </a:xfrm>
            <a:custGeom>
              <a:avLst/>
              <a:gdLst/>
              <a:ahLst/>
              <a:cxnLst/>
              <a:rect l="l" t="t" r="r" b="b"/>
              <a:pathLst>
                <a:path w="1577975" h="177164">
                  <a:moveTo>
                    <a:pt x="713219" y="0"/>
                  </a:moveTo>
                  <a:lnTo>
                    <a:pt x="707136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76784"/>
                  </a:lnTo>
                  <a:lnTo>
                    <a:pt x="6096" y="176784"/>
                  </a:lnTo>
                  <a:lnTo>
                    <a:pt x="6096" y="6096"/>
                  </a:lnTo>
                  <a:lnTo>
                    <a:pt x="707136" y="6096"/>
                  </a:lnTo>
                  <a:lnTo>
                    <a:pt x="707136" y="176784"/>
                  </a:lnTo>
                  <a:lnTo>
                    <a:pt x="713219" y="176784"/>
                  </a:lnTo>
                  <a:lnTo>
                    <a:pt x="713219" y="6096"/>
                  </a:lnTo>
                  <a:lnTo>
                    <a:pt x="713219" y="0"/>
                  </a:lnTo>
                  <a:close/>
                </a:path>
                <a:path w="1577975" h="177164">
                  <a:moveTo>
                    <a:pt x="1289545" y="0"/>
                  </a:moveTo>
                  <a:lnTo>
                    <a:pt x="1283512" y="0"/>
                  </a:lnTo>
                  <a:lnTo>
                    <a:pt x="1001268" y="0"/>
                  </a:lnTo>
                  <a:lnTo>
                    <a:pt x="1001268" y="6096"/>
                  </a:lnTo>
                  <a:lnTo>
                    <a:pt x="1283462" y="6096"/>
                  </a:lnTo>
                  <a:lnTo>
                    <a:pt x="1283462" y="176784"/>
                  </a:lnTo>
                  <a:lnTo>
                    <a:pt x="1289545" y="176784"/>
                  </a:lnTo>
                  <a:lnTo>
                    <a:pt x="1289545" y="6096"/>
                  </a:lnTo>
                  <a:lnTo>
                    <a:pt x="1289545" y="0"/>
                  </a:lnTo>
                  <a:close/>
                </a:path>
                <a:path w="1577975" h="177164">
                  <a:moveTo>
                    <a:pt x="1577594" y="0"/>
                  </a:moveTo>
                  <a:lnTo>
                    <a:pt x="1571498" y="0"/>
                  </a:lnTo>
                  <a:lnTo>
                    <a:pt x="1289558" y="0"/>
                  </a:lnTo>
                  <a:lnTo>
                    <a:pt x="1289558" y="6096"/>
                  </a:lnTo>
                  <a:lnTo>
                    <a:pt x="1571498" y="6096"/>
                  </a:lnTo>
                  <a:lnTo>
                    <a:pt x="1571498" y="176784"/>
                  </a:lnTo>
                  <a:lnTo>
                    <a:pt x="1577594" y="176784"/>
                  </a:lnTo>
                  <a:lnTo>
                    <a:pt x="1577594" y="6096"/>
                  </a:lnTo>
                  <a:lnTo>
                    <a:pt x="1577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3851" y="4443094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11701" y="4443094"/>
              <a:ext cx="281940" cy="170815"/>
            </a:xfrm>
            <a:custGeom>
              <a:avLst/>
              <a:gdLst/>
              <a:ahLst/>
              <a:cxnLst/>
              <a:rect l="l" t="t" r="r" b="b"/>
              <a:pathLst>
                <a:path w="281939" h="170814">
                  <a:moveTo>
                    <a:pt x="281939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281939" y="17068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A9D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20619" y="4437011"/>
              <a:ext cx="1577975" cy="182880"/>
            </a:xfrm>
            <a:custGeom>
              <a:avLst/>
              <a:gdLst/>
              <a:ahLst/>
              <a:cxnLst/>
              <a:rect l="l" t="t" r="r" b="b"/>
              <a:pathLst>
                <a:path w="1577975" h="182879">
                  <a:moveTo>
                    <a:pt x="713219" y="0"/>
                  </a:moveTo>
                  <a:lnTo>
                    <a:pt x="707136" y="0"/>
                  </a:lnTo>
                  <a:lnTo>
                    <a:pt x="707136" y="6083"/>
                  </a:lnTo>
                  <a:lnTo>
                    <a:pt x="707136" y="176771"/>
                  </a:lnTo>
                  <a:lnTo>
                    <a:pt x="6096" y="176771"/>
                  </a:lnTo>
                  <a:lnTo>
                    <a:pt x="6096" y="6083"/>
                  </a:lnTo>
                  <a:lnTo>
                    <a:pt x="707136" y="6083"/>
                  </a:lnTo>
                  <a:lnTo>
                    <a:pt x="707136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83"/>
                  </a:lnTo>
                  <a:lnTo>
                    <a:pt x="0" y="176771"/>
                  </a:lnTo>
                  <a:lnTo>
                    <a:pt x="0" y="182867"/>
                  </a:lnTo>
                  <a:lnTo>
                    <a:pt x="6096" y="182867"/>
                  </a:lnTo>
                  <a:lnTo>
                    <a:pt x="707136" y="182867"/>
                  </a:lnTo>
                  <a:lnTo>
                    <a:pt x="713219" y="182867"/>
                  </a:lnTo>
                  <a:lnTo>
                    <a:pt x="713219" y="176771"/>
                  </a:lnTo>
                  <a:lnTo>
                    <a:pt x="713219" y="6083"/>
                  </a:lnTo>
                  <a:lnTo>
                    <a:pt x="713219" y="0"/>
                  </a:lnTo>
                  <a:close/>
                </a:path>
                <a:path w="1577975" h="182879">
                  <a:moveTo>
                    <a:pt x="1289545" y="0"/>
                  </a:moveTo>
                  <a:lnTo>
                    <a:pt x="1283512" y="0"/>
                  </a:lnTo>
                  <a:lnTo>
                    <a:pt x="1001268" y="0"/>
                  </a:lnTo>
                  <a:lnTo>
                    <a:pt x="1001268" y="6083"/>
                  </a:lnTo>
                  <a:lnTo>
                    <a:pt x="1283462" y="6083"/>
                  </a:lnTo>
                  <a:lnTo>
                    <a:pt x="1283462" y="176771"/>
                  </a:lnTo>
                  <a:lnTo>
                    <a:pt x="1001268" y="176771"/>
                  </a:lnTo>
                  <a:lnTo>
                    <a:pt x="1001268" y="182867"/>
                  </a:lnTo>
                  <a:lnTo>
                    <a:pt x="1283462" y="182867"/>
                  </a:lnTo>
                  <a:lnTo>
                    <a:pt x="1289545" y="182867"/>
                  </a:lnTo>
                  <a:lnTo>
                    <a:pt x="1289545" y="176771"/>
                  </a:lnTo>
                  <a:lnTo>
                    <a:pt x="1289545" y="6083"/>
                  </a:lnTo>
                  <a:lnTo>
                    <a:pt x="1289545" y="0"/>
                  </a:lnTo>
                  <a:close/>
                </a:path>
                <a:path w="1577975" h="182879">
                  <a:moveTo>
                    <a:pt x="1577594" y="0"/>
                  </a:moveTo>
                  <a:lnTo>
                    <a:pt x="1571498" y="0"/>
                  </a:lnTo>
                  <a:lnTo>
                    <a:pt x="1289558" y="0"/>
                  </a:lnTo>
                  <a:lnTo>
                    <a:pt x="1289558" y="6083"/>
                  </a:lnTo>
                  <a:lnTo>
                    <a:pt x="1571498" y="6083"/>
                  </a:lnTo>
                  <a:lnTo>
                    <a:pt x="1577594" y="6083"/>
                  </a:lnTo>
                  <a:lnTo>
                    <a:pt x="1577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632457" y="4857622"/>
            <a:ext cx="1043305" cy="7620"/>
          </a:xfrm>
          <a:custGeom>
            <a:avLst/>
            <a:gdLst/>
            <a:ahLst/>
            <a:cxnLst/>
            <a:rect l="l" t="t" r="r" b="b"/>
            <a:pathLst>
              <a:path w="1043305" h="7620">
                <a:moveTo>
                  <a:pt x="1042720" y="0"/>
                </a:moveTo>
                <a:lnTo>
                  <a:pt x="0" y="0"/>
                </a:lnTo>
                <a:lnTo>
                  <a:pt x="0" y="7620"/>
                </a:lnTo>
                <a:lnTo>
                  <a:pt x="1042720" y="7620"/>
                </a:lnTo>
                <a:lnTo>
                  <a:pt x="1042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24251" y="4857622"/>
            <a:ext cx="64135" cy="7620"/>
          </a:xfrm>
          <a:custGeom>
            <a:avLst/>
            <a:gdLst/>
            <a:ahLst/>
            <a:cxnLst/>
            <a:rect l="l" t="t" r="r" b="b"/>
            <a:pathLst>
              <a:path w="64135" h="7620">
                <a:moveTo>
                  <a:pt x="64007" y="0"/>
                </a:moveTo>
                <a:lnTo>
                  <a:pt x="0" y="0"/>
                </a:lnTo>
                <a:lnTo>
                  <a:pt x="0" y="7620"/>
                </a:lnTo>
                <a:lnTo>
                  <a:pt x="64007" y="7620"/>
                </a:lnTo>
                <a:lnTo>
                  <a:pt x="64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817168" y="2345689"/>
          <a:ext cx="5756910" cy="2685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6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22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  <a:tabLst>
                          <a:tab pos="746760" algn="l"/>
                          <a:tab pos="1035050" algn="l"/>
                          <a:tab pos="1322705" algn="l"/>
                          <a:tab pos="1612265" algn="l"/>
                          <a:tab pos="1865630" algn="l"/>
                          <a:tab pos="2153285" algn="l"/>
                          <a:tab pos="2441575" algn="l"/>
                          <a:tab pos="2729865" algn="l"/>
                          <a:tab pos="3017520" algn="l"/>
                          <a:tab pos="3307079" algn="l"/>
                        </a:tabLst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Elemanlar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18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30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7145" algn="ct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732790" algn="l"/>
                          <a:tab pos="1021080" algn="l"/>
                          <a:tab pos="1309370" algn="l"/>
                          <a:tab pos="1598930" algn="l"/>
                          <a:tab pos="1886585" algn="l"/>
                          <a:tab pos="2174875" algn="l"/>
                          <a:tab pos="2463165" algn="l"/>
                          <a:tab pos="2750820" algn="l"/>
                          <a:tab pos="3039110" algn="l"/>
                          <a:tab pos="3328670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No.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688340">
                        <a:lnSpc>
                          <a:spcPts val="1215"/>
                        </a:lnSpc>
                        <a:tabLst>
                          <a:tab pos="1818005" algn="l"/>
                          <a:tab pos="3227705" algn="l"/>
                        </a:tabLst>
                      </a:pPr>
                      <a:r>
                        <a:rPr sz="900" dirty="0">
                          <a:latin typeface="Cambria Math"/>
                          <a:cs typeface="Cambria Math"/>
                        </a:rPr>
                        <a:t>(</a:t>
                      </a:r>
                      <a:r>
                        <a:rPr sz="1350" baseline="3086" dirty="0">
                          <a:latin typeface="Cambria Math"/>
                          <a:cs typeface="Cambria Math"/>
                        </a:rPr>
                        <a:t>(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22</a:t>
                      </a:r>
                      <a:r>
                        <a:rPr sz="90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9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350" baseline="3086" dirty="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sz="1350" spc="-30" baseline="308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900" spc="-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(9</a:t>
                      </a:r>
                      <a:r>
                        <a:rPr sz="90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9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spc="-25" dirty="0">
                          <a:latin typeface="Cambria Math"/>
                          <a:cs typeface="Cambria Math"/>
                        </a:rPr>
                        <a:t>0))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900" spc="-25" dirty="0">
                          <a:latin typeface="Cambria Math"/>
                          <a:cs typeface="Cambria Math"/>
                        </a:rPr>
                        <a:t>180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18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≠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18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listenin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1735"/>
                        </a:lnSpc>
                        <a:tabLst>
                          <a:tab pos="967105" algn="l"/>
                          <a:tab pos="1700530" algn="l"/>
                          <a:tab pos="2778125" algn="l"/>
                          <a:tab pos="3685540" algn="l"/>
                        </a:tabLst>
                      </a:pP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orta</a:t>
                      </a:r>
                      <a:r>
                        <a:rPr sz="1350" spc="67" baseline="4938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50" spc="359" baseline="4938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1350" spc="-15" baseline="4938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-75" baseline="49382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350" baseline="12345" dirty="0">
                          <a:latin typeface="Cambria Math"/>
                          <a:cs typeface="Cambria Math"/>
                        </a:rPr>
                        <a:t>(30</a:t>
                      </a:r>
                      <a:r>
                        <a:rPr sz="1350" spc="-30" baseline="123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12345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350" spc="-37" baseline="12345" dirty="0">
                          <a:latin typeface="Cambria Math"/>
                          <a:cs typeface="Cambria Math"/>
                        </a:rPr>
                        <a:t>2)</a:t>
                      </a:r>
                      <a:r>
                        <a:rPr sz="1350" baseline="12345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50" spc="434" baseline="4938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12345" dirty="0">
                          <a:latin typeface="Cambria Math"/>
                          <a:cs typeface="Cambria Math"/>
                        </a:rPr>
                        <a:t>28</a:t>
                      </a:r>
                      <a:r>
                        <a:rPr sz="1350" spc="412" baseline="123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50" spc="67" baseline="4938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6,42</a:t>
                      </a:r>
                      <a:r>
                        <a:rPr sz="1350" spc="60" baseline="4938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≅</a:t>
                      </a:r>
                      <a:r>
                        <a:rPr sz="1350" spc="67" baseline="49382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-75" baseline="49382" dirty="0"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350" baseline="49382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sağ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tarafı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dikkate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alınır.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263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Geçiş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Aranan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sayı: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22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711200" algn="l"/>
                          <a:tab pos="999490" algn="l"/>
                          <a:tab pos="1287780" algn="l"/>
                        </a:tabLst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Elemanlar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30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R="18415" algn="ct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732790" algn="l"/>
                          <a:tab pos="1020444" algn="l"/>
                          <a:tab pos="1308735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No.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801370">
                        <a:lnSpc>
                          <a:spcPts val="910"/>
                        </a:lnSpc>
                        <a:spcBef>
                          <a:spcPts val="190"/>
                        </a:spcBef>
                        <a:tabLst>
                          <a:tab pos="2193290" algn="l"/>
                        </a:tabLst>
                      </a:pPr>
                      <a:r>
                        <a:rPr sz="900" dirty="0">
                          <a:latin typeface="Cambria Math"/>
                          <a:cs typeface="Cambria Math"/>
                        </a:rPr>
                        <a:t>(</a:t>
                      </a:r>
                      <a:r>
                        <a:rPr sz="1350" baseline="3086" dirty="0">
                          <a:latin typeface="Cambria Math"/>
                          <a:cs typeface="Cambria Math"/>
                        </a:rPr>
                        <a:t>(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22</a:t>
                      </a:r>
                      <a:r>
                        <a:rPr sz="90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9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22</a:t>
                      </a:r>
                      <a:r>
                        <a:rPr sz="1350" baseline="3086" dirty="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sz="1350" spc="-30" baseline="308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900" spc="-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(9</a:t>
                      </a:r>
                      <a:r>
                        <a:rPr sz="90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9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00" spc="-25" dirty="0">
                          <a:latin typeface="Cambria Math"/>
                          <a:cs typeface="Cambria Math"/>
                        </a:rPr>
                        <a:t>7))</a:t>
                      </a:r>
                      <a:r>
                        <a:rPr sz="9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9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900">
                        <a:latin typeface="Cambria Math"/>
                        <a:cs typeface="Cambria Math"/>
                      </a:endParaRPr>
                    </a:p>
                    <a:p>
                      <a:pPr marL="225425">
                        <a:lnSpc>
                          <a:spcPts val="1750"/>
                        </a:lnSpc>
                        <a:tabLst>
                          <a:tab pos="1081405" algn="l"/>
                          <a:tab pos="1875789" algn="l"/>
                          <a:tab pos="2778125" algn="l"/>
                          <a:tab pos="3206750" algn="l"/>
                        </a:tabLst>
                      </a:pP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orta</a:t>
                      </a:r>
                      <a:r>
                        <a:rPr sz="1350" spc="67" baseline="4629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50" spc="359" baseline="4629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7</a:t>
                      </a:r>
                      <a:r>
                        <a:rPr sz="1350" spc="-15" baseline="4629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-75" baseline="46296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350" baseline="9259" dirty="0">
                          <a:latin typeface="Cambria Math"/>
                          <a:cs typeface="Cambria Math"/>
                        </a:rPr>
                        <a:t>(30</a:t>
                      </a:r>
                      <a:r>
                        <a:rPr sz="1350" spc="-37" baseline="9259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9259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350" spc="-15" baseline="9259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-37" baseline="9259" dirty="0">
                          <a:latin typeface="Cambria Math"/>
                          <a:cs typeface="Cambria Math"/>
                        </a:rPr>
                        <a:t>22)</a:t>
                      </a:r>
                      <a:r>
                        <a:rPr sz="1350" baseline="9259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50" spc="60" baseline="4629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7</a:t>
                      </a:r>
                      <a:r>
                        <a:rPr sz="1350" spc="-15" baseline="4629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+ </a:t>
                      </a:r>
                      <a:r>
                        <a:rPr sz="1350" baseline="9259" dirty="0">
                          <a:latin typeface="Cambria Math"/>
                          <a:cs typeface="Cambria Math"/>
                        </a:rPr>
                        <a:t>8</a:t>
                      </a:r>
                      <a:r>
                        <a:rPr sz="1350" spc="75" baseline="9259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350" spc="44" baseline="4629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-75" baseline="46296" dirty="0"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350" baseline="46296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1600" spc="-50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20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22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olduğu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için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algoritma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sonlanır.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1077264" y="5155818"/>
            <a:ext cx="33254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Yukarıda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bahsettiğimiz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dökelim.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2569" y="5542527"/>
            <a:ext cx="4629369" cy="4211312"/>
          </a:xfrm>
          <a:prstGeom prst="rect">
            <a:avLst/>
          </a:prstGeom>
        </p:spPr>
      </p:pic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914398" y="2914141"/>
          <a:ext cx="3585843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6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923667" y="4263262"/>
          <a:ext cx="1572260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A9D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2624963" y="3093973"/>
            <a:ext cx="288290" cy="177165"/>
          </a:xfrm>
          <a:custGeom>
            <a:avLst/>
            <a:gdLst/>
            <a:ahLst/>
            <a:cxnLst/>
            <a:rect l="l" t="t" r="r" b="b"/>
            <a:pathLst>
              <a:path w="288289" h="177164">
                <a:moveTo>
                  <a:pt x="288023" y="0"/>
                </a:moveTo>
                <a:lnTo>
                  <a:pt x="281940" y="0"/>
                </a:lnTo>
                <a:lnTo>
                  <a:pt x="281940" y="170688"/>
                </a:lnTo>
                <a:lnTo>
                  <a:pt x="0" y="170688"/>
                </a:lnTo>
                <a:lnTo>
                  <a:pt x="0" y="176784"/>
                </a:lnTo>
                <a:lnTo>
                  <a:pt x="281940" y="176784"/>
                </a:lnTo>
                <a:lnTo>
                  <a:pt x="288023" y="176784"/>
                </a:lnTo>
                <a:lnTo>
                  <a:pt x="288023" y="170688"/>
                </a:lnTo>
                <a:lnTo>
                  <a:pt x="288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354957" y="2911093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288036" y="0"/>
                </a:moveTo>
                <a:lnTo>
                  <a:pt x="281940" y="0"/>
                </a:lnTo>
                <a:lnTo>
                  <a:pt x="0" y="0"/>
                </a:lnTo>
                <a:lnTo>
                  <a:pt x="0" y="6096"/>
                </a:lnTo>
                <a:lnTo>
                  <a:pt x="281940" y="6096"/>
                </a:lnTo>
                <a:lnTo>
                  <a:pt x="281940" y="176784"/>
                </a:lnTo>
                <a:lnTo>
                  <a:pt x="0" y="176784"/>
                </a:lnTo>
                <a:lnTo>
                  <a:pt x="0" y="182880"/>
                </a:lnTo>
                <a:lnTo>
                  <a:pt x="281940" y="182880"/>
                </a:lnTo>
                <a:lnTo>
                  <a:pt x="281940" y="353568"/>
                </a:lnTo>
                <a:lnTo>
                  <a:pt x="0" y="353568"/>
                </a:lnTo>
                <a:lnTo>
                  <a:pt x="0" y="359664"/>
                </a:lnTo>
                <a:lnTo>
                  <a:pt x="281940" y="359664"/>
                </a:lnTo>
                <a:lnTo>
                  <a:pt x="288036" y="359664"/>
                </a:lnTo>
                <a:lnTo>
                  <a:pt x="288036" y="353568"/>
                </a:lnTo>
                <a:lnTo>
                  <a:pt x="288036" y="182880"/>
                </a:lnTo>
                <a:lnTo>
                  <a:pt x="288036" y="176784"/>
                </a:lnTo>
                <a:lnTo>
                  <a:pt x="288036" y="6096"/>
                </a:lnTo>
                <a:lnTo>
                  <a:pt x="28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19065" y="3093973"/>
            <a:ext cx="288290" cy="177165"/>
          </a:xfrm>
          <a:custGeom>
            <a:avLst/>
            <a:gdLst/>
            <a:ahLst/>
            <a:cxnLst/>
            <a:rect l="l" t="t" r="r" b="b"/>
            <a:pathLst>
              <a:path w="288289" h="177164">
                <a:moveTo>
                  <a:pt x="288023" y="0"/>
                </a:moveTo>
                <a:lnTo>
                  <a:pt x="281940" y="0"/>
                </a:lnTo>
                <a:lnTo>
                  <a:pt x="281940" y="170688"/>
                </a:lnTo>
                <a:lnTo>
                  <a:pt x="0" y="170688"/>
                </a:lnTo>
                <a:lnTo>
                  <a:pt x="0" y="176784"/>
                </a:lnTo>
                <a:lnTo>
                  <a:pt x="281940" y="176784"/>
                </a:lnTo>
                <a:lnTo>
                  <a:pt x="288023" y="176784"/>
                </a:lnTo>
                <a:lnTo>
                  <a:pt x="288023" y="170688"/>
                </a:lnTo>
                <a:lnTo>
                  <a:pt x="288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33851" y="4260214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288036" y="176796"/>
                </a:moveTo>
                <a:lnTo>
                  <a:pt x="281940" y="176796"/>
                </a:lnTo>
                <a:lnTo>
                  <a:pt x="0" y="176796"/>
                </a:lnTo>
                <a:lnTo>
                  <a:pt x="0" y="182880"/>
                </a:lnTo>
                <a:lnTo>
                  <a:pt x="281940" y="182880"/>
                </a:lnTo>
                <a:lnTo>
                  <a:pt x="281940" y="353568"/>
                </a:lnTo>
                <a:lnTo>
                  <a:pt x="0" y="353568"/>
                </a:lnTo>
                <a:lnTo>
                  <a:pt x="0" y="359664"/>
                </a:lnTo>
                <a:lnTo>
                  <a:pt x="281940" y="359664"/>
                </a:lnTo>
                <a:lnTo>
                  <a:pt x="288036" y="359664"/>
                </a:lnTo>
                <a:lnTo>
                  <a:pt x="288036" y="353568"/>
                </a:lnTo>
                <a:lnTo>
                  <a:pt x="288036" y="182880"/>
                </a:lnTo>
                <a:lnTo>
                  <a:pt x="288036" y="176796"/>
                </a:lnTo>
                <a:close/>
              </a:path>
              <a:path w="288289" h="360045">
                <a:moveTo>
                  <a:pt x="288036" y="0"/>
                </a:moveTo>
                <a:lnTo>
                  <a:pt x="281940" y="0"/>
                </a:lnTo>
                <a:lnTo>
                  <a:pt x="0" y="0"/>
                </a:lnTo>
                <a:lnTo>
                  <a:pt x="0" y="6096"/>
                </a:lnTo>
                <a:lnTo>
                  <a:pt x="281940" y="6096"/>
                </a:lnTo>
                <a:lnTo>
                  <a:pt x="281940" y="176784"/>
                </a:lnTo>
                <a:lnTo>
                  <a:pt x="288036" y="176784"/>
                </a:lnTo>
                <a:lnTo>
                  <a:pt x="288036" y="6096"/>
                </a:lnTo>
                <a:lnTo>
                  <a:pt x="28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10177" y="4443094"/>
            <a:ext cx="288290" cy="177165"/>
          </a:xfrm>
          <a:custGeom>
            <a:avLst/>
            <a:gdLst/>
            <a:ahLst/>
            <a:cxnLst/>
            <a:rect l="l" t="t" r="r" b="b"/>
            <a:pathLst>
              <a:path w="288289" h="177164">
                <a:moveTo>
                  <a:pt x="288036" y="0"/>
                </a:moveTo>
                <a:lnTo>
                  <a:pt x="281940" y="0"/>
                </a:lnTo>
                <a:lnTo>
                  <a:pt x="281940" y="170688"/>
                </a:lnTo>
                <a:lnTo>
                  <a:pt x="0" y="170688"/>
                </a:lnTo>
                <a:lnTo>
                  <a:pt x="0" y="176784"/>
                </a:lnTo>
                <a:lnTo>
                  <a:pt x="281940" y="176784"/>
                </a:lnTo>
                <a:lnTo>
                  <a:pt x="288036" y="176784"/>
                </a:lnTo>
                <a:lnTo>
                  <a:pt x="288036" y="170688"/>
                </a:lnTo>
                <a:lnTo>
                  <a:pt x="28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776" y="877315"/>
            <a:ext cx="369125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akış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diyagramının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dilindeki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yazımı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aşağıdaki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gibidir.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1188973"/>
            <a:ext cx="5755640" cy="455739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Program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aradaDegerArama(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[]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dizi,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aranan)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ilkIndex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0;</a:t>
            </a:r>
            <a:endParaRPr sz="900">
              <a:latin typeface="Consolas"/>
              <a:cs typeface="Consolas"/>
            </a:endParaRPr>
          </a:p>
          <a:p>
            <a:pPr marL="569595" marR="3226435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sonIndex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dizi.Length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1;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orta;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9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(ilkIndex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&lt;=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sonIndex)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67945" marR="461645" indent="752475">
              <a:lnSpc>
                <a:spcPts val="1060"/>
              </a:lnSpc>
              <a:spcBef>
                <a:spcPts val="35"/>
              </a:spcBef>
            </a:pPr>
            <a:r>
              <a:rPr sz="900" dirty="0">
                <a:latin typeface="Consolas"/>
                <a:cs typeface="Consolas"/>
              </a:rPr>
              <a:t>orta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ilkIndex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((aranan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dizi[ilkIndex])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*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(sonIndex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ilkIndex))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50" dirty="0">
                <a:latin typeface="Consolas"/>
                <a:cs typeface="Consolas"/>
              </a:rPr>
              <a:t>/ </a:t>
            </a:r>
            <a:r>
              <a:rPr sz="900" spc="-10" dirty="0">
                <a:latin typeface="Consolas"/>
                <a:cs typeface="Consolas"/>
              </a:rPr>
              <a:t>(dizi[sonIndex]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dizi[ilkIndex]);</a:t>
            </a:r>
            <a:endParaRPr sz="900">
              <a:latin typeface="Consolas"/>
              <a:cs typeface="Consolas"/>
            </a:endParaRPr>
          </a:p>
          <a:p>
            <a:pPr marL="821055">
              <a:lnSpc>
                <a:spcPts val="101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(orta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&gt;=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dizi.Length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||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orta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&lt;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0)</a:t>
            </a:r>
            <a:endParaRPr sz="900">
              <a:latin typeface="Consolas"/>
              <a:cs typeface="Consolas"/>
            </a:endParaRPr>
          </a:p>
          <a:p>
            <a:pPr marL="107251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-</a:t>
            </a:r>
            <a:r>
              <a:rPr sz="900" spc="-25" dirty="0">
                <a:latin typeface="Consolas"/>
                <a:cs typeface="Consolas"/>
              </a:rPr>
              <a:t>1;</a:t>
            </a:r>
            <a:endParaRPr sz="900">
              <a:latin typeface="Consolas"/>
              <a:cs typeface="Consolas"/>
            </a:endParaRPr>
          </a:p>
          <a:p>
            <a:pPr marL="1072515" marR="3103245" indent="-251460">
              <a:lnSpc>
                <a:spcPts val="1040"/>
              </a:lnSpc>
              <a:spcBef>
                <a:spcPts val="5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9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(dizi[orta]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&gt;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aranan) </a:t>
            </a:r>
            <a:r>
              <a:rPr sz="900" dirty="0">
                <a:latin typeface="Consolas"/>
                <a:cs typeface="Consolas"/>
              </a:rPr>
              <a:t>sonIndex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orta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1;</a:t>
            </a:r>
            <a:endParaRPr sz="900">
              <a:latin typeface="Consolas"/>
              <a:cs typeface="Consolas"/>
            </a:endParaRPr>
          </a:p>
          <a:p>
            <a:pPr marL="1072515" marR="3103245" indent="-251460">
              <a:lnSpc>
                <a:spcPts val="1060"/>
              </a:lnSpc>
              <a:spcBef>
                <a:spcPts val="5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9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(dizi[orta]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&lt;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aranan) </a:t>
            </a:r>
            <a:r>
              <a:rPr sz="900" dirty="0">
                <a:latin typeface="Consolas"/>
                <a:cs typeface="Consolas"/>
              </a:rPr>
              <a:t>ilkIndex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orta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1;</a:t>
            </a:r>
            <a:endParaRPr sz="900">
              <a:latin typeface="Consolas"/>
              <a:cs typeface="Consolas"/>
            </a:endParaRPr>
          </a:p>
          <a:p>
            <a:pPr marL="821055">
              <a:lnSpc>
                <a:spcPts val="1010"/>
              </a:lnSpc>
            </a:pP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00">
              <a:latin typeface="Consolas"/>
              <a:cs typeface="Consolas"/>
            </a:endParaRPr>
          </a:p>
          <a:p>
            <a:pPr marL="107251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orta;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25" dirty="0">
                <a:latin typeface="Consolas"/>
                <a:cs typeface="Consolas"/>
              </a:rPr>
              <a:t>1;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5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Main(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00" spc="-10" dirty="0">
                <a:latin typeface="Consolas"/>
                <a:cs typeface="Consolas"/>
              </a:rPr>
              <a:t>[]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args)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55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[]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liste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2,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3,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5,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8,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11,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15,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18,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22,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25,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30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};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aranan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22;</a:t>
            </a:r>
            <a:endParaRPr sz="900">
              <a:latin typeface="Consolas"/>
              <a:cs typeface="Consolas"/>
            </a:endParaRPr>
          </a:p>
          <a:p>
            <a:pPr marL="569595" marR="2473960">
              <a:lnSpc>
                <a:spcPts val="1060"/>
              </a:lnSpc>
              <a:spcBef>
                <a:spcPts val="4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9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index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aradaDegerArama(liste,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aranan);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(index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==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25" dirty="0">
                <a:latin typeface="Consolas"/>
                <a:cs typeface="Consolas"/>
              </a:rPr>
              <a:t>1)</a:t>
            </a:r>
            <a:endParaRPr sz="900">
              <a:latin typeface="Consolas"/>
              <a:cs typeface="Consolas"/>
            </a:endParaRPr>
          </a:p>
          <a:p>
            <a:pPr marL="821055">
              <a:lnSpc>
                <a:spcPts val="1010"/>
              </a:lnSpc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"Aranan</a:t>
            </a:r>
            <a:r>
              <a:rPr sz="9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değer</a:t>
            </a:r>
            <a:r>
              <a:rPr sz="9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bulunamadı!"</a:t>
            </a:r>
            <a:r>
              <a:rPr sz="900" spc="-10" dirty="0">
                <a:latin typeface="Consolas"/>
                <a:cs typeface="Consolas"/>
              </a:rPr>
              <a:t>);</a:t>
            </a:r>
            <a:endParaRPr sz="900">
              <a:latin typeface="Consolas"/>
              <a:cs typeface="Consolas"/>
            </a:endParaRPr>
          </a:p>
          <a:p>
            <a:pPr marL="569595">
              <a:lnSpc>
                <a:spcPts val="1055"/>
              </a:lnSpc>
            </a:pP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900">
              <a:latin typeface="Consolas"/>
              <a:cs typeface="Consolas"/>
            </a:endParaRPr>
          </a:p>
          <a:p>
            <a:pPr marL="569595" marR="1153160" indent="251460">
              <a:lnSpc>
                <a:spcPts val="1040"/>
              </a:lnSpc>
              <a:spcBef>
                <a:spcPts val="55"/>
              </a:spcBef>
            </a:pP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.WriteLine(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"Aranan</a:t>
            </a:r>
            <a:r>
              <a:rPr sz="9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elemanın</a:t>
            </a:r>
            <a:r>
              <a:rPr sz="9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index</a:t>
            </a:r>
            <a:r>
              <a:rPr sz="9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değeri:</a:t>
            </a:r>
            <a:r>
              <a:rPr sz="900" spc="-5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5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index); </a:t>
            </a:r>
            <a:r>
              <a:rPr sz="90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00" spc="-10" dirty="0">
                <a:latin typeface="Consolas"/>
                <a:cs typeface="Consolas"/>
              </a:rPr>
              <a:t>.ReadKey();</a:t>
            </a:r>
            <a:endParaRPr sz="900">
              <a:latin typeface="Consolas"/>
              <a:cs typeface="Consolas"/>
            </a:endParaRPr>
          </a:p>
          <a:p>
            <a:pPr marL="318135">
              <a:lnSpc>
                <a:spcPts val="1019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67945">
              <a:lnSpc>
                <a:spcPts val="1070"/>
              </a:lnSpc>
            </a:pPr>
            <a:r>
              <a:rPr sz="900" spc="-5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5847969"/>
            <a:ext cx="5788660" cy="3820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C#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Dilinde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Dosyalama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İşlemleri</a:t>
            </a:r>
            <a:endParaRPr sz="1300">
              <a:latin typeface="Calibri Light"/>
              <a:cs typeface="Calibri Light"/>
            </a:endParaRPr>
          </a:p>
          <a:p>
            <a:pPr marL="12700" marR="5080" indent="95885" algn="just">
              <a:lnSpc>
                <a:spcPct val="109800"/>
              </a:lnSpc>
              <a:spcBef>
                <a:spcPts val="944"/>
              </a:spcBef>
            </a:pPr>
            <a:r>
              <a:rPr sz="1100" dirty="0">
                <a:latin typeface="Calibri"/>
                <a:cs typeface="Calibri"/>
              </a:rPr>
              <a:t>Dosyalama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işlemleri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işlemleri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olmak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üzere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ikiye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ayrılır.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</a:t>
            </a:r>
            <a:r>
              <a:rPr sz="1100" spc="3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yapılırken </a:t>
            </a:r>
            <a:r>
              <a:rPr sz="1100" dirty="0">
                <a:latin typeface="Calibri"/>
                <a:cs typeface="Calibri"/>
              </a:rPr>
              <a:t>programın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başına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using</a:t>
            </a:r>
            <a:r>
              <a:rPr sz="1100" dirty="0">
                <a:latin typeface="Calibri"/>
                <a:cs typeface="Calibri"/>
              </a:rPr>
              <a:t>”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anahtar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sözcüğünden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sonra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</a:t>
            </a:r>
            <a:r>
              <a:rPr sz="950" dirty="0">
                <a:latin typeface="Consolas"/>
                <a:cs typeface="Consolas"/>
              </a:rPr>
              <a:t>System.IO</a:t>
            </a:r>
            <a:r>
              <a:rPr sz="1100" dirty="0">
                <a:latin typeface="Calibri"/>
                <a:cs typeface="Calibri"/>
              </a:rPr>
              <a:t>”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ön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işlemcisi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eklenmelidir.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Klasör </a:t>
            </a:r>
            <a:r>
              <a:rPr sz="1100" dirty="0">
                <a:latin typeface="Calibri"/>
                <a:cs typeface="Calibri"/>
              </a:rPr>
              <a:t>işlemlerinde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sıklıkla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1100" dirty="0">
                <a:latin typeface="Calibri"/>
                <a:cs typeface="Calibri"/>
              </a:rPr>
              <a:t>”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sınıfı,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işlemlerinde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</a:t>
            </a:r>
            <a:r>
              <a:rPr sz="950" dirty="0">
                <a:solidFill>
                  <a:srgbClr val="2B91AE"/>
                </a:solidFill>
                <a:latin typeface="Consolas"/>
                <a:cs typeface="Consolas"/>
              </a:rPr>
              <a:t>File</a:t>
            </a:r>
            <a:r>
              <a:rPr sz="1100" dirty="0">
                <a:latin typeface="Calibri"/>
                <a:cs typeface="Calibri"/>
              </a:rPr>
              <a:t>”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tercih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edilir.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sınıfta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kullanılan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metoda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bağlı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verilen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parametrenin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oluşturacağı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yol </a:t>
            </a:r>
            <a:r>
              <a:rPr sz="1100" dirty="0">
                <a:latin typeface="Calibri"/>
                <a:cs typeface="Calibri"/>
              </a:rPr>
              <a:t>daima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şeklinde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 </a:t>
            </a:r>
            <a:r>
              <a:rPr sz="1100" spc="-10" dirty="0">
                <a:latin typeface="Calibri"/>
                <a:cs typeface="Calibri"/>
              </a:rPr>
              <a:t>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@"..."</a:t>
            </a:r>
            <a:r>
              <a:rPr sz="1100" spc="-10" dirty="0">
                <a:latin typeface="Calibri"/>
                <a:cs typeface="Calibri"/>
              </a:rPr>
              <a:t>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olarak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verilmelidir.</a:t>
            </a:r>
            <a:endParaRPr sz="11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470534" algn="l"/>
              </a:tabLst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Klasör</a:t>
            </a:r>
            <a:r>
              <a:rPr sz="1200" spc="-6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İşlemleri</a:t>
            </a:r>
            <a:endParaRPr sz="1200">
              <a:latin typeface="Calibri Light"/>
              <a:cs typeface="Calibri Light"/>
            </a:endParaRPr>
          </a:p>
          <a:p>
            <a:pPr marL="690245" lvl="1" indent="-228600">
              <a:lnSpc>
                <a:spcPct val="100000"/>
              </a:lnSpc>
              <a:spcBef>
                <a:spcPts val="355"/>
              </a:spcBef>
              <a:buAutoNum type="alphaLcPeriod"/>
              <a:tabLst>
                <a:tab pos="690245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Klasör 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Oluşturmak</a:t>
            </a:r>
            <a:endParaRPr sz="1100">
              <a:latin typeface="Calibri Light"/>
              <a:cs typeface="Calibri Light"/>
            </a:endParaRPr>
          </a:p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Calibri"/>
                <a:cs typeface="Calibri"/>
              </a:rPr>
              <a:t>Directory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sınıfını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kullanarak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oluşturmak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“CreateDirectory”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komutunu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kullanırız.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.CreateDirectory(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@"C:\Ornek"</a:t>
            </a:r>
            <a:r>
              <a:rPr sz="950" spc="-10" dirty="0">
                <a:latin typeface="Consolas"/>
                <a:cs typeface="Consolas"/>
              </a:rPr>
              <a:t>);</a:t>
            </a:r>
            <a:r>
              <a:rPr sz="95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Ornek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adında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bir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klasör</a:t>
            </a:r>
            <a:r>
              <a:rPr sz="95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oluşturur.</a:t>
            </a:r>
            <a:endParaRPr sz="950">
              <a:latin typeface="Consolas"/>
              <a:cs typeface="Consolas"/>
            </a:endParaRPr>
          </a:p>
          <a:p>
            <a:pPr marL="689610" lvl="1" indent="-227965">
              <a:lnSpc>
                <a:spcPct val="100000"/>
              </a:lnSpc>
              <a:spcBef>
                <a:spcPts val="885"/>
              </a:spcBef>
              <a:buAutoNum type="alphaLcPeriod" startAt="2"/>
              <a:tabLst>
                <a:tab pos="689610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Klasör</a:t>
            </a:r>
            <a:r>
              <a:rPr sz="110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Silmek</a:t>
            </a:r>
            <a:endParaRPr sz="1100">
              <a:latin typeface="Calibri Light"/>
              <a:cs typeface="Calibri Light"/>
            </a:endParaRPr>
          </a:p>
          <a:p>
            <a:pPr marL="108585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Calibri"/>
                <a:cs typeface="Calibri"/>
              </a:rPr>
              <a:t>Directory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sınıfını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kullanarak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“Delete”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komutunu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kullanırız.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.Delete(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@"C:\Ornek"</a:t>
            </a:r>
            <a:r>
              <a:rPr sz="950" spc="-10" dirty="0">
                <a:latin typeface="Consolas"/>
                <a:cs typeface="Consolas"/>
              </a:rPr>
              <a:t>);</a:t>
            </a:r>
            <a:r>
              <a:rPr sz="950" spc="-2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Ornek</a:t>
            </a:r>
            <a:r>
              <a:rPr sz="95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adındaki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klasörü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siler.</a:t>
            </a:r>
            <a:endParaRPr sz="950">
              <a:latin typeface="Consolas"/>
              <a:cs typeface="Consolas"/>
            </a:endParaRPr>
          </a:p>
          <a:p>
            <a:pPr marL="12700" marR="6985" indent="95885" algn="just">
              <a:lnSpc>
                <a:spcPct val="109100"/>
              </a:lnSpc>
              <a:spcBef>
                <a:spcPts val="760"/>
              </a:spcBef>
            </a:pPr>
            <a:r>
              <a:rPr sz="1100" dirty="0">
                <a:latin typeface="Calibri"/>
                <a:cs typeface="Calibri"/>
              </a:rPr>
              <a:t>Yukarıdaki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satırında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bulunamaması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veya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dolu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olma durumunda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hata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ile </a:t>
            </a:r>
            <a:r>
              <a:rPr sz="1100" dirty="0">
                <a:latin typeface="Calibri"/>
                <a:cs typeface="Calibri"/>
              </a:rPr>
              <a:t>karşılaşılabilir.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durumda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“false”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eklenerek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silme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işlemi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iptal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edilir.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.Delete(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8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Ornek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klasörünün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içerisi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boş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olmadığı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için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işlem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iptal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edilir.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860907"/>
            <a:ext cx="5789295" cy="315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5885">
              <a:lnSpc>
                <a:spcPct val="1102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Eğer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ki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dolu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olan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silinecekse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“true”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eklenir.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Böylece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ilgili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klasörün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boş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da </a:t>
            </a:r>
            <a:r>
              <a:rPr sz="1100" dirty="0">
                <a:latin typeface="Calibri"/>
                <a:cs typeface="Calibri"/>
              </a:rPr>
              <a:t>olsa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dolu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olsa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şekilde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silinecektir.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.Delete(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8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90245" indent="-228600">
              <a:lnSpc>
                <a:spcPct val="100000"/>
              </a:lnSpc>
              <a:spcBef>
                <a:spcPts val="869"/>
              </a:spcBef>
              <a:buAutoNum type="alphaLcPeriod" startAt="3"/>
              <a:tabLst>
                <a:tab pos="690245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Klasör</a:t>
            </a:r>
            <a:r>
              <a:rPr sz="110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Kontrolü</a:t>
            </a:r>
            <a:endParaRPr sz="1100">
              <a:latin typeface="Calibri Light"/>
              <a:cs typeface="Calibri Light"/>
            </a:endParaRPr>
          </a:p>
          <a:p>
            <a:pPr marL="12700" marR="5080" indent="95885">
              <a:lnSpc>
                <a:spcPct val="110000"/>
              </a:lnSpc>
            </a:pPr>
            <a:r>
              <a:rPr sz="1100" dirty="0">
                <a:latin typeface="Calibri"/>
                <a:cs typeface="Calibri"/>
              </a:rPr>
              <a:t>Klasörün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bulunup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bulunmadığını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kontrol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eden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eğer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ki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bulursa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“true”,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bulamazsa </a:t>
            </a:r>
            <a:r>
              <a:rPr sz="1100" dirty="0">
                <a:latin typeface="Calibri"/>
                <a:cs typeface="Calibri"/>
              </a:rPr>
              <a:t>“false”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döndürür.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.Exists(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89610" indent="-227965">
              <a:lnSpc>
                <a:spcPct val="100000"/>
              </a:lnSpc>
              <a:spcBef>
                <a:spcPts val="885"/>
              </a:spcBef>
              <a:buAutoNum type="alphaLcPeriod" startAt="4"/>
              <a:tabLst>
                <a:tab pos="689610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Klasör</a:t>
            </a:r>
            <a:r>
              <a:rPr sz="110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Taşımak</a:t>
            </a:r>
            <a:endParaRPr sz="1100">
              <a:latin typeface="Calibri Light"/>
              <a:cs typeface="Calibri Light"/>
            </a:endParaRPr>
          </a:p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Calibri"/>
                <a:cs typeface="Calibri"/>
              </a:rPr>
              <a:t>Bir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başka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taşımak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az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10" dirty="0">
                <a:latin typeface="Calibri"/>
                <a:cs typeface="Calibri"/>
              </a:rPr>
              <a:t> içermelidir.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130"/>
              </a:lnSpc>
              <a:spcBef>
                <a:spcPts val="90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.Move(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@"C:\Users\Ornek"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9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@"C:\Desktop\Deneme"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ts val="1130"/>
              </a:lnSpc>
              <a:tabLst>
                <a:tab pos="542925" algn="l"/>
              </a:tabLst>
            </a:pP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	Taşınacak</a:t>
            </a:r>
            <a:r>
              <a:rPr sz="95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klasörün</a:t>
            </a:r>
            <a:r>
              <a:rPr sz="95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yolu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,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Taşınacak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yerin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yolu</a:t>
            </a:r>
            <a:endParaRPr sz="950">
              <a:latin typeface="Consolas"/>
              <a:cs typeface="Consolas"/>
            </a:endParaRPr>
          </a:p>
          <a:p>
            <a:pPr marL="690245" indent="-228600">
              <a:lnSpc>
                <a:spcPct val="100000"/>
              </a:lnSpc>
              <a:spcBef>
                <a:spcPts val="900"/>
              </a:spcBef>
              <a:buAutoNum type="alphaLcPeriod" startAt="5"/>
              <a:tabLst>
                <a:tab pos="690245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Klasör</a:t>
            </a:r>
            <a:r>
              <a:rPr sz="110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Listelemek</a:t>
            </a:r>
            <a:endParaRPr sz="1100">
              <a:latin typeface="Calibri Light"/>
              <a:cs typeface="Calibri Light"/>
            </a:endParaRPr>
          </a:p>
          <a:p>
            <a:pPr marL="108585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klasörün </a:t>
            </a:r>
            <a:r>
              <a:rPr sz="1100" spc="-10" dirty="0">
                <a:latin typeface="Calibri"/>
                <a:cs typeface="Calibri"/>
              </a:rPr>
              <a:t>içerisindeki </a:t>
            </a:r>
            <a:r>
              <a:rPr sz="1100" dirty="0">
                <a:latin typeface="Calibri"/>
                <a:cs typeface="Calibri"/>
              </a:rPr>
              <a:t>klasörleri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listelemek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 </a:t>
            </a:r>
            <a:r>
              <a:rPr sz="1100" spc="-10" dirty="0">
                <a:latin typeface="Calibri"/>
                <a:cs typeface="Calibri"/>
              </a:rPr>
              <a:t>kullanılır.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.GetDirectories(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884" y="4126102"/>
            <a:ext cx="5755640" cy="71183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7945" marR="2030095">
              <a:lnSpc>
                <a:spcPts val="1100"/>
              </a:lnSpc>
              <a:spcBef>
                <a:spcPts val="5"/>
              </a:spcBef>
            </a:pP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[]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klasorler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=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Directory</a:t>
            </a:r>
            <a:r>
              <a:rPr sz="950" spc="-10" dirty="0">
                <a:latin typeface="Consolas"/>
                <a:cs typeface="Consolas"/>
              </a:rPr>
              <a:t>.GetDirectories(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@"C:\"</a:t>
            </a:r>
            <a:r>
              <a:rPr sz="950" spc="-10" dirty="0">
                <a:latin typeface="Consolas"/>
                <a:cs typeface="Consolas"/>
              </a:rPr>
              <a:t>);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foreach</a:t>
            </a:r>
            <a:r>
              <a:rPr sz="95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klasor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5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klasorler)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080"/>
              </a:lnSpc>
            </a:pPr>
            <a:r>
              <a:rPr sz="950" spc="-50" dirty="0">
                <a:latin typeface="Consolas"/>
                <a:cs typeface="Consolas"/>
              </a:rPr>
              <a:t>{</a:t>
            </a:r>
            <a:endParaRPr sz="950">
              <a:latin typeface="Consolas"/>
              <a:cs typeface="Consolas"/>
            </a:endParaRPr>
          </a:p>
          <a:p>
            <a:pPr marL="266700">
              <a:lnSpc>
                <a:spcPts val="1115"/>
              </a:lnSpc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Console</a:t>
            </a:r>
            <a:r>
              <a:rPr sz="950" spc="-10" dirty="0">
                <a:latin typeface="Consolas"/>
                <a:cs typeface="Consolas"/>
              </a:rPr>
              <a:t>.WriteLine(klasor);</a:t>
            </a:r>
            <a:endParaRPr sz="950">
              <a:latin typeface="Consolas"/>
              <a:cs typeface="Consolas"/>
            </a:endParaRPr>
          </a:p>
          <a:p>
            <a:pPr marL="67945">
              <a:lnSpc>
                <a:spcPts val="1130"/>
              </a:lnSpc>
            </a:pPr>
            <a:r>
              <a:rPr sz="950" spc="-50" dirty="0">
                <a:latin typeface="Consolas"/>
                <a:cs typeface="Consolas"/>
              </a:rPr>
              <a:t>}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64" y="4889848"/>
            <a:ext cx="5788660" cy="29832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70534" indent="-229235">
              <a:lnSpc>
                <a:spcPct val="100000"/>
              </a:lnSpc>
              <a:spcBef>
                <a:spcPts val="475"/>
              </a:spcBef>
              <a:buAutoNum type="arabicPeriod" startAt="2"/>
              <a:tabLst>
                <a:tab pos="470534" algn="l"/>
              </a:tabLst>
            </a:pPr>
            <a:r>
              <a:rPr sz="1200" dirty="0">
                <a:solidFill>
                  <a:srgbClr val="1F3762"/>
                </a:solidFill>
                <a:latin typeface="Calibri Light"/>
                <a:cs typeface="Calibri Light"/>
              </a:rPr>
              <a:t>Dosya</a:t>
            </a:r>
            <a:r>
              <a:rPr sz="1200" spc="-6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spc="-10" dirty="0">
                <a:solidFill>
                  <a:srgbClr val="1F3762"/>
                </a:solidFill>
                <a:latin typeface="Calibri Light"/>
                <a:cs typeface="Calibri Light"/>
              </a:rPr>
              <a:t>İşlemleri</a:t>
            </a:r>
            <a:endParaRPr sz="1200">
              <a:latin typeface="Calibri Light"/>
              <a:cs typeface="Calibri Light"/>
            </a:endParaRPr>
          </a:p>
          <a:p>
            <a:pPr marL="690245" lvl="1" indent="-228600">
              <a:lnSpc>
                <a:spcPct val="100000"/>
              </a:lnSpc>
              <a:spcBef>
                <a:spcPts val="355"/>
              </a:spcBef>
              <a:buAutoNum type="alphaLcPeriod"/>
              <a:tabLst>
                <a:tab pos="690245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Dosya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 Oluşturmak</a:t>
            </a:r>
            <a:endParaRPr sz="1100">
              <a:latin typeface="Calibri Light"/>
              <a:cs typeface="Calibri Light"/>
            </a:endParaRPr>
          </a:p>
          <a:p>
            <a:pPr marL="108585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Calibri"/>
                <a:cs typeface="Calibri"/>
              </a:rPr>
              <a:t>Dosya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oluşturmak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uzantısı</a:t>
            </a:r>
            <a:r>
              <a:rPr sz="1100" spc="-10" dirty="0">
                <a:latin typeface="Calibri"/>
                <a:cs typeface="Calibri"/>
              </a:rPr>
              <a:t> değiştirilerek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farklı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tipte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dosyalar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oluşturulabilir.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File</a:t>
            </a:r>
            <a:r>
              <a:rPr sz="950" spc="-10" dirty="0">
                <a:latin typeface="Consolas"/>
                <a:cs typeface="Consolas"/>
              </a:rPr>
              <a:t>.Create(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@"C:\Ornek\deneme.txt"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89610" lvl="1" indent="-227965">
              <a:lnSpc>
                <a:spcPct val="100000"/>
              </a:lnSpc>
              <a:spcBef>
                <a:spcPts val="875"/>
              </a:spcBef>
              <a:buAutoNum type="alphaLcPeriod" startAt="2"/>
              <a:tabLst>
                <a:tab pos="689610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Dosya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 Silmek</a:t>
            </a:r>
            <a:endParaRPr sz="11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File</a:t>
            </a:r>
            <a:r>
              <a:rPr sz="950" spc="-10" dirty="0">
                <a:latin typeface="Consolas"/>
                <a:cs typeface="Consolas"/>
              </a:rPr>
              <a:t>.Delete(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@"C:\Ornek\deneme.txt"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90245" lvl="1" indent="-228600">
              <a:lnSpc>
                <a:spcPct val="100000"/>
              </a:lnSpc>
              <a:spcBef>
                <a:spcPts val="880"/>
              </a:spcBef>
              <a:buAutoNum type="alphaLcPeriod" startAt="3"/>
              <a:tabLst>
                <a:tab pos="690245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Dosya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 Kontrolü</a:t>
            </a:r>
            <a:endParaRPr sz="1100">
              <a:latin typeface="Calibri Light"/>
              <a:cs typeface="Calibri Light"/>
            </a:endParaRPr>
          </a:p>
          <a:p>
            <a:pPr marL="12700" marR="5080" indent="95885">
              <a:lnSpc>
                <a:spcPct val="109100"/>
              </a:lnSpc>
              <a:spcBef>
                <a:spcPts val="10"/>
              </a:spcBef>
            </a:pPr>
            <a:r>
              <a:rPr sz="1100" dirty="0">
                <a:latin typeface="Calibri"/>
                <a:cs typeface="Calibri"/>
              </a:rPr>
              <a:t>Dosyanın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bulunup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bulunmadığını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kontrol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eden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metot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eğer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ki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dosyayı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bulursa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true,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bulamazsa </a:t>
            </a:r>
            <a:r>
              <a:rPr sz="1100" dirty="0">
                <a:latin typeface="Calibri"/>
                <a:cs typeface="Calibri"/>
              </a:rPr>
              <a:t>false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değerini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geri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döndürür.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File</a:t>
            </a:r>
            <a:r>
              <a:rPr sz="950" spc="-10" dirty="0">
                <a:latin typeface="Consolas"/>
                <a:cs typeface="Consolas"/>
              </a:rPr>
              <a:t>.Exists(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@"C:\Ornek\deneme.txt"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89610" lvl="1" indent="-227965">
              <a:lnSpc>
                <a:spcPct val="100000"/>
              </a:lnSpc>
              <a:spcBef>
                <a:spcPts val="869"/>
              </a:spcBef>
              <a:buAutoNum type="alphaLcPeriod" startAt="4"/>
              <a:tabLst>
                <a:tab pos="689610" algn="l"/>
              </a:tabLst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Dosya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 Taşımak</a:t>
            </a:r>
            <a:endParaRPr sz="1100">
              <a:latin typeface="Calibri Light"/>
              <a:cs typeface="Calibri Light"/>
            </a:endParaRPr>
          </a:p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Calibri"/>
                <a:cs typeface="Calibri"/>
              </a:rPr>
              <a:t>Bir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dosyayı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başka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klasörün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içerisine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taşımak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kullanılır.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az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iki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parametre</a:t>
            </a:r>
            <a:r>
              <a:rPr sz="1100" spc="-10" dirty="0">
                <a:latin typeface="Calibri"/>
                <a:cs typeface="Calibri"/>
              </a:rPr>
              <a:t> içermelidir.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File</a:t>
            </a:r>
            <a:r>
              <a:rPr sz="950" spc="-10" dirty="0">
                <a:latin typeface="Consolas"/>
                <a:cs typeface="Consolas"/>
              </a:rPr>
              <a:t>.Move(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@"C:\Ornek\deneme.txt"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9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@"C:\Masaustu\Proje.txt"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64" y="7842884"/>
            <a:ext cx="157480" cy="31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95"/>
              </a:spcBef>
            </a:pP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ts val="1130"/>
              </a:lnSpc>
            </a:pPr>
            <a:r>
              <a:rPr sz="950" spc="-25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7066" y="7842884"/>
            <a:ext cx="4005579" cy="31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95"/>
              </a:spcBef>
            </a:pP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Taşınacak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dosyanın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yolu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,</a:t>
            </a:r>
            <a:r>
              <a:rPr sz="95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Taşınacak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yerin</a:t>
            </a:r>
            <a:r>
              <a:rPr sz="950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008000"/>
                </a:solidFill>
                <a:latin typeface="Consolas"/>
                <a:cs typeface="Consolas"/>
              </a:rPr>
              <a:t>yolu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ts val="1130"/>
              </a:lnSpc>
            </a:pP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Deneme.txt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dosyası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taşınan</a:t>
            </a:r>
            <a:r>
              <a:rPr sz="95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klasöre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Proje.txt</a:t>
            </a:r>
            <a:r>
              <a:rPr sz="95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8000"/>
                </a:solidFill>
                <a:latin typeface="Consolas"/>
                <a:cs typeface="Consolas"/>
              </a:rPr>
              <a:t>adıyla</a:t>
            </a:r>
            <a:r>
              <a:rPr sz="95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8000"/>
                </a:solidFill>
                <a:latin typeface="Consolas"/>
                <a:cs typeface="Consolas"/>
              </a:rPr>
              <a:t>taşınır.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6764" y="8228563"/>
            <a:ext cx="5784850" cy="12827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61645">
              <a:lnSpc>
                <a:spcPct val="100000"/>
              </a:lnSpc>
              <a:spcBef>
                <a:spcPts val="235"/>
              </a:spcBef>
            </a:pP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e.</a:t>
            </a:r>
            <a:r>
              <a:rPr sz="1100" spc="240" dirty="0">
                <a:solidFill>
                  <a:srgbClr val="1F3762"/>
                </a:solidFill>
                <a:latin typeface="Calibri Light"/>
                <a:cs typeface="Calibri Light"/>
              </a:rPr>
              <a:t>  </a:t>
            </a:r>
            <a:r>
              <a:rPr sz="1100" dirty="0">
                <a:solidFill>
                  <a:srgbClr val="1F3762"/>
                </a:solidFill>
                <a:latin typeface="Calibri Light"/>
                <a:cs typeface="Calibri Light"/>
              </a:rPr>
              <a:t>Dosya</a:t>
            </a:r>
            <a:r>
              <a:rPr sz="110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100" spc="-10" dirty="0">
                <a:solidFill>
                  <a:srgbClr val="1F3762"/>
                </a:solidFill>
                <a:latin typeface="Calibri Light"/>
                <a:cs typeface="Calibri Light"/>
              </a:rPr>
              <a:t>Kopyalamak</a:t>
            </a:r>
            <a:endParaRPr sz="11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File</a:t>
            </a:r>
            <a:r>
              <a:rPr sz="950" spc="-10" dirty="0">
                <a:latin typeface="Consolas"/>
                <a:cs typeface="Consolas"/>
              </a:rPr>
              <a:t>.Copy(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@"C:\Ornek\deneme.txt"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90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@"C:\Masaustu\Proje.txt"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12700" marR="5080" indent="95885" algn="just">
              <a:lnSpc>
                <a:spcPct val="110000"/>
              </a:lnSpc>
              <a:spcBef>
                <a:spcPts val="785"/>
              </a:spcBef>
            </a:pPr>
            <a:r>
              <a:rPr sz="1100" dirty="0">
                <a:latin typeface="Calibri"/>
                <a:cs typeface="Calibri"/>
              </a:rPr>
              <a:t>Hedef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adreste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isme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sahip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varsa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hata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ile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karşılaşılır.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Aynı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isimli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dosya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bulunduğunda </a:t>
            </a:r>
            <a:r>
              <a:rPr sz="1100" dirty="0">
                <a:latin typeface="Calibri"/>
                <a:cs typeface="Calibri"/>
              </a:rPr>
              <a:t>verileri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üzerine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kaydetmek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“true”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komutu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eklenir,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işlemden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vazgeçmek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için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“false”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komutu eklenir.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950" spc="-10" dirty="0">
                <a:solidFill>
                  <a:srgbClr val="2B91AE"/>
                </a:solidFill>
                <a:latin typeface="Consolas"/>
                <a:cs typeface="Consolas"/>
              </a:rPr>
              <a:t>File</a:t>
            </a:r>
            <a:r>
              <a:rPr sz="950" spc="-10" dirty="0">
                <a:latin typeface="Consolas"/>
                <a:cs typeface="Consolas"/>
              </a:rPr>
              <a:t>.Copy(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@"C:\Ornek\deneme.txt"</a:t>
            </a:r>
            <a:r>
              <a:rPr sz="950" spc="-10" dirty="0">
                <a:latin typeface="Consolas"/>
                <a:cs typeface="Consolas"/>
              </a:rPr>
              <a:t>,</a:t>
            </a:r>
            <a:r>
              <a:rPr sz="950" spc="85" dirty="0"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800000"/>
                </a:solidFill>
                <a:latin typeface="Consolas"/>
                <a:cs typeface="Consolas"/>
              </a:rPr>
              <a:t>@"C:\Masaustu\Proje.txt",</a:t>
            </a:r>
            <a:r>
              <a:rPr sz="950" spc="9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950" spc="-10" dirty="0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11172</Words>
  <Application>Microsoft Office PowerPoint</Application>
  <PresentationFormat>Özel</PresentationFormat>
  <Paragraphs>1481</Paragraphs>
  <Slides>34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42" baseType="lpstr">
      <vt:lpstr>Calibri</vt:lpstr>
      <vt:lpstr>Calibri Light</vt:lpstr>
      <vt:lpstr>Cambria Math</vt:lpstr>
      <vt:lpstr>Consolas</vt:lpstr>
      <vt:lpstr>Symbol</vt:lpstr>
      <vt:lpstr>Times New Roman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Nesne Tabanlı Programlama I</dc:title>
  <dc:subject>Ders Notları</dc:subject>
  <dc:creator>Gökhan Çavuş</dc:creator>
  <cp:lastModifiedBy>Özel Sebetci</cp:lastModifiedBy>
  <cp:revision>3</cp:revision>
  <dcterms:created xsi:type="dcterms:W3CDTF">2023-10-31T06:01:28Z</dcterms:created>
  <dcterms:modified xsi:type="dcterms:W3CDTF">2023-11-01T09:32:12Z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2020-01-14T00:00:00Z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2023-10-31T00:00:00Z</vt:filetime>
  </property>
  <property fmtid="{D5CDD505-2E9C-101B-9397-08002B2CF9AE}" pid="5" name="Producer">
    <vt:lpwstr>Microsoft® Word 2010</vt:lpwstr>
  </property>
</Properties>
</file>